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4" r:id="rId16"/>
    <p:sldId id="280" r:id="rId17"/>
    <p:sldId id="291" r:id="rId18"/>
    <p:sldId id="295" r:id="rId19"/>
    <p:sldId id="296" r:id="rId20"/>
    <p:sldId id="297" r:id="rId21"/>
    <p:sldId id="293" r:id="rId22"/>
    <p:sldId id="298" r:id="rId23"/>
    <p:sldId id="299" r:id="rId24"/>
    <p:sldId id="300" r:id="rId25"/>
    <p:sldId id="301" r:id="rId26"/>
    <p:sldId id="302" r:id="rId27"/>
    <p:sldId id="303" r:id="rId28"/>
    <p:sldId id="273" r:id="rId29"/>
    <p:sldId id="272" r:id="rId30"/>
    <p:sldId id="275" r:id="rId31"/>
    <p:sldId id="274" r:id="rId32"/>
    <p:sldId id="276" r:id="rId33"/>
    <p:sldId id="277" r:id="rId34"/>
    <p:sldId id="278" r:id="rId35"/>
    <p:sldId id="292"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77" autoAdjust="0"/>
  </p:normalViewPr>
  <p:slideViewPr>
    <p:cSldViewPr snapToGrid="0">
      <p:cViewPr>
        <p:scale>
          <a:sx n="150" d="100"/>
          <a:sy n="15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4E487B-951D-4214-8F04-8F11548F5F23}"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4B47E-0834-41AF-B9D3-04880596DA05}" type="slidenum">
              <a:rPr lang="zh-CN" altLang="en-US" smtClean="0"/>
              <a:t>‹#›</a:t>
            </a:fld>
            <a:endParaRPr lang="zh-CN" altLang="en-US"/>
          </a:p>
        </p:txBody>
      </p:sp>
    </p:spTree>
    <p:extLst>
      <p:ext uri="{BB962C8B-B14F-4D97-AF65-F5344CB8AC3E}">
        <p14:creationId xmlns:p14="http://schemas.microsoft.com/office/powerpoint/2010/main" val="913350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96AE98-6742-419C-AEA2-20BB7C99A6E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B9FE55E-4D60-4B42-B332-E5400F7818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028B529-8C01-499E-8C15-6C5BFC039CE6}"/>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B61AAF73-BF9E-486D-8A77-910ECC45CA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9C51DE-7784-4D47-ADC1-EA94F9B43884}"/>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595204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57FA4-3EC8-4D05-83EF-69C65A58AA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A1CE394-09ED-40B3-80D5-316A10E18F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EC7861-447D-426F-8351-CE72AC358A22}"/>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076F1C78-D4CB-43E6-8CCF-25F7BF96C2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B7BFF7-BDC2-40A3-951E-A37E73F784B3}"/>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964009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8F8958-6A0C-4125-B920-CBCE64B08F0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A35FE76-D829-4846-8A17-38E7BAEBD7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2B211F3-1CDB-41DC-9E40-81F71FC09C34}"/>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EA3566B6-976E-49B3-9D3C-D5DFFB9D39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4364B9-AAF7-4AF0-9510-8C7B4A22A0E7}"/>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3411397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07F5DB-C909-4417-8744-0CA641F49E3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7977516-56D8-499A-B292-6D90A8CB654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67AB088-59E9-4BB6-BAB8-4868E8B46AF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365BB9F-A875-4409-84F0-D1936D0346E8}"/>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B6DE811F-28DD-4FE7-BB85-2E8C511FDF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65E2601-4BF3-434D-8CC6-E84DBA7571C2}"/>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193922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2B1676-BF36-49CB-955E-B5267D69454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FBF41EB-482C-4CEA-9AFC-4EC5483C0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1213892-86E1-44A7-9794-BF85A583797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0216D2-B266-46D3-86D4-EE54D1C59F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22D953A-76F7-48AA-81C2-D93D42B1EFE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5840344-8887-450D-824E-5DB2F834340F}"/>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B29B3AB9-18D9-4A8D-9899-8C212C7C06F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67A2A2E-FC48-4D9A-AACA-85D5FDC5CDA4}"/>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3198436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1A65C6-9D7C-42C9-9AA5-CEDB22983DA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78C41B3-37BC-4884-A954-51642BAE120A}"/>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42B22F99-E3A8-4342-A37F-1EAF093A101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8800130-9CF4-4833-9C30-FBDAFE7DA92A}"/>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24400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ED83526-7EF8-45E9-83B9-079CAB85E1BA}"/>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6AE474E1-0566-486D-B06B-93196FF0702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B839D96-8B0D-40DF-A8F3-DF861C50F503}"/>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305359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432508-8E17-4BB4-8D9C-25D5FA9ABB7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9C8FCD6-F5E1-41F5-B5D8-2ED06B19CB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41FA24E-2335-46CA-A68F-6DF286A74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52B6E15-0D15-4183-AA31-2C966D5084E8}"/>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D5520527-C01A-45C3-8947-871CF5C773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FD5B014-D68C-4B43-87A1-3CA5725957AD}"/>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76164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543050-428D-4A09-B0AE-D9F27E62AA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624CA7B-9FB3-431C-A58A-8608BA1F61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96A4E81-82B0-454D-B576-3BDA9627F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012E0CD-057B-4169-B1EA-05A65A80B841}"/>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9D670AF7-584A-433B-9EFD-DAB7F039E4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6BC373-ABC2-4E9C-B371-38D8D731F987}"/>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1049969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221F3-20AE-4374-B6F2-25164C5B423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C8ABF12-F53A-4E7E-8B13-6CB8A462EE5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1623D4B-6FBF-47D4-B5A4-AC68ACE1A367}"/>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C92DFE44-9E46-4250-AD8C-180FD4FE18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AB728B-0C4C-4612-8CB3-34AD453854B5}"/>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50718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FCDB040-5E39-4260-BA7C-4BA2552B9F0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B653C05-CC16-4874-AFB8-BF15E2A8FDF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D2527F-F3AF-4051-AD2A-29BCA9C69EA9}"/>
              </a:ext>
            </a:extLst>
          </p:cNvPr>
          <p:cNvSpPr>
            <a:spLocks noGrp="1"/>
          </p:cNvSpPr>
          <p:nvPr>
            <p:ph type="dt" sz="half" idx="10"/>
          </p:nvPr>
        </p:nvSpPr>
        <p:spPr/>
        <p:txBody>
          <a:bodyPr/>
          <a:lstStyle/>
          <a:p>
            <a:fld id="{1354A61F-F6A9-45A8-B716-0D29F5AFAC1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4AB9D553-D930-46DA-82B1-DD7337A997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239610-6F08-4258-A1A9-2EEEF6361790}"/>
              </a:ext>
            </a:extLst>
          </p:cNvPr>
          <p:cNvSpPr>
            <a:spLocks noGrp="1"/>
          </p:cNvSpPr>
          <p:nvPr>
            <p:ph type="sldNum" sz="quarter" idx="12"/>
          </p:nvPr>
        </p:nvSpPr>
        <p:spPr/>
        <p:txBody>
          <a:body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3528580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7C884B7-2D3C-469E-8905-CF43BA8C02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BC6782D-921D-4863-BFD8-100B7AD9B5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CBC158-3295-4A42-9DCF-45AEC0351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54A61F-F6A9-45A8-B716-0D29F5AFAC15}"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AE59AAB4-4D87-4B2D-B3E9-DCBDDC6388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FD74C6C-BCCF-423C-A0BF-755EF95F11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F84980-59EE-4150-82E3-0A6DA52FF297}" type="slidenum">
              <a:rPr lang="zh-CN" altLang="en-US" smtClean="0"/>
              <a:t>‹#›</a:t>
            </a:fld>
            <a:endParaRPr lang="zh-CN" altLang="en-US"/>
          </a:p>
        </p:txBody>
      </p:sp>
    </p:spTree>
    <p:extLst>
      <p:ext uri="{BB962C8B-B14F-4D97-AF65-F5344CB8AC3E}">
        <p14:creationId xmlns:p14="http://schemas.microsoft.com/office/powerpoint/2010/main" val="4267225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基础精讲一</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FD77FC03-2048-4959-813F-77981178BED7}"/>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1946563"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课程介绍</a:t>
            </a:r>
          </a:p>
        </p:txBody>
      </p:sp>
      <p:sp>
        <p:nvSpPr>
          <p:cNvPr id="5" name="文本框 4">
            <a:extLst>
              <a:ext uri="{FF2B5EF4-FFF2-40B4-BE49-F238E27FC236}">
                <a16:creationId xmlns:a16="http://schemas.microsoft.com/office/drawing/2014/main" id="{FB3FC99D-7841-4249-B5DC-C6B8EDBDEEA9}"/>
              </a:ext>
            </a:extLst>
          </p:cNvPr>
          <p:cNvSpPr txBox="1"/>
          <p:nvPr/>
        </p:nvSpPr>
        <p:spPr>
          <a:xfrm>
            <a:off x="4274129" y="2230582"/>
            <a:ext cx="5611090" cy="2807948"/>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课程代码：</a:t>
            </a:r>
            <a:r>
              <a:rPr lang="en-US" altLang="zh-CN" sz="2000" dirty="0">
                <a:latin typeface="微软雅黑" panose="020B0503020204020204" pitchFamily="34" charset="-122"/>
                <a:ea typeface="微软雅黑" panose="020B0503020204020204" pitchFamily="34" charset="-122"/>
              </a:rPr>
              <a:t>0600</a:t>
            </a:r>
          </a:p>
          <a:p>
            <a:pPr>
              <a:lnSpc>
                <a:spcPct val="150000"/>
              </a:lnSpc>
            </a:pPr>
            <a:r>
              <a:rPr lang="zh-CN" altLang="en-US" sz="2000" dirty="0">
                <a:latin typeface="微软雅黑" panose="020B0503020204020204" pitchFamily="34" charset="-122"/>
                <a:ea typeface="微软雅黑" panose="020B0503020204020204" pitchFamily="34" charset="-122"/>
              </a:rPr>
              <a:t>课程性质：自考英语本科必修课</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考试类型：闭卷</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考试时长：</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小时</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教材版本：外研出版社（</a:t>
            </a: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主编：上册 王家湘；下册 张仲载</a:t>
            </a:r>
            <a:endParaRPr lang="en-US" altLang="zh-CN"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58243106-1226-4133-9285-26921799580E}"/>
              </a:ext>
            </a:extLst>
          </p:cNvPr>
          <p:cNvSpPr txBox="1"/>
          <p:nvPr/>
        </p:nvSpPr>
        <p:spPr>
          <a:xfrm>
            <a:off x="1915392" y="3492576"/>
            <a:ext cx="194656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高级英语</a:t>
            </a:r>
          </a:p>
        </p:txBody>
      </p:sp>
      <p:sp>
        <p:nvSpPr>
          <p:cNvPr id="7" name="左大括号 6">
            <a:extLst>
              <a:ext uri="{FF2B5EF4-FFF2-40B4-BE49-F238E27FC236}">
                <a16:creationId xmlns:a16="http://schemas.microsoft.com/office/drawing/2014/main" id="{F3F4CBF2-DAE9-4A8D-AD89-9F7B09DC6889}"/>
              </a:ext>
            </a:extLst>
          </p:cNvPr>
          <p:cNvSpPr/>
          <p:nvPr/>
        </p:nvSpPr>
        <p:spPr>
          <a:xfrm>
            <a:off x="3650674" y="2348346"/>
            <a:ext cx="422562" cy="275012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1CA3087-F2E9-46FC-85C8-A672A71D2B78}"/>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22486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1009C26-1884-48E9-8A39-54A9A4A5AF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6178" y="616528"/>
            <a:ext cx="3392632" cy="4523509"/>
          </a:xfrm>
          <a:prstGeom prst="rect">
            <a:avLst/>
          </a:prstGeom>
        </p:spPr>
      </p:pic>
      <p:pic>
        <p:nvPicPr>
          <p:cNvPr id="9" name="图片 8">
            <a:extLst>
              <a:ext uri="{FF2B5EF4-FFF2-40B4-BE49-F238E27FC236}">
                <a16:creationId xmlns:a16="http://schemas.microsoft.com/office/drawing/2014/main" id="{3BA5A963-F8FA-4741-B405-549F5E854D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7666" y="616528"/>
            <a:ext cx="3392633" cy="4523511"/>
          </a:xfrm>
          <a:prstGeom prst="rect">
            <a:avLst/>
          </a:prstGeom>
        </p:spPr>
      </p:pic>
      <p:sp>
        <p:nvSpPr>
          <p:cNvPr id="10" name="文本框 9">
            <a:extLst>
              <a:ext uri="{FF2B5EF4-FFF2-40B4-BE49-F238E27FC236}">
                <a16:creationId xmlns:a16="http://schemas.microsoft.com/office/drawing/2014/main" id="{FD80A4E7-580B-4137-894B-33435330080C}"/>
              </a:ext>
            </a:extLst>
          </p:cNvPr>
          <p:cNvSpPr txBox="1"/>
          <p:nvPr/>
        </p:nvSpPr>
        <p:spPr>
          <a:xfrm>
            <a:off x="2349212" y="5417128"/>
            <a:ext cx="227127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高级英语（上）</a:t>
            </a:r>
          </a:p>
        </p:txBody>
      </p:sp>
      <p:sp>
        <p:nvSpPr>
          <p:cNvPr id="11" name="文本框 10">
            <a:extLst>
              <a:ext uri="{FF2B5EF4-FFF2-40B4-BE49-F238E27FC236}">
                <a16:creationId xmlns:a16="http://schemas.microsoft.com/office/drawing/2014/main" id="{C1E13C98-8885-400C-B20F-5CB05040596B}"/>
              </a:ext>
            </a:extLst>
          </p:cNvPr>
          <p:cNvSpPr txBox="1"/>
          <p:nvPr/>
        </p:nvSpPr>
        <p:spPr>
          <a:xfrm>
            <a:off x="7343775" y="5417128"/>
            <a:ext cx="227127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高级英语（下）</a:t>
            </a:r>
          </a:p>
        </p:txBody>
      </p:sp>
      <p:sp>
        <p:nvSpPr>
          <p:cNvPr id="6" name="矩形 5">
            <a:extLst>
              <a:ext uri="{FF2B5EF4-FFF2-40B4-BE49-F238E27FC236}">
                <a16:creationId xmlns:a16="http://schemas.microsoft.com/office/drawing/2014/main" id="{4F1360CC-CFAF-4CA8-BF06-E9F025F76674}"/>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26183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881745" cy="584775"/>
          </a:xfrm>
          <a:prstGeom prst="rect">
            <a:avLst/>
          </a:prstGeom>
          <a:noFill/>
        </p:spPr>
        <p:txBody>
          <a:bodyPr wrap="square" rtlCol="0">
            <a:spAutoFit/>
          </a:bodyPr>
          <a:lstStyle/>
          <a:p>
            <a:r>
              <a:rPr lang="zh-CN" altLang="en-US" sz="3200" b="1" dirty="0">
                <a:latin typeface="微软雅黑" panose="020B0503020204020204" pitchFamily="34" charset="-122"/>
                <a:ea typeface="微软雅黑" panose="020B0503020204020204" pitchFamily="34" charset="-122"/>
              </a:rPr>
              <a:t>本节课程安排</a:t>
            </a:r>
          </a:p>
        </p:txBody>
      </p:sp>
      <p:sp>
        <p:nvSpPr>
          <p:cNvPr id="8" name="文本框 7">
            <a:extLst>
              <a:ext uri="{FF2B5EF4-FFF2-40B4-BE49-F238E27FC236}">
                <a16:creationId xmlns:a16="http://schemas.microsoft.com/office/drawing/2014/main" id="{A652A518-054F-4213-8966-D9339CF6F0EB}"/>
              </a:ext>
            </a:extLst>
          </p:cNvPr>
          <p:cNvSpPr txBox="1"/>
          <p:nvPr/>
        </p:nvSpPr>
        <p:spPr>
          <a:xfrm>
            <a:off x="3075709" y="2840182"/>
            <a:ext cx="6192982" cy="1482650"/>
          </a:xfrm>
          <a:prstGeom prst="rect">
            <a:avLst/>
          </a:prstGeom>
          <a:noFill/>
        </p:spPr>
        <p:txBody>
          <a:bodyPr wrap="square" rtlCol="0">
            <a:spAutoFit/>
          </a:bodyPr>
          <a:lstStyle/>
          <a:p>
            <a:pPr>
              <a:lnSpc>
                <a:spcPct val="150000"/>
              </a:lnSpc>
            </a:pPr>
            <a:r>
              <a:rPr lang="zh-CN" altLang="en-US" sz="3200" b="1" dirty="0">
                <a:latin typeface="微软雅黑" panose="020B0503020204020204" pitchFamily="34" charset="-122"/>
                <a:ea typeface="微软雅黑" panose="020B0503020204020204" pitchFamily="34" charset="-122"/>
              </a:rPr>
              <a:t>一、考试介绍</a:t>
            </a:r>
            <a:endParaRPr lang="en-US" altLang="zh-CN" sz="3200" b="1" dirty="0">
              <a:latin typeface="微软雅黑" panose="020B0503020204020204" pitchFamily="34" charset="-122"/>
              <a:ea typeface="微软雅黑" panose="020B0503020204020204" pitchFamily="34" charset="-122"/>
            </a:endParaRPr>
          </a:p>
          <a:p>
            <a:pPr>
              <a:lnSpc>
                <a:spcPct val="150000"/>
              </a:lnSpc>
            </a:pPr>
            <a:r>
              <a:rPr lang="zh-CN" altLang="en-US" sz="3200" b="1" dirty="0">
                <a:latin typeface="微软雅黑" panose="020B0503020204020204" pitchFamily="34" charset="-122"/>
                <a:ea typeface="微软雅黑" panose="020B0503020204020204" pitchFamily="34" charset="-122"/>
              </a:rPr>
              <a:t>二、课文带读（上册 </a:t>
            </a:r>
            <a:r>
              <a:rPr lang="en-US" altLang="zh-CN" sz="3200" b="1" dirty="0">
                <a:latin typeface="微软雅黑" panose="020B0503020204020204" pitchFamily="34" charset="-122"/>
                <a:ea typeface="微软雅黑" panose="020B0503020204020204" pitchFamily="34" charset="-122"/>
              </a:rPr>
              <a:t>Lesson 9</a:t>
            </a:r>
            <a:r>
              <a:rPr lang="zh-CN" altLang="en-US" sz="3200" b="1" dirty="0">
                <a:latin typeface="微软雅黑" panose="020B0503020204020204" pitchFamily="34" charset="-122"/>
                <a:ea typeface="微软雅黑" panose="020B0503020204020204" pitchFamily="34" charset="-122"/>
              </a:rPr>
              <a:t>）</a:t>
            </a:r>
          </a:p>
        </p:txBody>
      </p:sp>
      <p:sp>
        <p:nvSpPr>
          <p:cNvPr id="5" name="矩形 4">
            <a:extLst>
              <a:ext uri="{FF2B5EF4-FFF2-40B4-BE49-F238E27FC236}">
                <a16:creationId xmlns:a16="http://schemas.microsoft.com/office/drawing/2014/main" id="{E7E33F4F-52FC-4A41-A0A8-B4C51841181C}"/>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41258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881745" cy="584775"/>
          </a:xfrm>
          <a:prstGeom prst="rect">
            <a:avLst/>
          </a:prstGeom>
          <a:noFill/>
        </p:spPr>
        <p:txBody>
          <a:bodyPr wrap="square" rtlCol="0">
            <a:spAutoFit/>
          </a:bodyPr>
          <a:lstStyle/>
          <a:p>
            <a:r>
              <a:rPr lang="zh-CN" altLang="en-US" sz="3200" b="1" dirty="0">
                <a:latin typeface="微软雅黑" panose="020B0503020204020204" pitchFamily="34" charset="-122"/>
                <a:ea typeface="微软雅黑" panose="020B0503020204020204" pitchFamily="34" charset="-122"/>
              </a:rPr>
              <a:t>本节课程安排</a:t>
            </a:r>
          </a:p>
        </p:txBody>
      </p:sp>
      <p:sp>
        <p:nvSpPr>
          <p:cNvPr id="8" name="文本框 7">
            <a:extLst>
              <a:ext uri="{FF2B5EF4-FFF2-40B4-BE49-F238E27FC236}">
                <a16:creationId xmlns:a16="http://schemas.microsoft.com/office/drawing/2014/main" id="{A652A518-054F-4213-8966-D9339CF6F0EB}"/>
              </a:ext>
            </a:extLst>
          </p:cNvPr>
          <p:cNvSpPr txBox="1"/>
          <p:nvPr/>
        </p:nvSpPr>
        <p:spPr>
          <a:xfrm>
            <a:off x="3075709" y="2840182"/>
            <a:ext cx="6192982" cy="1482650"/>
          </a:xfrm>
          <a:prstGeom prst="rect">
            <a:avLst/>
          </a:prstGeom>
          <a:noFill/>
        </p:spPr>
        <p:txBody>
          <a:bodyPr wrap="square" rtlCol="0">
            <a:spAutoFit/>
          </a:bodyPr>
          <a:lstStyle/>
          <a:p>
            <a:pPr>
              <a:lnSpc>
                <a:spcPct val="150000"/>
              </a:lnSpc>
            </a:pPr>
            <a:r>
              <a:rPr lang="zh-CN" altLang="en-US" sz="3200" b="1" dirty="0">
                <a:solidFill>
                  <a:srgbClr val="FF0000"/>
                </a:solidFill>
                <a:latin typeface="微软雅黑" panose="020B0503020204020204" pitchFamily="34" charset="-122"/>
                <a:ea typeface="微软雅黑" panose="020B0503020204020204" pitchFamily="34" charset="-122"/>
              </a:rPr>
              <a:t>一、考试介绍</a:t>
            </a:r>
            <a:endParaRPr lang="en-US" altLang="zh-CN" sz="3200" b="1"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3200" b="1" dirty="0">
                <a:latin typeface="微软雅黑" panose="020B0503020204020204" pitchFamily="34" charset="-122"/>
                <a:ea typeface="微软雅黑" panose="020B0503020204020204" pitchFamily="34" charset="-122"/>
              </a:rPr>
              <a:t>二、课文带读（上册 </a:t>
            </a:r>
            <a:r>
              <a:rPr lang="en-US" altLang="zh-CN" sz="3200" b="1" dirty="0">
                <a:latin typeface="微软雅黑" panose="020B0503020204020204" pitchFamily="34" charset="-122"/>
                <a:ea typeface="微软雅黑" panose="020B0503020204020204" pitchFamily="34" charset="-122"/>
              </a:rPr>
              <a:t>Lesson 9</a:t>
            </a:r>
            <a:r>
              <a:rPr lang="zh-CN" altLang="en-US" sz="3200" b="1" dirty="0">
                <a:latin typeface="微软雅黑" panose="020B0503020204020204" pitchFamily="34" charset="-122"/>
                <a:ea typeface="微软雅黑" panose="020B0503020204020204" pitchFamily="34" charset="-122"/>
              </a:rPr>
              <a:t>）</a:t>
            </a:r>
          </a:p>
        </p:txBody>
      </p:sp>
      <p:sp>
        <p:nvSpPr>
          <p:cNvPr id="5" name="矩形 4">
            <a:extLst>
              <a:ext uri="{FF2B5EF4-FFF2-40B4-BE49-F238E27FC236}">
                <a16:creationId xmlns:a16="http://schemas.microsoft.com/office/drawing/2014/main" id="{1A29C14C-4067-449A-9610-F0A465FC666E}"/>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60653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5" name="文本框 4">
            <a:extLst>
              <a:ext uri="{FF2B5EF4-FFF2-40B4-BE49-F238E27FC236}">
                <a16:creationId xmlns:a16="http://schemas.microsoft.com/office/drawing/2014/main" id="{FB3FC99D-7841-4249-B5DC-C6B8EDBDEEA9}"/>
              </a:ext>
            </a:extLst>
          </p:cNvPr>
          <p:cNvSpPr txBox="1"/>
          <p:nvPr/>
        </p:nvSpPr>
        <p:spPr>
          <a:xfrm>
            <a:off x="4274129" y="2230582"/>
            <a:ext cx="893616"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课内</a:t>
            </a:r>
            <a:endParaRPr lang="en-US" altLang="zh-CN"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58243106-1226-4133-9285-26921799580E}"/>
              </a:ext>
            </a:extLst>
          </p:cNvPr>
          <p:cNvSpPr txBox="1"/>
          <p:nvPr/>
        </p:nvSpPr>
        <p:spPr>
          <a:xfrm>
            <a:off x="1915392" y="3492576"/>
            <a:ext cx="194656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高级英语</a:t>
            </a:r>
          </a:p>
        </p:txBody>
      </p:sp>
      <p:sp>
        <p:nvSpPr>
          <p:cNvPr id="7" name="左大括号 6">
            <a:extLst>
              <a:ext uri="{FF2B5EF4-FFF2-40B4-BE49-F238E27FC236}">
                <a16:creationId xmlns:a16="http://schemas.microsoft.com/office/drawing/2014/main" id="{F3F4CBF2-DAE9-4A8D-AD89-9F7B09DC6889}"/>
              </a:ext>
            </a:extLst>
          </p:cNvPr>
          <p:cNvSpPr/>
          <p:nvPr/>
        </p:nvSpPr>
        <p:spPr>
          <a:xfrm>
            <a:off x="3650674" y="2348346"/>
            <a:ext cx="422562" cy="275012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9F48592-EC1E-4E4C-A756-27A1C871E046}"/>
              </a:ext>
            </a:extLst>
          </p:cNvPr>
          <p:cNvSpPr txBox="1"/>
          <p:nvPr/>
        </p:nvSpPr>
        <p:spPr>
          <a:xfrm>
            <a:off x="4274129" y="4598849"/>
            <a:ext cx="893616"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课外</a:t>
            </a:r>
            <a:endParaRPr lang="en-US" altLang="zh-CN" sz="2000" dirty="0">
              <a:latin typeface="微软雅黑" panose="020B0503020204020204" pitchFamily="34" charset="-122"/>
              <a:ea typeface="微软雅黑" panose="020B0503020204020204" pitchFamily="34" charset="-122"/>
            </a:endParaRPr>
          </a:p>
        </p:txBody>
      </p:sp>
      <p:sp>
        <p:nvSpPr>
          <p:cNvPr id="9" name="左大括号 8">
            <a:extLst>
              <a:ext uri="{FF2B5EF4-FFF2-40B4-BE49-F238E27FC236}">
                <a16:creationId xmlns:a16="http://schemas.microsoft.com/office/drawing/2014/main" id="{5B9B2D41-8DF1-4334-AF78-E31C35FD533F}"/>
              </a:ext>
            </a:extLst>
          </p:cNvPr>
          <p:cNvSpPr/>
          <p:nvPr/>
        </p:nvSpPr>
        <p:spPr>
          <a:xfrm>
            <a:off x="5115791" y="1827375"/>
            <a:ext cx="103907" cy="133547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483E827E-7915-435B-92EA-FCDEFBD38589}"/>
              </a:ext>
            </a:extLst>
          </p:cNvPr>
          <p:cNvSpPr txBox="1"/>
          <p:nvPr/>
        </p:nvSpPr>
        <p:spPr>
          <a:xfrm>
            <a:off x="5410200" y="1633114"/>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一、单项选择（</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AD5CC3C-C1DD-49CD-BE6F-E2B6D84CBE26}"/>
              </a:ext>
            </a:extLst>
          </p:cNvPr>
          <p:cNvSpPr txBox="1"/>
          <p:nvPr/>
        </p:nvSpPr>
        <p:spPr>
          <a:xfrm>
            <a:off x="5410200" y="2188157"/>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五、段落填空（</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0B8BB2A4-CC51-4D52-84A5-AD154A54B06E}"/>
              </a:ext>
            </a:extLst>
          </p:cNvPr>
          <p:cNvSpPr txBox="1"/>
          <p:nvPr/>
        </p:nvSpPr>
        <p:spPr>
          <a:xfrm>
            <a:off x="5410200" y="2687781"/>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六、汉译英（</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3" name="左大括号 12">
            <a:extLst>
              <a:ext uri="{FF2B5EF4-FFF2-40B4-BE49-F238E27FC236}">
                <a16:creationId xmlns:a16="http://schemas.microsoft.com/office/drawing/2014/main" id="{B9C25BBE-EFBA-4694-A3E4-E444803D0C7C}"/>
              </a:ext>
            </a:extLst>
          </p:cNvPr>
          <p:cNvSpPr/>
          <p:nvPr/>
        </p:nvSpPr>
        <p:spPr>
          <a:xfrm>
            <a:off x="5167744" y="4238066"/>
            <a:ext cx="103907" cy="133547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C0A1288-4B16-4406-9E8F-57EEB8295DF7}"/>
              </a:ext>
            </a:extLst>
          </p:cNvPr>
          <p:cNvSpPr txBox="1"/>
          <p:nvPr/>
        </p:nvSpPr>
        <p:spPr>
          <a:xfrm>
            <a:off x="5410200" y="4170220"/>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二、阅读理解（</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856D18-2537-4A63-ABC2-C99F2E7253D7}"/>
              </a:ext>
            </a:extLst>
          </p:cNvPr>
          <p:cNvSpPr txBox="1"/>
          <p:nvPr/>
        </p:nvSpPr>
        <p:spPr>
          <a:xfrm>
            <a:off x="5410200" y="4669844"/>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三、英译汉（</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06B0BE0-F9F1-4688-AD28-BBF3B852BBB0}"/>
              </a:ext>
            </a:extLst>
          </p:cNvPr>
          <p:cNvSpPr txBox="1"/>
          <p:nvPr/>
        </p:nvSpPr>
        <p:spPr>
          <a:xfrm>
            <a:off x="5410200" y="5153035"/>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四、小作文（</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C880E0C2-0629-493F-B8B3-703AF51C2E4D}"/>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834258CE-9025-4AFF-8829-D1DD419F37DF}"/>
              </a:ext>
            </a:extLst>
          </p:cNvPr>
          <p:cNvSpPr/>
          <p:nvPr/>
        </p:nvSpPr>
        <p:spPr>
          <a:xfrm>
            <a:off x="133928" y="282543"/>
            <a:ext cx="6567823" cy="276999"/>
          </a:xfrm>
          <a:prstGeom prst="rect">
            <a:avLst/>
          </a:prstGeom>
        </p:spPr>
        <p:txBody>
          <a:bodyPr wrap="square">
            <a:spAutoFit/>
          </a:bodyPr>
          <a:lstStyle/>
          <a:p>
            <a:r>
              <a:rPr lang="en-US" altLang="zh-CN" sz="1200" dirty="0">
                <a:solidFill>
                  <a:schemeClr val="bg1">
                    <a:lumMod val="95000"/>
                  </a:schemeClr>
                </a:solidFill>
                <a:latin typeface="Helvetica Neue For Number"/>
              </a:rPr>
              <a:t>1.1.2.8</a:t>
            </a:r>
            <a:r>
              <a:rPr lang="zh-CN" altLang="en-US" sz="1200" dirty="0">
                <a:solidFill>
                  <a:schemeClr val="bg1">
                    <a:lumMod val="95000"/>
                  </a:schemeClr>
                </a:solidFill>
                <a:latin typeface="Helvetica Neue For Number"/>
              </a:rPr>
              <a:t>科学毁了我的晚餐（</a:t>
            </a:r>
            <a:r>
              <a:rPr lang="en-US" altLang="zh-CN" sz="1200" dirty="0">
                <a:solidFill>
                  <a:schemeClr val="bg1">
                    <a:lumMod val="95000"/>
                  </a:schemeClr>
                </a:solidFill>
                <a:latin typeface="Helvetica Neue For Number"/>
              </a:rPr>
              <a:t>Science Has Spoiled My Supper</a:t>
            </a:r>
            <a:r>
              <a:rPr lang="zh-CN" altLang="en-US" sz="1200" dirty="0">
                <a:solidFill>
                  <a:schemeClr val="bg1">
                    <a:lumMod val="95000"/>
                  </a:schemeClr>
                </a:solidFill>
                <a:latin typeface="Helvetica Neue For Number"/>
              </a:rPr>
              <a:t>）</a:t>
            </a:r>
            <a:endParaRPr lang="zh-CN" altLang="en-US" sz="1200" dirty="0">
              <a:solidFill>
                <a:schemeClr val="bg1">
                  <a:lumMod val="95000"/>
                </a:schemeClr>
              </a:solidFill>
            </a:endParaRPr>
          </a:p>
        </p:txBody>
      </p:sp>
    </p:spTree>
    <p:extLst>
      <p:ext uri="{BB962C8B-B14F-4D97-AF65-F5344CB8AC3E}">
        <p14:creationId xmlns:p14="http://schemas.microsoft.com/office/powerpoint/2010/main" val="342468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5" name="文本框 4">
            <a:extLst>
              <a:ext uri="{FF2B5EF4-FFF2-40B4-BE49-F238E27FC236}">
                <a16:creationId xmlns:a16="http://schemas.microsoft.com/office/drawing/2014/main" id="{FB3FC99D-7841-4249-B5DC-C6B8EDBDEEA9}"/>
              </a:ext>
            </a:extLst>
          </p:cNvPr>
          <p:cNvSpPr txBox="1"/>
          <p:nvPr/>
        </p:nvSpPr>
        <p:spPr>
          <a:xfrm>
            <a:off x="4274129" y="2230582"/>
            <a:ext cx="893616"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课内</a:t>
            </a:r>
            <a:endParaRPr lang="en-US" altLang="zh-CN"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58243106-1226-4133-9285-26921799580E}"/>
              </a:ext>
            </a:extLst>
          </p:cNvPr>
          <p:cNvSpPr txBox="1"/>
          <p:nvPr/>
        </p:nvSpPr>
        <p:spPr>
          <a:xfrm>
            <a:off x="1915392" y="3492576"/>
            <a:ext cx="194656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高级英语</a:t>
            </a:r>
          </a:p>
        </p:txBody>
      </p:sp>
      <p:sp>
        <p:nvSpPr>
          <p:cNvPr id="7" name="左大括号 6">
            <a:extLst>
              <a:ext uri="{FF2B5EF4-FFF2-40B4-BE49-F238E27FC236}">
                <a16:creationId xmlns:a16="http://schemas.microsoft.com/office/drawing/2014/main" id="{F3F4CBF2-DAE9-4A8D-AD89-9F7B09DC6889}"/>
              </a:ext>
            </a:extLst>
          </p:cNvPr>
          <p:cNvSpPr/>
          <p:nvPr/>
        </p:nvSpPr>
        <p:spPr>
          <a:xfrm>
            <a:off x="3650674" y="2348346"/>
            <a:ext cx="422562" cy="275012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9F48592-EC1E-4E4C-A756-27A1C871E046}"/>
              </a:ext>
            </a:extLst>
          </p:cNvPr>
          <p:cNvSpPr txBox="1"/>
          <p:nvPr/>
        </p:nvSpPr>
        <p:spPr>
          <a:xfrm>
            <a:off x="4274129" y="4598849"/>
            <a:ext cx="893616"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课外</a:t>
            </a:r>
            <a:endParaRPr lang="en-US" altLang="zh-CN" sz="2000" dirty="0">
              <a:latin typeface="微软雅黑" panose="020B0503020204020204" pitchFamily="34" charset="-122"/>
              <a:ea typeface="微软雅黑" panose="020B0503020204020204" pitchFamily="34" charset="-122"/>
            </a:endParaRPr>
          </a:p>
        </p:txBody>
      </p:sp>
      <p:sp>
        <p:nvSpPr>
          <p:cNvPr id="9" name="左大括号 8">
            <a:extLst>
              <a:ext uri="{FF2B5EF4-FFF2-40B4-BE49-F238E27FC236}">
                <a16:creationId xmlns:a16="http://schemas.microsoft.com/office/drawing/2014/main" id="{5B9B2D41-8DF1-4334-AF78-E31C35FD533F}"/>
              </a:ext>
            </a:extLst>
          </p:cNvPr>
          <p:cNvSpPr/>
          <p:nvPr/>
        </p:nvSpPr>
        <p:spPr>
          <a:xfrm>
            <a:off x="5115791" y="1827375"/>
            <a:ext cx="103907" cy="133547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483E827E-7915-435B-92EA-FCDEFBD38589}"/>
              </a:ext>
            </a:extLst>
          </p:cNvPr>
          <p:cNvSpPr txBox="1"/>
          <p:nvPr/>
        </p:nvSpPr>
        <p:spPr>
          <a:xfrm>
            <a:off x="5410200" y="1633114"/>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一、单项选择（</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AD5CC3C-C1DD-49CD-BE6F-E2B6D84CBE26}"/>
              </a:ext>
            </a:extLst>
          </p:cNvPr>
          <p:cNvSpPr txBox="1"/>
          <p:nvPr/>
        </p:nvSpPr>
        <p:spPr>
          <a:xfrm>
            <a:off x="5410200" y="2188157"/>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五、段落填空（</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0B8BB2A4-CC51-4D52-84A5-AD154A54B06E}"/>
              </a:ext>
            </a:extLst>
          </p:cNvPr>
          <p:cNvSpPr txBox="1"/>
          <p:nvPr/>
        </p:nvSpPr>
        <p:spPr>
          <a:xfrm>
            <a:off x="5410200" y="2687781"/>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六、汉译英（</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3" name="左大括号 12">
            <a:extLst>
              <a:ext uri="{FF2B5EF4-FFF2-40B4-BE49-F238E27FC236}">
                <a16:creationId xmlns:a16="http://schemas.microsoft.com/office/drawing/2014/main" id="{B9C25BBE-EFBA-4694-A3E4-E444803D0C7C}"/>
              </a:ext>
            </a:extLst>
          </p:cNvPr>
          <p:cNvSpPr/>
          <p:nvPr/>
        </p:nvSpPr>
        <p:spPr>
          <a:xfrm>
            <a:off x="5167744" y="4238066"/>
            <a:ext cx="103907" cy="1335470"/>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C0A1288-4B16-4406-9E8F-57EEB8295DF7}"/>
              </a:ext>
            </a:extLst>
          </p:cNvPr>
          <p:cNvSpPr txBox="1"/>
          <p:nvPr/>
        </p:nvSpPr>
        <p:spPr>
          <a:xfrm>
            <a:off x="5410200" y="4170220"/>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二、阅读理解（</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0856D18-2537-4A63-ABC2-C99F2E7253D7}"/>
              </a:ext>
            </a:extLst>
          </p:cNvPr>
          <p:cNvSpPr txBox="1"/>
          <p:nvPr/>
        </p:nvSpPr>
        <p:spPr>
          <a:xfrm>
            <a:off x="5410200" y="4669844"/>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三、英译汉（</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06B0BE0-F9F1-4688-AD28-BBF3B852BBB0}"/>
              </a:ext>
            </a:extLst>
          </p:cNvPr>
          <p:cNvSpPr txBox="1"/>
          <p:nvPr/>
        </p:nvSpPr>
        <p:spPr>
          <a:xfrm>
            <a:off x="5410200" y="5153035"/>
            <a:ext cx="2757054" cy="499624"/>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四、小作文（</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17" name="左大括号 16">
            <a:extLst>
              <a:ext uri="{FF2B5EF4-FFF2-40B4-BE49-F238E27FC236}">
                <a16:creationId xmlns:a16="http://schemas.microsoft.com/office/drawing/2014/main" id="{B4737CA1-7A2A-406B-B9F9-326898F33BDB}"/>
              </a:ext>
            </a:extLst>
          </p:cNvPr>
          <p:cNvSpPr/>
          <p:nvPr/>
        </p:nvSpPr>
        <p:spPr>
          <a:xfrm flipH="1">
            <a:off x="8271161" y="1854223"/>
            <a:ext cx="200894" cy="1333182"/>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D36F6025-236E-4448-BE28-59D632EDF4C9}"/>
              </a:ext>
            </a:extLst>
          </p:cNvPr>
          <p:cNvSpPr txBox="1"/>
          <p:nvPr/>
        </p:nvSpPr>
        <p:spPr>
          <a:xfrm>
            <a:off x="8811493" y="2327994"/>
            <a:ext cx="1537854" cy="584775"/>
          </a:xfrm>
          <a:prstGeom prst="rect">
            <a:avLst/>
          </a:prstGeom>
          <a:noFill/>
        </p:spPr>
        <p:txBody>
          <a:bodyPr wrap="square" rtlCol="0">
            <a:spAutoFit/>
          </a:bodyPr>
          <a:lstStyle/>
          <a:p>
            <a:r>
              <a:rPr lang="en-US" altLang="zh-CN" sz="3200" b="1" dirty="0">
                <a:solidFill>
                  <a:srgbClr val="FF0000"/>
                </a:solidFill>
                <a:latin typeface="微软雅黑" panose="020B0503020204020204" pitchFamily="34" charset="-122"/>
                <a:ea typeface="微软雅黑" panose="020B0503020204020204" pitchFamily="34" charset="-122"/>
              </a:rPr>
              <a:t>60</a:t>
            </a:r>
            <a:r>
              <a:rPr lang="zh-CN" altLang="en-US" sz="3200" b="1" dirty="0">
                <a:solidFill>
                  <a:srgbClr val="FF0000"/>
                </a:solidFill>
                <a:latin typeface="微软雅黑" panose="020B0503020204020204" pitchFamily="34" charset="-122"/>
                <a:ea typeface="微软雅黑" panose="020B0503020204020204" pitchFamily="34" charset="-122"/>
              </a:rPr>
              <a:t>分</a:t>
            </a:r>
          </a:p>
        </p:txBody>
      </p:sp>
      <p:sp>
        <p:nvSpPr>
          <p:cNvPr id="19" name="左大括号 18">
            <a:extLst>
              <a:ext uri="{FF2B5EF4-FFF2-40B4-BE49-F238E27FC236}">
                <a16:creationId xmlns:a16="http://schemas.microsoft.com/office/drawing/2014/main" id="{55F111EA-4E06-4C75-BD81-9B6851BBA556}"/>
              </a:ext>
            </a:extLst>
          </p:cNvPr>
          <p:cNvSpPr/>
          <p:nvPr/>
        </p:nvSpPr>
        <p:spPr>
          <a:xfrm flipH="1">
            <a:off x="8271161" y="4319477"/>
            <a:ext cx="200894" cy="1333182"/>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E8F79A6-EF48-4454-AB89-82B3C9CD9361}"/>
              </a:ext>
            </a:extLst>
          </p:cNvPr>
          <p:cNvSpPr txBox="1"/>
          <p:nvPr/>
        </p:nvSpPr>
        <p:spPr>
          <a:xfrm>
            <a:off x="8811493" y="4693680"/>
            <a:ext cx="1537854" cy="584775"/>
          </a:xfrm>
          <a:prstGeom prst="rect">
            <a:avLst/>
          </a:prstGeom>
          <a:noFill/>
        </p:spPr>
        <p:txBody>
          <a:bodyPr wrap="square" rtlCol="0">
            <a:spAutoFit/>
          </a:bodyPr>
          <a:lstStyle/>
          <a:p>
            <a:r>
              <a:rPr lang="en-US" altLang="zh-CN" sz="3200" b="1" dirty="0">
                <a:solidFill>
                  <a:srgbClr val="FF0000"/>
                </a:solidFill>
                <a:latin typeface="微软雅黑" panose="020B0503020204020204" pitchFamily="34" charset="-122"/>
                <a:ea typeface="微软雅黑" panose="020B0503020204020204" pitchFamily="34" charset="-122"/>
              </a:rPr>
              <a:t>40</a:t>
            </a:r>
            <a:r>
              <a:rPr lang="zh-CN" altLang="en-US" sz="3200" b="1" dirty="0">
                <a:solidFill>
                  <a:srgbClr val="FF0000"/>
                </a:solidFill>
                <a:latin typeface="微软雅黑" panose="020B0503020204020204" pitchFamily="34" charset="-122"/>
                <a:ea typeface="微软雅黑" panose="020B0503020204020204" pitchFamily="34" charset="-122"/>
              </a:rPr>
              <a:t>分</a:t>
            </a:r>
          </a:p>
        </p:txBody>
      </p:sp>
      <p:sp>
        <p:nvSpPr>
          <p:cNvPr id="21" name="矩形 20">
            <a:extLst>
              <a:ext uri="{FF2B5EF4-FFF2-40B4-BE49-F238E27FC236}">
                <a16:creationId xmlns:a16="http://schemas.microsoft.com/office/drawing/2014/main" id="{53ADD6F5-24B6-44CE-8D57-63B360CEB1BD}"/>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24375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、单项选择（</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1=15</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A8B1F57-D3DC-4FB5-A421-11307412DB32}"/>
              </a:ext>
            </a:extLst>
          </p:cNvPr>
          <p:cNvSpPr/>
          <p:nvPr/>
        </p:nvSpPr>
        <p:spPr>
          <a:xfrm>
            <a:off x="561110" y="2082930"/>
            <a:ext cx="10002982" cy="4006994"/>
          </a:xfrm>
          <a:prstGeom prst="rect">
            <a:avLst/>
          </a:prstGeom>
        </p:spPr>
        <p:txBody>
          <a:bodyPr wrap="square">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The police have warned the public that the killer could ____ again.(1610</a:t>
            </a:r>
            <a:r>
              <a:rPr lang="zh-CN" altLang="en-US" sz="2000" dirty="0">
                <a:latin typeface="微软雅黑" panose="020B0503020204020204" pitchFamily="34" charset="-122"/>
                <a:ea typeface="微软雅黑" panose="020B0503020204020204" pitchFamily="34" charset="-122"/>
              </a:rPr>
              <a:t>真题</a:t>
            </a:r>
            <a:r>
              <a:rPr lang="en-US" altLang="zh-CN" sz="2000" dirty="0">
                <a:latin typeface="微软雅黑" panose="020B0503020204020204" pitchFamily="34" charset="-122"/>
                <a:ea typeface="微软雅黑" panose="020B0503020204020204" pitchFamily="34" charset="-122"/>
              </a:rPr>
              <a:t>)</a:t>
            </a:r>
          </a:p>
          <a:p>
            <a:pPr>
              <a:lnSpc>
                <a:spcPts val="4600"/>
              </a:lnSpc>
              <a:tabLst>
                <a:tab pos="152400" algn="l"/>
              </a:tabLst>
            </a:pPr>
            <a:r>
              <a:rPr lang="en-US" altLang="zh-CN" sz="2000" dirty="0">
                <a:solidFill>
                  <a:srgbClr val="000000"/>
                </a:solidFill>
                <a:latin typeface="Trebuchet MS" pitchFamily="18" charset="0"/>
                <a:cs typeface="Trebuchet MS" pitchFamily="18" charset="0"/>
              </a:rPr>
              <a:t>A. stride </a:t>
            </a:r>
            <a:r>
              <a:rPr lang="zh-CN" altLang="en-US" sz="2000" dirty="0">
                <a:solidFill>
                  <a:srgbClr val="000000"/>
                </a:solidFill>
                <a:latin typeface="微软雅黑" panose="020B0503020204020204" pitchFamily="34" charset="-122"/>
                <a:ea typeface="微软雅黑" panose="020B0503020204020204" pitchFamily="34" charset="-122"/>
                <a:cs typeface="Trebuchet MS" pitchFamily="18" charset="0"/>
              </a:rPr>
              <a:t>大步，阔步</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  </a:t>
            </a:r>
          </a:p>
          <a:p>
            <a:pPr>
              <a:lnSpc>
                <a:spcPts val="4600"/>
              </a:lnSpc>
              <a:tabLst>
                <a:tab pos="152400" algn="l"/>
              </a:tabLst>
            </a:pPr>
            <a:r>
              <a:rPr lang="en-US" altLang="zh-CN" sz="2000" dirty="0">
                <a:solidFill>
                  <a:srgbClr val="000000"/>
                </a:solidFill>
                <a:latin typeface="Trebuchet MS" pitchFamily="18" charset="0"/>
                <a:cs typeface="Trebuchet MS" pitchFamily="18" charset="0"/>
              </a:rPr>
              <a:t>B.</a:t>
            </a:r>
            <a:r>
              <a:rPr lang="en-US" altLang="zh-CN" sz="2000" dirty="0">
                <a:latin typeface="Times New Roman" pitchFamily="18" charset="0"/>
                <a:cs typeface="Times New Roman" pitchFamily="18" charset="0"/>
              </a:rPr>
              <a:t> </a:t>
            </a:r>
            <a:r>
              <a:rPr lang="en-US" altLang="zh-CN" sz="2000" dirty="0">
                <a:solidFill>
                  <a:srgbClr val="000000"/>
                </a:solidFill>
                <a:latin typeface="Trebuchet MS" pitchFamily="18" charset="0"/>
                <a:cs typeface="Trebuchet MS" pitchFamily="18" charset="0"/>
              </a:rPr>
              <a:t>strike </a:t>
            </a:r>
            <a:r>
              <a:rPr lang="zh-CN" altLang="en-US" sz="2000" dirty="0">
                <a:solidFill>
                  <a:srgbClr val="000000"/>
                </a:solidFill>
                <a:latin typeface="微软雅黑" panose="020B0503020204020204" pitchFamily="34" charset="-122"/>
                <a:ea typeface="微软雅黑" panose="020B0503020204020204" pitchFamily="34" charset="-122"/>
                <a:cs typeface="Trebuchet MS" pitchFamily="18" charset="0"/>
              </a:rPr>
              <a:t>打，袭击</a:t>
            </a: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a:p>
            <a:pPr>
              <a:lnSpc>
                <a:spcPts val="4600"/>
              </a:lnSpc>
              <a:tabLst>
                <a:tab pos="152400" algn="l"/>
              </a:tabLst>
            </a:pPr>
            <a:r>
              <a:rPr lang="en-US" altLang="zh-CN" sz="2000" dirty="0">
                <a:solidFill>
                  <a:srgbClr val="000000"/>
                </a:solidFill>
                <a:latin typeface="Trebuchet MS" pitchFamily="18" charset="0"/>
                <a:cs typeface="Trebuchet MS" pitchFamily="18" charset="0"/>
              </a:rPr>
              <a:t>C.</a:t>
            </a:r>
            <a:r>
              <a:rPr lang="en-US" altLang="zh-CN" sz="2000" dirty="0">
                <a:latin typeface="Times New Roman" pitchFamily="18" charset="0"/>
                <a:cs typeface="Times New Roman" pitchFamily="18" charset="0"/>
              </a:rPr>
              <a:t> </a:t>
            </a:r>
            <a:r>
              <a:rPr lang="en-US" altLang="zh-CN" sz="2000" dirty="0">
                <a:solidFill>
                  <a:srgbClr val="000000"/>
                </a:solidFill>
                <a:latin typeface="Trebuchet MS" pitchFamily="18" charset="0"/>
                <a:cs typeface="Trebuchet MS" pitchFamily="18" charset="0"/>
              </a:rPr>
              <a:t>strive </a:t>
            </a:r>
            <a:r>
              <a:rPr lang="zh-CN" altLang="en-US" sz="2000" dirty="0">
                <a:solidFill>
                  <a:srgbClr val="000000"/>
                </a:solidFill>
                <a:latin typeface="微软雅黑" panose="020B0503020204020204" pitchFamily="34" charset="-122"/>
                <a:ea typeface="微软雅黑" panose="020B0503020204020204" pitchFamily="34" charset="-122"/>
                <a:cs typeface="Trebuchet MS" pitchFamily="18" charset="0"/>
              </a:rPr>
              <a:t>努力奋斗</a:t>
            </a: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a:p>
            <a:pPr>
              <a:lnSpc>
                <a:spcPts val="4600"/>
              </a:lnSpc>
              <a:tabLst>
                <a:tab pos="152400" algn="l"/>
              </a:tabLst>
            </a:pPr>
            <a:r>
              <a:rPr lang="en-US" altLang="zh-CN" sz="2000" dirty="0">
                <a:solidFill>
                  <a:srgbClr val="000000"/>
                </a:solidFill>
                <a:latin typeface="Trebuchet MS" pitchFamily="18" charset="0"/>
                <a:cs typeface="Trebuchet MS" pitchFamily="18" charset="0"/>
              </a:rPr>
              <a:t>D.</a:t>
            </a:r>
            <a:r>
              <a:rPr lang="en-US" altLang="zh-CN" sz="2000" dirty="0">
                <a:latin typeface="Times New Roman" pitchFamily="18" charset="0"/>
                <a:cs typeface="Times New Roman" pitchFamily="18" charset="0"/>
              </a:rPr>
              <a:t> </a:t>
            </a:r>
            <a:r>
              <a:rPr lang="en-US" altLang="zh-CN" sz="2000" dirty="0">
                <a:solidFill>
                  <a:srgbClr val="000000"/>
                </a:solidFill>
                <a:latin typeface="Trebuchet MS" pitchFamily="18" charset="0"/>
                <a:cs typeface="Trebuchet MS" pitchFamily="18" charset="0"/>
              </a:rPr>
              <a:t>stray </a:t>
            </a:r>
            <a:r>
              <a:rPr lang="zh-CN" altLang="en-US" sz="2000" dirty="0">
                <a:solidFill>
                  <a:srgbClr val="000000"/>
                </a:solidFill>
                <a:latin typeface="微软雅黑" panose="020B0503020204020204" pitchFamily="34" charset="-122"/>
                <a:ea typeface="微软雅黑" panose="020B0503020204020204" pitchFamily="34" charset="-122"/>
                <a:cs typeface="Trebuchet MS" pitchFamily="18" charset="0"/>
              </a:rPr>
              <a:t>误入歧途</a:t>
            </a: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a:p>
            <a:pPr>
              <a:lnSpc>
                <a:spcPts val="4600"/>
              </a:lnSpc>
              <a:tabLst>
                <a:tab pos="152400" algn="l"/>
              </a:tabLst>
            </a:pPr>
            <a:r>
              <a:rPr lang="zh-CN" altLang="en-US" sz="2000" dirty="0">
                <a:solidFill>
                  <a:srgbClr val="000000"/>
                </a:solidFill>
                <a:latin typeface="微软雅黑" panose="020B0503020204020204" pitchFamily="34" charset="-122"/>
                <a:ea typeface="微软雅黑" panose="020B0503020204020204" pitchFamily="34" charset="-122"/>
                <a:cs typeface="Trebuchet MS" pitchFamily="18" charset="0"/>
              </a:rPr>
              <a:t>答案：</a:t>
            </a:r>
            <a:r>
              <a:rPr lang="en-US" altLang="zh-CN" sz="2000" dirty="0">
                <a:solidFill>
                  <a:srgbClr val="FF0000"/>
                </a:solidFill>
                <a:latin typeface="微软雅黑" panose="020B0503020204020204" pitchFamily="34" charset="-122"/>
                <a:ea typeface="微软雅黑" panose="020B0503020204020204" pitchFamily="34" charset="-122"/>
                <a:cs typeface="Trebuchet MS" pitchFamily="18" charset="0"/>
              </a:rPr>
              <a:t>B</a:t>
            </a:r>
          </a:p>
          <a:p>
            <a:pPr>
              <a:lnSpc>
                <a:spcPts val="4600"/>
              </a:lnSpc>
              <a:tabLst>
                <a:tab pos="152400" algn="l"/>
              </a:tabLst>
            </a:pPr>
            <a:r>
              <a:rPr lang="zh-CN" altLang="en-US" sz="2000" dirty="0">
                <a:solidFill>
                  <a:srgbClr val="000000"/>
                </a:solidFill>
                <a:latin typeface="微软雅黑" panose="020B0503020204020204" pitchFamily="34" charset="-122"/>
                <a:ea typeface="微软雅黑" panose="020B0503020204020204" pitchFamily="34" charset="-122"/>
                <a:cs typeface="Trebuchet MS" pitchFamily="18" charset="0"/>
              </a:rPr>
              <a:t>翻译：警察提醒公众这个杀手可能再次作案。</a:t>
            </a: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p:txBody>
      </p:sp>
      <p:sp>
        <p:nvSpPr>
          <p:cNvPr id="5" name="矩形 4">
            <a:extLst>
              <a:ext uri="{FF2B5EF4-FFF2-40B4-BE49-F238E27FC236}">
                <a16:creationId xmlns:a16="http://schemas.microsoft.com/office/drawing/2014/main" id="{511C8335-D5C8-4FE5-B12B-4BBD1CE022DF}"/>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18705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、段落填空（</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1=25</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C179B968-D3A1-4B97-B230-A9F0282C89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072" y="1939286"/>
            <a:ext cx="8638999" cy="4618255"/>
          </a:xfrm>
          <a:prstGeom prst="rect">
            <a:avLst/>
          </a:prstGeom>
        </p:spPr>
      </p:pic>
      <p:cxnSp>
        <p:nvCxnSpPr>
          <p:cNvPr id="7" name="直接箭头连接符 6">
            <a:extLst>
              <a:ext uri="{FF2B5EF4-FFF2-40B4-BE49-F238E27FC236}">
                <a16:creationId xmlns:a16="http://schemas.microsoft.com/office/drawing/2014/main" id="{BF7F7D1E-265F-4989-9340-B77E30918B1F}"/>
              </a:ext>
            </a:extLst>
          </p:cNvPr>
          <p:cNvCxnSpPr/>
          <p:nvPr/>
        </p:nvCxnSpPr>
        <p:spPr>
          <a:xfrm>
            <a:off x="5860473" y="1380463"/>
            <a:ext cx="0" cy="5588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文本框 8">
            <a:extLst>
              <a:ext uri="{FF2B5EF4-FFF2-40B4-BE49-F238E27FC236}">
                <a16:creationId xmlns:a16="http://schemas.microsoft.com/office/drawing/2014/main" id="{149AC9CB-99BD-4751-85B8-44D893DD6DD0}"/>
              </a:ext>
            </a:extLst>
          </p:cNvPr>
          <p:cNvSpPr txBox="1"/>
          <p:nvPr/>
        </p:nvSpPr>
        <p:spPr>
          <a:xfrm>
            <a:off x="5264729" y="831908"/>
            <a:ext cx="2258290" cy="499624"/>
          </a:xfrm>
          <a:prstGeom prst="rect">
            <a:avLst/>
          </a:prstGeom>
          <a:noFill/>
        </p:spPr>
        <p:txBody>
          <a:bodyPr wrap="square" rtlCol="0">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课文原文</a:t>
            </a:r>
            <a:endParaRPr lang="en-US" altLang="zh-CN" sz="2000" dirty="0">
              <a:solidFill>
                <a:srgbClr val="FF000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292FE4C3-EA79-42F2-BD89-6A8D842B0617}"/>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6041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6</a:t>
            </a:r>
            <a:r>
              <a:rPr lang="zh-CN" altLang="en-US" sz="2000" dirty="0">
                <a:latin typeface="微软雅黑" panose="020B0503020204020204" pitchFamily="34" charset="-122"/>
                <a:ea typeface="微软雅黑" panose="020B0503020204020204" pitchFamily="34" charset="-122"/>
              </a:rPr>
              <a:t>、汉译英（</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2+4+8=20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A8B1F57-D3DC-4FB5-A421-11307412DB32}"/>
              </a:ext>
            </a:extLst>
          </p:cNvPr>
          <p:cNvSpPr/>
          <p:nvPr/>
        </p:nvSpPr>
        <p:spPr>
          <a:xfrm>
            <a:off x="561109" y="2082930"/>
            <a:ext cx="10820399" cy="3731278"/>
          </a:xfrm>
          <a:prstGeom prst="rect">
            <a:avLst/>
          </a:prstGeom>
        </p:spPr>
        <p:txBody>
          <a:bodyPr wrap="square">
            <a:spAutoFit/>
          </a:bodyPr>
          <a:lstStyle/>
          <a:p>
            <a:pPr>
              <a:lnSpc>
                <a:spcPct val="1500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1.</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她隐瞒嗓子疼这事⾄少三天了，并且</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一直对她父</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母撒谎，以便逃脱这样</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一</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个结局</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 </a:t>
            </a:r>
            <a:endParaRPr lang="en-US" altLang="zh-CN" sz="2000" dirty="0">
              <a:latin typeface="微软雅黑" panose="020B0503020204020204" pitchFamily="34" charset="-122"/>
              <a:ea typeface="微软雅黑" panose="020B0503020204020204" pitchFamily="34" charset="-122"/>
            </a:endParaRPr>
          </a:p>
          <a:p>
            <a:pPr>
              <a:lnSpc>
                <a:spcPct val="1500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2.</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因为这</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一</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点及其他原因，我感到孤独，不久就成了孤僻的性格</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 </a:t>
            </a:r>
            <a:endParaRPr lang="en-US" altLang="zh-CN" sz="2000" dirty="0">
              <a:latin typeface="微软雅黑" panose="020B0503020204020204" pitchFamily="34" charset="-122"/>
              <a:ea typeface="微软雅黑" panose="020B0503020204020204" pitchFamily="34" charset="-122"/>
            </a:endParaRPr>
          </a:p>
          <a:p>
            <a:pPr>
              <a:lnSpc>
                <a:spcPct val="1500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3.</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从这点来看，那些家务缠身的妇女比男⼈不行得多。</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 </a:t>
            </a:r>
            <a:endParaRPr lang="en-US" altLang="zh-CN" sz="2000" dirty="0">
              <a:latin typeface="微软雅黑" panose="020B0503020204020204" pitchFamily="34" charset="-122"/>
              <a:ea typeface="微软雅黑" panose="020B0503020204020204" pitchFamily="34" charset="-122"/>
            </a:endParaRPr>
          </a:p>
          <a:p>
            <a:pPr>
              <a:lnSpc>
                <a:spcPct val="1500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4.</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在我的部门，有六个人怕我，其中</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一</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人怕所有人</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 </a:t>
            </a:r>
          </a:p>
          <a:p>
            <a:pPr>
              <a:lnSpc>
                <a:spcPct val="150000"/>
              </a:lnSpc>
              <a:tabLst/>
            </a:pP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5.顾客亲近型公司</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力</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求了解顾客及他们所需要的产品和服务</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endParaRPr>
          </a:p>
          <a:p>
            <a:pPr>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6.</a:t>
            </a:r>
            <a:r>
              <a:rPr lang="zh-CN" altLang="en-US" sz="2000" dirty="0">
                <a:solidFill>
                  <a:srgbClr val="000000"/>
                </a:solidFill>
                <a:latin typeface="微软雅黑" panose="020B0503020204020204" pitchFamily="34" charset="-122"/>
                <a:ea typeface="微软雅黑" panose="020B0503020204020204" pitchFamily="34" charset="-122"/>
                <a:cs typeface="Times New Roman" pitchFamily="18" charset="0"/>
              </a:rPr>
              <a:t>什</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么变化也不会有，你也就没有争斗，生活像死水</a:t>
            </a:r>
            <a:r>
              <a:rPr lang="zh-CN" altLang="en-US" sz="2000" dirty="0">
                <a:solidFill>
                  <a:srgbClr val="000000"/>
                </a:solidFill>
                <a:latin typeface="微软雅黑" panose="020B0503020204020204" pitchFamily="34" charset="-122"/>
                <a:ea typeface="微软雅黑" panose="020B0503020204020204" pitchFamily="34" charset="-122"/>
                <a:cs typeface="微软雅黑" pitchFamily="18" charset="0"/>
              </a:rPr>
              <a:t>一</a:t>
            </a:r>
            <a:r>
              <a:rPr lang="en-US" altLang="zh-CN" sz="2000" dirty="0" err="1">
                <a:solidFill>
                  <a:srgbClr val="000000"/>
                </a:solidFill>
                <a:latin typeface="微软雅黑" panose="020B0503020204020204" pitchFamily="34" charset="-122"/>
                <a:ea typeface="微软雅黑" panose="020B0503020204020204" pitchFamily="34" charset="-122"/>
                <a:cs typeface="微软雅黑" pitchFamily="18" charset="0"/>
              </a:rPr>
              <a:t>样。太多的狡诈会要了你的命。即使上钩意味着麻烦，你也不能永远忽视它</a:t>
            </a:r>
            <a:r>
              <a:rPr lang="en-US" altLang="zh-CN" sz="2000" dirty="0">
                <a:solidFill>
                  <a:srgbClr val="000000"/>
                </a:solidFill>
                <a:latin typeface="微软雅黑" panose="020B0503020204020204" pitchFamily="34" charset="-122"/>
                <a:ea typeface="微软雅黑" panose="020B0503020204020204" pitchFamily="34" charset="-122"/>
                <a:cs typeface="微软雅黑" pitchFamily="18" charset="0"/>
              </a:rPr>
              <a:t>。</a:t>
            </a:r>
          </a:p>
          <a:p>
            <a:pPr>
              <a:lnSpc>
                <a:spcPct val="150000"/>
              </a:lnSpc>
              <a:tabLst/>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endParaRPr>
          </a:p>
        </p:txBody>
      </p:sp>
      <p:sp>
        <p:nvSpPr>
          <p:cNvPr id="5" name="矩形 4">
            <a:extLst>
              <a:ext uri="{FF2B5EF4-FFF2-40B4-BE49-F238E27FC236}">
                <a16:creationId xmlns:a16="http://schemas.microsoft.com/office/drawing/2014/main" id="{ED23CA08-99C5-4FD8-B14B-8340B2B38920}"/>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6856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、阅读理解（</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2=20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A8B1F57-D3DC-4FB5-A421-11307412DB32}"/>
              </a:ext>
            </a:extLst>
          </p:cNvPr>
          <p:cNvSpPr/>
          <p:nvPr/>
        </p:nvSpPr>
        <p:spPr>
          <a:xfrm>
            <a:off x="561109" y="1819587"/>
            <a:ext cx="10820399" cy="3933256"/>
          </a:xfrm>
          <a:prstGeom prst="rect">
            <a:avLst/>
          </a:prstGeom>
        </p:spPr>
        <p:txBody>
          <a:bodyPr wrap="square">
            <a:spAutoFit/>
          </a:bodyPr>
          <a:lstStyle/>
          <a:p>
            <a:pPr>
              <a:lnSpc>
                <a:spcPts val="41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(1)</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When</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started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months ago,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had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not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anticipated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challenges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involved.</a:t>
            </a:r>
          </a:p>
          <a:p>
            <a:pPr>
              <a:lnSpc>
                <a:spcPts val="42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(2)</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first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was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tell</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people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that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 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p>
          <a:p>
            <a:pPr>
              <a:lnSpc>
                <a:spcPts val="3200"/>
              </a:lnSpc>
              <a:tabLst/>
            </a:pP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16.</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The</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kids</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felt</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____when</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their</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father</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told</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them</a:t>
            </a:r>
            <a:r>
              <a:rPr lang="en-US" altLang="zh-CN" sz="2000" b="1" dirty="0">
                <a:latin typeface="微软雅黑" panose="020B0503020204020204" pitchFamily="34" charset="-122"/>
                <a:ea typeface="微软雅黑" panose="020B0503020204020204" pitchFamily="34" charset="-122"/>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that</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he</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was</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working</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from</a:t>
            </a: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home.</a:t>
            </a:r>
            <a:endParaRPr lang="en-US" altLang="zh-CN" sz="2000" b="1" dirty="0">
              <a:latin typeface="微软雅黑" panose="020B0503020204020204" pitchFamily="34" charset="-122"/>
              <a:ea typeface="微软雅黑" panose="020B0503020204020204" pitchFamily="34" charset="-122"/>
            </a:endParaRPr>
          </a:p>
          <a:p>
            <a:pPr>
              <a:lnSpc>
                <a:spcPts val="37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A.</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curious</a:t>
            </a:r>
            <a:endParaRPr lang="en-US" altLang="zh-CN" sz="2000" dirty="0">
              <a:latin typeface="微软雅黑" panose="020B0503020204020204" pitchFamily="34" charset="-122"/>
              <a:ea typeface="微软雅黑" panose="020B0503020204020204" pitchFamily="34" charset="-122"/>
            </a:endParaRPr>
          </a:p>
          <a:p>
            <a:pPr>
              <a:lnSpc>
                <a:spcPts val="37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B.</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confused</a:t>
            </a:r>
            <a:endParaRPr lang="en-US" altLang="zh-CN" sz="2000" dirty="0">
              <a:latin typeface="微软雅黑" panose="020B0503020204020204" pitchFamily="34" charset="-122"/>
              <a:ea typeface="微软雅黑" panose="020B0503020204020204" pitchFamily="34" charset="-122"/>
            </a:endParaRPr>
          </a:p>
          <a:p>
            <a:pPr>
              <a:lnSpc>
                <a:spcPts val="37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C.</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excited</a:t>
            </a:r>
            <a:endParaRPr lang="en-US" altLang="zh-CN" sz="2000" dirty="0">
              <a:latin typeface="微软雅黑" panose="020B0503020204020204" pitchFamily="34" charset="-122"/>
              <a:ea typeface="微软雅黑" panose="020B0503020204020204" pitchFamily="34" charset="-122"/>
            </a:endParaRPr>
          </a:p>
          <a:p>
            <a:pPr>
              <a:lnSpc>
                <a:spcPts val="3700"/>
              </a:lnSpc>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apprehensive</a:t>
            </a:r>
          </a:p>
        </p:txBody>
      </p:sp>
      <p:sp>
        <p:nvSpPr>
          <p:cNvPr id="5" name="矩形 4">
            <a:extLst>
              <a:ext uri="{FF2B5EF4-FFF2-40B4-BE49-F238E27FC236}">
                <a16:creationId xmlns:a16="http://schemas.microsoft.com/office/drawing/2014/main" id="{BCCE453E-DC38-4759-9C17-9A1AC08EDEAF}"/>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2595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、英译汉（</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A8B1F57-D3DC-4FB5-A421-11307412DB32}"/>
              </a:ext>
            </a:extLst>
          </p:cNvPr>
          <p:cNvSpPr/>
          <p:nvPr/>
        </p:nvSpPr>
        <p:spPr>
          <a:xfrm>
            <a:off x="561109" y="1819587"/>
            <a:ext cx="10820399" cy="3865930"/>
          </a:xfrm>
          <a:prstGeom prst="rect">
            <a:avLst/>
          </a:prstGeom>
        </p:spPr>
        <p:txBody>
          <a:bodyPr wrap="square">
            <a:spAutoFit/>
          </a:bodyPr>
          <a:lstStyle/>
          <a:p>
            <a:pPr>
              <a:lnSpc>
                <a:spcPts val="41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(1)</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When</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started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months ago,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had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not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anticipated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challenges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involved.</a:t>
            </a:r>
          </a:p>
          <a:p>
            <a:pPr>
              <a:lnSpc>
                <a:spcPts val="42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(2)</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first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was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tell</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people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that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 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p>
          <a:p>
            <a:pPr>
              <a:lnSpc>
                <a:spcPts val="1000"/>
              </a:lnSpc>
            </a:pPr>
            <a:endParaRPr lang="en-US" altLang="zh-CN" sz="2000" dirty="0">
              <a:latin typeface="微软雅黑" panose="020B0503020204020204" pitchFamily="34" charset="-122"/>
              <a:ea typeface="微软雅黑" panose="020B0503020204020204" pitchFamily="34" charset="-122"/>
            </a:endParaRPr>
          </a:p>
          <a:p>
            <a:pPr>
              <a:lnSpc>
                <a:spcPts val="3800"/>
              </a:lnSpc>
              <a:tabLst>
                <a:tab pos="152400" algn="l"/>
              </a:tabLst>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27.</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se</a:t>
            </a:r>
            <a:r>
              <a:rPr lang="en-US" altLang="zh-CN" sz="2000" dirty="0">
                <a:latin typeface="微软雅黑" panose="020B0503020204020204" pitchFamily="34" charset="-122"/>
                <a:ea typeface="微软雅黑" panose="020B0503020204020204" pitchFamily="34" charset="-122"/>
                <a:cs typeface="Times New Roman" pitchFamily="18" charset="0"/>
              </a:rPr>
              <a:t>cond challenge has been the additional demands, mostly from my wife. Her phone calls from her office invariably begin with the four words I’ve come to dread: “Since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you’re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at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home...”</a:t>
            </a:r>
          </a:p>
          <a:p>
            <a:pPr>
              <a:lnSpc>
                <a:spcPts val="4200"/>
              </a:lnSpc>
              <a:tabLst/>
            </a:pP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p:txBody>
      </p:sp>
      <p:sp>
        <p:nvSpPr>
          <p:cNvPr id="5" name="矩形 4">
            <a:extLst>
              <a:ext uri="{FF2B5EF4-FFF2-40B4-BE49-F238E27FC236}">
                <a16:creationId xmlns:a16="http://schemas.microsoft.com/office/drawing/2014/main" id="{B9ECA329-C65D-4774-9D4A-C025015720BB}"/>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86686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A8B1F57-D3DC-4FB5-A421-11307412DB32}"/>
              </a:ext>
            </a:extLst>
          </p:cNvPr>
          <p:cNvSpPr/>
          <p:nvPr/>
        </p:nvSpPr>
        <p:spPr>
          <a:xfrm>
            <a:off x="561109" y="1819587"/>
            <a:ext cx="10820399" cy="2275751"/>
          </a:xfrm>
          <a:prstGeom prst="rect">
            <a:avLst/>
          </a:prstGeom>
        </p:spPr>
        <p:txBody>
          <a:bodyPr wrap="square">
            <a:spAutoFit/>
          </a:bodyPr>
          <a:lstStyle/>
          <a:p>
            <a:pPr>
              <a:lnSpc>
                <a:spcPts val="41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(1)</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When</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started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months ago,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had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not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anticipated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challenges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involved.</a:t>
            </a:r>
          </a:p>
          <a:p>
            <a:pPr>
              <a:lnSpc>
                <a:spcPts val="42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(2)</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first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was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tell</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people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that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 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p>
          <a:p>
            <a:pPr>
              <a:lnSpc>
                <a:spcPts val="1000"/>
              </a:lnSpc>
            </a:pPr>
            <a:endParaRPr lang="en-US" altLang="zh-CN" sz="2000" dirty="0">
              <a:latin typeface="微软雅黑" panose="020B0503020204020204" pitchFamily="34" charset="-122"/>
              <a:ea typeface="微软雅黑" panose="020B0503020204020204" pitchFamily="34" charset="-122"/>
            </a:endParaRPr>
          </a:p>
          <a:p>
            <a:pPr>
              <a:lnSpc>
                <a:spcPts val="4200"/>
              </a:lnSpc>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31.</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Why</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do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you</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think</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some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people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choose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to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work</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home?</a:t>
            </a: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p:txBody>
      </p:sp>
      <p:sp>
        <p:nvSpPr>
          <p:cNvPr id="5" name="矩形 4">
            <a:extLst>
              <a:ext uri="{FF2B5EF4-FFF2-40B4-BE49-F238E27FC236}">
                <a16:creationId xmlns:a16="http://schemas.microsoft.com/office/drawing/2014/main" id="{B5A31A02-CADE-4761-9A04-1A8562CA9BBF}"/>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65777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E79D03D-A72F-4E7E-88A4-3ECF2404400A}"/>
              </a:ext>
            </a:extLst>
          </p:cNvPr>
          <p:cNvSpPr txBox="1"/>
          <p:nvPr/>
        </p:nvSpPr>
        <p:spPr>
          <a:xfrm>
            <a:off x="561110" y="533400"/>
            <a:ext cx="2396835"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一、考试介绍</a:t>
            </a:r>
          </a:p>
        </p:txBody>
      </p:sp>
      <p:sp>
        <p:nvSpPr>
          <p:cNvPr id="10" name="文本框 9">
            <a:extLst>
              <a:ext uri="{FF2B5EF4-FFF2-40B4-BE49-F238E27FC236}">
                <a16:creationId xmlns:a16="http://schemas.microsoft.com/office/drawing/2014/main" id="{483E827E-7915-435B-92EA-FCDEFBD38589}"/>
              </a:ext>
            </a:extLst>
          </p:cNvPr>
          <p:cNvSpPr txBox="1"/>
          <p:nvPr/>
        </p:nvSpPr>
        <p:spPr>
          <a:xfrm>
            <a:off x="561109" y="1319963"/>
            <a:ext cx="3920835" cy="49962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、写作（</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1=10</a:t>
            </a:r>
            <a:r>
              <a:rPr lang="zh-CN" altLang="en-US" sz="2000" dirty="0">
                <a:latin typeface="微软雅黑" panose="020B0503020204020204" pitchFamily="34" charset="-122"/>
                <a:ea typeface="微软雅黑" panose="020B0503020204020204" pitchFamily="34" charset="-122"/>
              </a:rPr>
              <a:t>分）</a:t>
            </a:r>
            <a:endParaRPr lang="en-US" altLang="zh-CN"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4A8B1F57-D3DC-4FB5-A421-11307412DB32}"/>
              </a:ext>
            </a:extLst>
          </p:cNvPr>
          <p:cNvSpPr/>
          <p:nvPr/>
        </p:nvSpPr>
        <p:spPr>
          <a:xfrm>
            <a:off x="561109" y="1819587"/>
            <a:ext cx="10820399" cy="2275751"/>
          </a:xfrm>
          <a:prstGeom prst="rect">
            <a:avLst/>
          </a:prstGeom>
        </p:spPr>
        <p:txBody>
          <a:bodyPr wrap="square">
            <a:spAutoFit/>
          </a:bodyPr>
          <a:lstStyle/>
          <a:p>
            <a:pPr>
              <a:lnSpc>
                <a:spcPts val="41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(1)</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When</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started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some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months ago,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had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not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anticipated</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challenges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involved.</a:t>
            </a:r>
          </a:p>
          <a:p>
            <a:pPr>
              <a:lnSpc>
                <a:spcPts val="4200"/>
              </a:lnSpc>
              <a:tabLst/>
            </a:pP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(2)</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first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was</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tell</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people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that</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I</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am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working 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rPr>
              <a:t>home…</a:t>
            </a:r>
          </a:p>
          <a:p>
            <a:pPr>
              <a:lnSpc>
                <a:spcPts val="1000"/>
              </a:lnSpc>
            </a:pPr>
            <a:endParaRPr lang="en-US" altLang="zh-CN" sz="2000" dirty="0">
              <a:latin typeface="微软雅黑" panose="020B0503020204020204" pitchFamily="34" charset="-122"/>
              <a:ea typeface="微软雅黑" panose="020B0503020204020204" pitchFamily="34" charset="-122"/>
            </a:endParaRPr>
          </a:p>
          <a:p>
            <a:pPr>
              <a:lnSpc>
                <a:spcPts val="4200"/>
              </a:lnSpc>
            </a:pP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31.</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Why</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do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you</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think</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some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people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choose</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to</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work</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from</a:t>
            </a:r>
            <a:r>
              <a:rPr lang="en-US" altLang="zh-CN" sz="2000" dirty="0">
                <a:latin typeface="微软雅黑" panose="020B0503020204020204" pitchFamily="34" charset="-122"/>
                <a:ea typeface="微软雅黑" panose="020B0503020204020204" pitchFamily="34" charset="-122"/>
                <a:cs typeface="Times New Roman" pitchFamily="18" charset="0"/>
              </a:rPr>
              <a:t> </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home?</a:t>
            </a:r>
            <a:endParaRPr lang="en-US" altLang="zh-CN" sz="2000" dirty="0">
              <a:solidFill>
                <a:srgbClr val="000000"/>
              </a:solidFill>
              <a:latin typeface="微软雅黑" panose="020B0503020204020204" pitchFamily="34" charset="-122"/>
              <a:ea typeface="微软雅黑" panose="020B0503020204020204" pitchFamily="34" charset="-122"/>
              <a:cs typeface="Trebuchet MS" pitchFamily="18" charset="0"/>
            </a:endParaRPr>
          </a:p>
        </p:txBody>
      </p:sp>
      <p:pic>
        <p:nvPicPr>
          <p:cNvPr id="5" name="图片 4">
            <a:extLst>
              <a:ext uri="{FF2B5EF4-FFF2-40B4-BE49-F238E27FC236}">
                <a16:creationId xmlns:a16="http://schemas.microsoft.com/office/drawing/2014/main" id="{A410D62C-EBD5-4788-8DA1-F76526200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7687" y="4268021"/>
            <a:ext cx="5263096" cy="2423108"/>
          </a:xfrm>
          <a:prstGeom prst="rect">
            <a:avLst/>
          </a:prstGeom>
        </p:spPr>
      </p:pic>
      <p:sp>
        <p:nvSpPr>
          <p:cNvPr id="6" name="矩形 5">
            <a:extLst>
              <a:ext uri="{FF2B5EF4-FFF2-40B4-BE49-F238E27FC236}">
                <a16:creationId xmlns:a16="http://schemas.microsoft.com/office/drawing/2014/main" id="{DD60B31A-40CD-40AD-B314-77F67D058F93}"/>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082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FD80A4E7-580B-4137-894B-33435330080C}"/>
              </a:ext>
            </a:extLst>
          </p:cNvPr>
          <p:cNvSpPr txBox="1"/>
          <p:nvPr/>
        </p:nvSpPr>
        <p:spPr>
          <a:xfrm>
            <a:off x="798707" y="829225"/>
            <a:ext cx="337572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近十年真题样本分析</a:t>
            </a:r>
          </a:p>
        </p:txBody>
      </p:sp>
      <p:pic>
        <p:nvPicPr>
          <p:cNvPr id="3" name="图片 2">
            <a:extLst>
              <a:ext uri="{FF2B5EF4-FFF2-40B4-BE49-F238E27FC236}">
                <a16:creationId xmlns:a16="http://schemas.microsoft.com/office/drawing/2014/main" id="{83AAC067-E4CE-4D79-BD5C-9003AF306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162" y="2292767"/>
            <a:ext cx="9944725" cy="2627576"/>
          </a:xfrm>
          <a:prstGeom prst="rect">
            <a:avLst/>
          </a:prstGeom>
        </p:spPr>
      </p:pic>
      <p:sp>
        <p:nvSpPr>
          <p:cNvPr id="4" name="矩形 3">
            <a:extLst>
              <a:ext uri="{FF2B5EF4-FFF2-40B4-BE49-F238E27FC236}">
                <a16:creationId xmlns:a16="http://schemas.microsoft.com/office/drawing/2014/main" id="{A69D9C52-6AC1-40BA-BCD9-40FB2E6A1D8A}"/>
              </a:ext>
            </a:extLst>
          </p:cNvPr>
          <p:cNvSpPr/>
          <p:nvPr/>
        </p:nvSpPr>
        <p:spPr>
          <a:xfrm>
            <a:off x="203715" y="105379"/>
            <a:ext cx="187102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lang="en-US" altLang="zh-CN" sz="1000" kern="100" dirty="0">
                <a:solidFill>
                  <a:prstClr val="white">
                    <a:lumMod val="95000"/>
                  </a:prstClr>
                </a:solidFill>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5139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t="-4000" b="-4000"/>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2589613" y="3105834"/>
            <a:ext cx="881841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Science Has Spoiled My Supper</a:t>
            </a:r>
            <a:endParaRPr kumimoji="0" lang="zh-CN" altLang="en-US" sz="4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4176437A-ACF7-42D5-A76D-6FA55386BC66}"/>
              </a:ext>
            </a:extLst>
          </p:cNvPr>
          <p:cNvSpPr/>
          <p:nvPr/>
        </p:nvSpPr>
        <p:spPr>
          <a:xfrm>
            <a:off x="203715" y="134640"/>
            <a:ext cx="206338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35637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t="-4000" b="-4000"/>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2146268" y="3036561"/>
            <a:ext cx="8818418" cy="184518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Science Has Spoiled My Supper</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科学毁了我的晚餐</a:t>
            </a:r>
          </a:p>
        </p:txBody>
      </p:sp>
      <p:sp>
        <p:nvSpPr>
          <p:cNvPr id="3" name="矩形 2">
            <a:extLst>
              <a:ext uri="{FF2B5EF4-FFF2-40B4-BE49-F238E27FC236}">
                <a16:creationId xmlns:a16="http://schemas.microsoft.com/office/drawing/2014/main" id="{11FDE70F-ADEC-4B20-A72E-AC45761A5E8E}"/>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9406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207762"/>
            <a:ext cx="10626437"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Our vegetables , however , come to us through a long chain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（链条）</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command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（指挥，控制）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There are merchants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（商人）</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of several sorts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（种类）</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——wholesalers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（批发商）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before the retailers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（零售商）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commission men</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（代理商）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and so on ——with the result that what were once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（曾经，一旦）</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edible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（可食用的）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products become, in transit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（运输）</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mere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（仅仅的）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wilted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（枯萎）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leaves and withered tubers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（凋谢的茎）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4D9E6C7B-4230-4832-9454-2C7241E75EBD}"/>
              </a:ext>
            </a:extLst>
          </p:cNvPr>
          <p:cNvSpPr/>
          <p:nvPr/>
        </p:nvSpPr>
        <p:spPr>
          <a:xfrm>
            <a:off x="203715" y="105379"/>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76694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207762"/>
            <a:ext cx="10626437"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Our vegetables , however , come to us through a long chain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（链条）</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command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（指挥，控制）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There are merchants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（商人）</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of several sorts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（种类）</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——wholesalers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（批发商）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before the retailers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（零售商）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commission men</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（代理商）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and so on ——with the result that what were once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（曾经，一旦）</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edible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（可食用的）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products become, in transit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（运输）</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mere</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（仅仅的）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wilted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（枯萎）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leaves and withered tubers</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（凋谢的茎）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026" name="Picture 2">
            <a:extLst>
              <a:ext uri="{FF2B5EF4-FFF2-40B4-BE49-F238E27FC236}">
                <a16:creationId xmlns:a16="http://schemas.microsoft.com/office/drawing/2014/main" id="{A6E50827-F6CC-4B57-89B6-CE5649FC37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8386" y="4040973"/>
            <a:ext cx="3351068" cy="233904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33C6F24D-0F89-4DFD-B2A0-A71D5D2854C6}"/>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75935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80053"/>
            <a:ext cx="10626437"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Para10</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Our vegetables , however , come to us through a long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chain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（链条）</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command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（指挥，控制）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There are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merchants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（商人）</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of several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sorts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（种类）</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wholesalers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（批发商）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before the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retailers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（零售商）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commission men</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（代理商）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and so on ——with the result that what were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once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（曾经，一旦）</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edible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（可食用的）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products become, in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transit</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（运输）</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mere</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（仅仅的）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wilted</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（枯萎）</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leaves and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withered </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tubers</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（凋谢的</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茎</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然而，我们的蔬菜是经过一个长长的控制环节才供应到我们手中。有好几种商人一一先是批发商，接着是零售商，代理商等等。结果，一度是可食用的农产品在运输过程中变成了一堆干枯的叶子和干瘪的块茎。 </a:t>
            </a:r>
          </a:p>
        </p:txBody>
      </p:sp>
      <p:sp>
        <p:nvSpPr>
          <p:cNvPr id="5" name="矩形 4">
            <a:extLst>
              <a:ext uri="{FF2B5EF4-FFF2-40B4-BE49-F238E27FC236}">
                <a16:creationId xmlns:a16="http://schemas.microsoft.com/office/drawing/2014/main" id="{776AF2EC-9E04-453B-8CFD-22FB651D6DE7}"/>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6627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727307"/>
            <a:ext cx="10875820"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Homes and restaurants do what they can with this stuff</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（材料）</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which my mother-in-law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（岳母）</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would discard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（抛弃）</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 the spot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（当场）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I have long thought that the famed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（著名的）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blindfold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（蒙住眼睛的）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test for cigarettes should be applied to city vegetables . For I am sure that if you pureed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（熬成浓菜汁）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them blindfolded , you couldn’t tell</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（区分）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beans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（菜豆）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the peas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（豌豆）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the turnips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（萝卜）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the squash (</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南瓜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C4EBA748-AAD0-4CF7-816D-0FE47BC790AC}"/>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91917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727307"/>
            <a:ext cx="10875820"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Homes and restaurants do what they can with this stuff</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（材料）</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which my mother-in-law</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（岳母）</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would discard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（抛弃）</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 the spot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（当场）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I have long thought that the famed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（著名的）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blindfold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（蒙住眼睛的）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test for cigarettes should be applied to city vegetables . For I am sure that if you pureed</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（熬成浓菜汁）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them blindfolded , you couldn’t tell</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（区分）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beans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（菜豆）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the peas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（豌豆）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the turnips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（萝卜）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the squash (</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南瓜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050" name="Picture 2">
            <a:extLst>
              <a:ext uri="{FF2B5EF4-FFF2-40B4-BE49-F238E27FC236}">
                <a16:creationId xmlns:a16="http://schemas.microsoft.com/office/drawing/2014/main" id="{5D50D97A-96A6-4EE7-9FBA-C691D3874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4586" y="4144674"/>
            <a:ext cx="3150947" cy="2325399"/>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2A88DE6B-47C5-44D9-A52A-80BB38A623E5}"/>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2945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727307"/>
            <a:ext cx="10875820"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Homes and restaurants do what they can with this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stuff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（材料）</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which my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mother-in-law</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（岳母）</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would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discard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（抛弃）</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on the spot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（当场）</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 have long thought that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famed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（著名的）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blindfold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（蒙住眼睛的）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test for cigarettes should be applied to city vegetables . For I am sure that if you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pureed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（熬成浓菜汁）</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them blindfolded , you couldn’t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tell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（区分）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beans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（菜豆）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from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 peas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（豌豆）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the turnips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（萝卜）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from the squash (</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南瓜</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家庭和饭馆尽其所能利用这些东西</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我的岳母会当场把它们扔掉。我早就想到，那出了名的蒙上眼睛品测香烟的做法也该应用到城市蔬菜上来。因为我确信如果蒙上眼睛品尝蔬菜浓汁，你分辨不出是菜豆还是豌豆，萝卜还是南瓜。 </a:t>
            </a:r>
          </a:p>
        </p:txBody>
      </p:sp>
      <p:sp>
        <p:nvSpPr>
          <p:cNvPr id="5" name="矩形 4">
            <a:extLst>
              <a:ext uri="{FF2B5EF4-FFF2-40B4-BE49-F238E27FC236}">
                <a16:creationId xmlns:a16="http://schemas.microsoft.com/office/drawing/2014/main" id="{36DE8046-1BAC-45C2-AAB8-1CE65C7B8FA8}"/>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00682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9ECDA6EA-D51C-4E5A-A9BB-41ABC37803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5744" y="1391654"/>
            <a:ext cx="9514907" cy="4706552"/>
          </a:xfrm>
        </p:spPr>
      </p:pic>
      <p:sp>
        <p:nvSpPr>
          <p:cNvPr id="6" name="文本框 5">
            <a:extLst>
              <a:ext uri="{FF2B5EF4-FFF2-40B4-BE49-F238E27FC236}">
                <a16:creationId xmlns:a16="http://schemas.microsoft.com/office/drawing/2014/main" id="{77E650B6-39E4-4EA8-A5F9-01265E2D854D}"/>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sp>
        <p:nvSpPr>
          <p:cNvPr id="4" name="矩形 3">
            <a:extLst>
              <a:ext uri="{FF2B5EF4-FFF2-40B4-BE49-F238E27FC236}">
                <a16:creationId xmlns:a16="http://schemas.microsoft.com/office/drawing/2014/main" id="{52EA28E3-8E45-42BF-AE1F-8FC7FFCF8517}"/>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7016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727307"/>
            <a:ext cx="10875820"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Para16</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wonder if this blandness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（清淡，无味）</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our diet doesn’t explain why so many of us are overweight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（超重的）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even dangerously so. When things had flavor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（味道）</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we knew what we were eating all the while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（一直）</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and it satisfied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（使满意）</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us. A teaspoonful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（一汤匙的）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my mother-in-law ‘s wild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（野生的）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strawberry jam</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（果酱）</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will entirely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（完全地）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satisfy your jam desire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（渴望，欲望）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of the average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（平均的，一般的）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tinned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（罐装的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or glass packed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（包装）</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strawberry jam, you need half a cupful to get the idea of what you’re eating. </a:t>
            </a:r>
          </a:p>
        </p:txBody>
      </p:sp>
      <p:sp>
        <p:nvSpPr>
          <p:cNvPr id="5" name="矩形 4">
            <a:extLst>
              <a:ext uri="{FF2B5EF4-FFF2-40B4-BE49-F238E27FC236}">
                <a16:creationId xmlns:a16="http://schemas.microsoft.com/office/drawing/2014/main" id="{C08C902B-91C3-472F-898E-DF0752A7B946}"/>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81427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727307"/>
            <a:ext cx="10875820" cy="419839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 wonder if this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blandness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（温和，乏味）</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our diet doesn’t explain why so many of us are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overweight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（超重的）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even dangerously so. When things had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flavor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（味道）</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knew what we were eating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all the while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（一直）</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it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satisfied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（使满意）</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 A teaspoonful</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（一汤匙的）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my mother-in-law ‘s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wild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（野生的）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strawberry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jam</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（果酱）</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will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entirely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（完全地）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satisfy your jam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desire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（渴望，欲望）</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of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average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（平均的，一般的）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tinned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（罐装的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or glass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packed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（包装）</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strawberry jam, you need half a cupful to get the idea of what you’re eating.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我在想不知道我们饮食的这种淡而无味的状况，是不是造成我们之中这么多人超重或濒临肥胖的原因。当食物有滋味的时候，我们从头到尾都知道自己吃的是什么，从中得到满足。尝一茶匙我岳母做的野草莓酱就能完全满足你的果酱欲。但是一般的罐头或瓶装草莓酱你得吃上半茶杯才知道自己吃的是什么。</a:t>
            </a:r>
          </a:p>
        </p:txBody>
      </p:sp>
      <p:sp>
        <p:nvSpPr>
          <p:cNvPr id="5" name="矩形 4">
            <a:extLst>
              <a:ext uri="{FF2B5EF4-FFF2-40B4-BE49-F238E27FC236}">
                <a16:creationId xmlns:a16="http://schemas.microsoft.com/office/drawing/2014/main" id="{CFA5A32F-2C28-4C32-92E0-337F00D3C18B}"/>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69379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E650B6-39E4-4EA8-A5F9-01265E2D854D}"/>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7" name="内容占位符 4">
            <a:extLst>
              <a:ext uri="{FF2B5EF4-FFF2-40B4-BE49-F238E27FC236}">
                <a16:creationId xmlns:a16="http://schemas.microsoft.com/office/drawing/2014/main" id="{D86B4017-9F56-4264-9874-270F0F255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360190"/>
            <a:ext cx="9594273" cy="4911421"/>
          </a:xfrm>
          <a:prstGeom prst="rect">
            <a:avLst/>
          </a:prstGeom>
        </p:spPr>
      </p:pic>
      <p:sp>
        <p:nvSpPr>
          <p:cNvPr id="4" name="矩形 3">
            <a:extLst>
              <a:ext uri="{FF2B5EF4-FFF2-40B4-BE49-F238E27FC236}">
                <a16:creationId xmlns:a16="http://schemas.microsoft.com/office/drawing/2014/main" id="{998EEC07-ECEA-4BA6-AE9E-178F22AF5AA5}"/>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16</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27514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283170"/>
            <a:ext cx="10875820"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Para17</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thought is worthy of genuine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（真正的）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scientific investigation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（科学调查）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merely a hypothesis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（假说）</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so far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（到目前为止）</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my own. But people have been eating according to</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flavor for upwards of</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以上，超过）</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 billion years. The need to satisfy the sense of taste may be innate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（天生的）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important. When food has the flavor of library paste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（图书馆里的糨糊）</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it may be the instinct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（本能）</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mankind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（人类）</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go on eating in the unconscious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（无意识的）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hope of finally satisfying the frustrated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（失望的）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taste buds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（味蕾）</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the days when good –tasting food was the rule in American home , obesity (</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肥胖</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wasn’t such a national curse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（灾难）</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8CC59998-6B62-439C-B928-A03E23CAF617}"/>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3438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283170"/>
            <a:ext cx="10875820" cy="502939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Para17</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thought is worthy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genuine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（真正的）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scientific investigation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（科学调查）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merely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hypothesis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（假说）</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 far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（到目前为止）</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my own. But people have been eating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according to</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（根据）</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flavor for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upwards of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以上，超过）</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billion years. The need to satisfy the sense of taste may be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innate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（天生的）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important. When food has the flavor of library paste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（图书馆里的糨糊）</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it may be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instinct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（本能）</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mankind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（人类）</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go on eating in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unconscious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（无意识的）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hope of finally satisfying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frustrated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（失望的）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taste buds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（味蕾）</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the days when good –tasting food was the rule in American home ,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obesity (</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肥胖</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wasn’t such a national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curse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（灾难）</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上述的那种想法是值得去进行真正的科学研究。迄今为止，这仅仅是一种假设。而且是我个人的假设。但是人们已经根据滋味来吃东西吃了十亿年以上了。满足味觉的需要很可能是人天生的重要需求。当食物吃起来像图书馆里的浆糊，也许人类的本能会使他不断地吃下去，不知不觉地希望最终能满足失望的味蕾的渴望。在美味的食物在美国家庭占主导地位的时候，肥胖症并没有成为这样的全国性的灾难。</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2BD6E275-FCA5-4FB8-B509-5051A435B5E7}"/>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4700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283170"/>
            <a:ext cx="10875820" cy="188461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Para19</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course , all this scientific “ food handling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（食品处理）</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tends to</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（为了做）</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save money. It certainly</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（确实）</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preserves</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（存放）</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food longer. It reduces work at home. But these facts, and especially the last, imply</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（暗示，表明）</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that the first purpose</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（目的）</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living is to avoid work ——at home, anyhow</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（总之，至少）</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A32D6DA7-A3C2-495B-B847-6A293D234F32}"/>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41296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283170"/>
            <a:ext cx="10875820" cy="326961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Para19</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course , all this scientific “ food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handling</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（食品</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处理</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tends to</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（为了做）</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save money. It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certainly</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（确实）</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preserves</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（存放）</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food longer. It reduces work at home. But these facts, and especially the last,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imply</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（暗示，表明）</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that the first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purpose</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（目的）</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living is to avoid work ——at home, anyhow</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（总之，至少）</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当然，所有这一切科学的“食品处理”有助于省钱。它当然使食品可以保存更长的时间，减少了家中的家务。但是这些事实，尤其是最后一条，意味着生活的第一目的就是避免干活，至少是避免在家里干活。 </a:t>
            </a:r>
            <a:endPar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700F407F-A7F8-447F-843B-F9220862638E}"/>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78108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283170"/>
            <a:ext cx="11108575" cy="326961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Para20</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Without thinking, we are making an important confession(</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自白</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about ourselves as a nation</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（国家）</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are abandoning</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（抛弃）</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quality—— even , to some extent</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（程度）</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the quality of people. The “ best “ is becoming too good for us. We are suckling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哺乳</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ourselves on machine-made mediocrity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平庸的东西</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It is bad for our souls , our minds , and our digestion</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（消化）</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the way our wiser and calmer forebears (</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祖先</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fed</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（喂养）</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not people , but hogs</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（猪）</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much as possible and as fast as possible , with no standard</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（标准）</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quality. </a:t>
            </a:r>
          </a:p>
        </p:txBody>
      </p:sp>
      <p:sp>
        <p:nvSpPr>
          <p:cNvPr id="5" name="矩形 4">
            <a:extLst>
              <a:ext uri="{FF2B5EF4-FFF2-40B4-BE49-F238E27FC236}">
                <a16:creationId xmlns:a16="http://schemas.microsoft.com/office/drawing/2014/main" id="{95092CE7-F7CC-4265-B07E-71480C9C694A}"/>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67149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下册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8</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4" y="1283170"/>
            <a:ext cx="11108575" cy="511627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Para20</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Without thinking, we are making an important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confession(</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自白</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about ourselves as a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nation</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（国家）</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We are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abandoning</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（抛弃）</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quality—— even , to some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extent</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（程度）</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the quality of people. The “ best “ is becoming too good for us. We are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suckling (</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哺乳</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ourselves on machine-made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mediocrity (</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平庸的东西</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bad for our souls , our minds , and our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digestion</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（消化）</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the way our wiser and calmer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forebears (</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祖先</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fed</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（喂养）</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not people , but hogs</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（猪）</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much as possible and as fast as possible , with no </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standard</a:t>
            </a:r>
            <a:r>
              <a:rPr kumimoji="0" lang="zh-CN" altLang="en-US"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（标准）</a:t>
            </a:r>
            <a:r>
              <a:rPr kumimoji="0" lang="en-US" altLang="zh-CN" sz="20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quality.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我们作为一个民族不假思索地做出了一个重要的自白：我们抛弃了品质</a:t>
            </a:r>
            <a:r>
              <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甚至在某种程度上抛弃了人应有的品质。我们没有资格享有“最好”的东西。我们靠机器制造出来的平庸的东西哺育自己，这对我们的灵魂，我们的头脑和我们的消化都是不好的。这是我们较为聪明的，较为冷静的先人用来喂猪而不是喂人的方法。越多越好而且越快越好，根本没有质量的标准。</a:t>
            </a:r>
            <a:endParaRPr kumimoji="0" lang="en-US" altLang="zh-CN" sz="20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06B410EA-DB61-4C72-B6CB-016191EC7089}"/>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6980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E650B6-39E4-4EA8-A5F9-01265E2D854D}"/>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FB393499-F8E3-47C0-B916-19CFAC178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265995"/>
            <a:ext cx="9497489" cy="5283587"/>
          </a:xfrm>
          <a:prstGeom prst="rect">
            <a:avLst/>
          </a:prstGeom>
        </p:spPr>
      </p:pic>
      <p:sp>
        <p:nvSpPr>
          <p:cNvPr id="4" name="矩形 3">
            <a:extLst>
              <a:ext uri="{FF2B5EF4-FFF2-40B4-BE49-F238E27FC236}">
                <a16:creationId xmlns:a16="http://schemas.microsoft.com/office/drawing/2014/main" id="{9FE7C5C6-97F4-4EF1-B897-8099F280805C}"/>
              </a:ext>
            </a:extLst>
          </p:cNvPr>
          <p:cNvSpPr/>
          <p:nvPr/>
        </p:nvSpPr>
        <p:spPr>
          <a:xfrm>
            <a:off x="203715" y="134640"/>
            <a:ext cx="1999265" cy="246221"/>
          </a:xfrm>
          <a:prstGeom prst="rect">
            <a:avLst/>
          </a:prstGeom>
        </p:spPr>
        <p:txBody>
          <a:bodyPr wrap="none">
            <a:spAutoFit/>
          </a:body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2.8.20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下册第八课第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20</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049106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4000"/>
            <a:lum/>
          </a:blip>
          <a:srcRect/>
          <a:stretch>
            <a:fillRect t="-5000" b="-5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1580737" y="2467428"/>
            <a:ext cx="9144000" cy="1750106"/>
          </a:xfrm>
        </p:spPr>
        <p:txBody>
          <a:bodyPr/>
          <a:lstStyle/>
          <a:p>
            <a:pPr>
              <a:lnSpc>
                <a:spcPct val="150000"/>
              </a:lnSpc>
            </a:pPr>
            <a:r>
              <a:rPr lang="en-US" altLang="zh-CN" b="1" dirty="0">
                <a:latin typeface="微软雅黑" panose="020B0503020204020204" pitchFamily="34" charset="-122"/>
                <a:ea typeface="微软雅黑" panose="020B0503020204020204" pitchFamily="34" charset="-122"/>
              </a:rPr>
              <a:t>Thank You</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4561198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3430</TotalTime>
  <Words>3277</Words>
  <Application>Microsoft Office PowerPoint</Application>
  <PresentationFormat>宽屏</PresentationFormat>
  <Paragraphs>163</Paragraphs>
  <Slides>35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Helvetica Neue For Number</vt:lpstr>
      <vt:lpstr>等线</vt:lpstr>
      <vt:lpstr>等线 Light</vt:lpstr>
      <vt:lpstr>宋体</vt:lpstr>
      <vt:lpstr>微软雅黑</vt:lpstr>
      <vt:lpstr>Arial</vt:lpstr>
      <vt:lpstr>Times New Roman</vt:lpstr>
      <vt:lpstr>Trebuchet MS</vt:lpstr>
      <vt:lpstr>Office 主题​​</vt:lpstr>
      <vt:lpstr>高级英语 基础精讲一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高级英语 基础精讲一</dc:title>
  <dc:creator>shao Archer</dc:creator>
  <cp:lastModifiedBy>shao Archer</cp:lastModifiedBy>
  <cp:revision>79</cp:revision>
  <dcterms:created xsi:type="dcterms:W3CDTF">2019-07-01T02:07:38Z</dcterms:created>
  <dcterms:modified xsi:type="dcterms:W3CDTF">2019-10-18T07:44:49Z</dcterms:modified>
</cp:coreProperties>
</file>