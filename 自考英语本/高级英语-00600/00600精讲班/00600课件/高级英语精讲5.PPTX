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6" r:id="rId2"/>
    <p:sldId id="339" r:id="rId3"/>
    <p:sldId id="267" r:id="rId4"/>
    <p:sldId id="307" r:id="rId5"/>
    <p:sldId id="308" r:id="rId6"/>
    <p:sldId id="309" r:id="rId7"/>
    <p:sldId id="311" r:id="rId8"/>
    <p:sldId id="310" r:id="rId9"/>
    <p:sldId id="337" r:id="rId10"/>
    <p:sldId id="314" r:id="rId11"/>
    <p:sldId id="313" r:id="rId12"/>
    <p:sldId id="315" r:id="rId13"/>
    <p:sldId id="316" r:id="rId14"/>
    <p:sldId id="318" r:id="rId15"/>
    <p:sldId id="317" r:id="rId16"/>
    <p:sldId id="320" r:id="rId17"/>
    <p:sldId id="319" r:id="rId18"/>
    <p:sldId id="322" r:id="rId19"/>
    <p:sldId id="321" r:id="rId20"/>
    <p:sldId id="338" r:id="rId21"/>
    <p:sldId id="306" r:id="rId22"/>
    <p:sldId id="405" r:id="rId23"/>
    <p:sldId id="404" r:id="rId24"/>
    <p:sldId id="403" r:id="rId25"/>
    <p:sldId id="402" r:id="rId26"/>
    <p:sldId id="367" r:id="rId27"/>
    <p:sldId id="410" r:id="rId28"/>
    <p:sldId id="379" r:id="rId29"/>
    <p:sldId id="384" r:id="rId30"/>
    <p:sldId id="385" r:id="rId31"/>
    <p:sldId id="407" r:id="rId32"/>
    <p:sldId id="387" r:id="rId33"/>
    <p:sldId id="408" r:id="rId34"/>
    <p:sldId id="388" r:id="rId35"/>
    <p:sldId id="389" r:id="rId36"/>
    <p:sldId id="391" r:id="rId37"/>
    <p:sldId id="390" r:id="rId38"/>
    <p:sldId id="393" r:id="rId39"/>
    <p:sldId id="392" r:id="rId40"/>
    <p:sldId id="395" r:id="rId41"/>
    <p:sldId id="394" r:id="rId42"/>
    <p:sldId id="399" r:id="rId43"/>
    <p:sldId id="398" r:id="rId44"/>
    <p:sldId id="409" r:id="rId45"/>
    <p:sldId id="303" r:id="rId4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235" autoAdjust="0"/>
  </p:normalViewPr>
  <p:slideViewPr>
    <p:cSldViewPr snapToGrid="0">
      <p:cViewPr>
        <p:scale>
          <a:sx n="160" d="100"/>
          <a:sy n="160" d="100"/>
        </p:scale>
        <p:origin x="76"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E5E4E9-BA34-4D54-865A-E38A6C065B76}" type="datetimeFigureOut">
              <a:rPr lang="zh-CN" altLang="en-US" smtClean="0"/>
              <a:t>2019/10/18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C8A671-A0BC-4691-B36D-025275CA0140}" type="slidenum">
              <a:rPr lang="zh-CN" altLang="en-US" smtClean="0"/>
              <a:t>‹#›</a:t>
            </a:fld>
            <a:endParaRPr lang="zh-CN" altLang="en-US"/>
          </a:p>
        </p:txBody>
      </p:sp>
    </p:spTree>
    <p:extLst>
      <p:ext uri="{BB962C8B-B14F-4D97-AF65-F5344CB8AC3E}">
        <p14:creationId xmlns:p14="http://schemas.microsoft.com/office/powerpoint/2010/main" val="536584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6DC73B-9D04-42B7-B8D2-5C823161754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16779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a:t>
            </a:r>
            <a:r>
              <a:rPr lang="zh-CN" altLang="en-US" dirty="0"/>
              <a:t> </a:t>
            </a:r>
            <a:r>
              <a:rPr lang="en-US" altLang="zh-CN" dirty="0"/>
              <a:t>far as </a:t>
            </a:r>
            <a:r>
              <a:rPr lang="zh-CN" altLang="en-US" dirty="0"/>
              <a:t>就 而言</a:t>
            </a:r>
            <a:endParaRPr lang="en-US" altLang="zh-CN"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6DC73B-9D04-42B7-B8D2-5C823161754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235255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Tolerant</a:t>
            </a:r>
            <a:r>
              <a:rPr lang="zh-CN" altLang="en-US" dirty="0"/>
              <a:t>主动</a:t>
            </a:r>
            <a:endParaRPr lang="en-US" altLang="zh-CN" dirty="0"/>
          </a:p>
          <a:p>
            <a:r>
              <a:rPr lang="en-US" altLang="zh-CN" dirty="0"/>
              <a:t>Tolerable </a:t>
            </a:r>
            <a:r>
              <a:rPr lang="zh-CN" altLang="en-US" dirty="0"/>
              <a:t>被动</a:t>
            </a:r>
            <a:endParaRPr lang="en-US" altLang="zh-CN" dirty="0"/>
          </a:p>
          <a:p>
            <a:r>
              <a:rPr lang="en-US" altLang="zh-CN" dirty="0"/>
              <a:t>Idyllic </a:t>
            </a:r>
            <a:r>
              <a:rPr lang="zh-CN" altLang="en-US" dirty="0"/>
              <a:t>田园诗般的，美丽无暇的</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6DC73B-9D04-42B7-B8D2-5C823161754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247942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6DC73B-9D04-42B7-B8D2-5C823161754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94269627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Establishment </a:t>
            </a:r>
            <a:r>
              <a:rPr lang="zh-CN" altLang="en-US" dirty="0"/>
              <a:t>机构，旅馆</a:t>
            </a:r>
            <a:endParaRPr lang="en-US" altLang="zh-CN" dirty="0"/>
          </a:p>
          <a:p>
            <a:r>
              <a:rPr lang="en-US" altLang="zh-CN" dirty="0"/>
              <a:t>Stuffy</a:t>
            </a:r>
            <a:r>
              <a:rPr lang="zh-CN" altLang="en-US" dirty="0"/>
              <a:t>闷热的，古板的，保守的</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96DC73B-9D04-42B7-B8D2-5C823161754A}"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070629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Somewhat</a:t>
            </a:r>
            <a:r>
              <a:rPr lang="zh-CN" altLang="en-US" dirty="0"/>
              <a:t>有点</a:t>
            </a:r>
          </a:p>
        </p:txBody>
      </p:sp>
      <p:sp>
        <p:nvSpPr>
          <p:cNvPr id="4" name="灯片编号占位符 3"/>
          <p:cNvSpPr>
            <a:spLocks noGrp="1"/>
          </p:cNvSpPr>
          <p:nvPr>
            <p:ph type="sldNum" sz="quarter" idx="5"/>
          </p:nvPr>
        </p:nvSpPr>
        <p:spPr/>
        <p:txBody>
          <a:bodyPr/>
          <a:lstStyle/>
          <a:p>
            <a:fld id="{B0C8A671-A0BC-4691-B36D-025275CA0140}" type="slidenum">
              <a:rPr lang="zh-CN" altLang="en-US" smtClean="0"/>
              <a:t>37</a:t>
            </a:fld>
            <a:endParaRPr lang="zh-CN" altLang="en-US"/>
          </a:p>
        </p:txBody>
      </p:sp>
    </p:spTree>
    <p:extLst>
      <p:ext uri="{BB962C8B-B14F-4D97-AF65-F5344CB8AC3E}">
        <p14:creationId xmlns:p14="http://schemas.microsoft.com/office/powerpoint/2010/main" val="4199636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334722-DF0A-4955-9D1D-E5C7AC76167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11FF9141-F184-498E-B4FB-D702CB971E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C70FF42-5BC3-4051-91E9-57ED060891BC}"/>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EBC2F412-6667-4164-8B1F-80D0166BA9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BC29A7D-D9A2-4046-9B83-C75192E463D0}"/>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38505280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AD3613-61E1-4767-A7C2-3B9D59860A8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3188FFD-DBDF-4B0C-8BB0-E654F5CB0C6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68931CD-FFDB-46DD-89B9-4A65DF78522C}"/>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CCD70922-68B5-4B5B-9649-CB96F2E4C15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EF6CB2-81BF-44CE-9A32-7F6553F3896B}"/>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10850616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79C098-568B-418E-A210-955BB5B20C6D}"/>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9FC1361F-BF0A-407E-B2C3-BA8A780136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22669F3-FB3A-4FA3-92AA-DFBA50C8E7F3}"/>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98FDE15D-DD20-4ECA-91DD-A85DBC6E552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FAB0B45-B723-4770-9F77-C4891FE16D87}"/>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26718353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F2F0E1-D863-4DDE-844C-ACACDFFB75E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0B9768A-5C41-4F36-AA56-2ACBF78AA4B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B000AA3-8C2B-499C-A290-DF141EB188C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231CFF35-E7C1-4EEC-A958-9B88DC23FAF8}"/>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E4965099-EAEF-424E-9EFA-A11281B34ED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5C0BC9B-FA9C-414B-B230-02F29978F112}"/>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27701018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A8D04A-0785-4A33-8807-9DFEA6E54E4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9F887D3-CD71-4404-88E4-B7B84773530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811440B0-B5F1-4FAC-8007-480D5D14DED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73DB918-B2C4-43C5-B472-25E53EEE9C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9D5F11EA-179E-4055-8BF3-02C0F32EF90E}"/>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E12ECB9-2A66-48B8-B945-905393D03D85}"/>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8" name="页脚占位符 7">
            <a:extLst>
              <a:ext uri="{FF2B5EF4-FFF2-40B4-BE49-F238E27FC236}">
                <a16:creationId xmlns:a16="http://schemas.microsoft.com/office/drawing/2014/main" id="{CAEAA90C-6155-4CAB-9779-756BD49F5D1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F0E9E8C4-2BF1-4C6E-8B03-11C6F063795A}"/>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237569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ED81C9-8A2A-4E33-A263-A72DAD74A636}"/>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5228879-FEED-44EF-BFA2-4956B74E89A2}"/>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4" name="页脚占位符 3">
            <a:extLst>
              <a:ext uri="{FF2B5EF4-FFF2-40B4-BE49-F238E27FC236}">
                <a16:creationId xmlns:a16="http://schemas.microsoft.com/office/drawing/2014/main" id="{D92D2B01-7CF1-44D7-A257-2F0C04A43EE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F2BDCE36-F8BE-4D3D-8747-9B501C42EDE0}"/>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38578299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82BF4D6-0411-418D-A2F6-481F82A7174B}"/>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3" name="页脚占位符 2">
            <a:extLst>
              <a:ext uri="{FF2B5EF4-FFF2-40B4-BE49-F238E27FC236}">
                <a16:creationId xmlns:a16="http://schemas.microsoft.com/office/drawing/2014/main" id="{52CB4DE4-EACA-47BC-AD69-C08C84EBCF85}"/>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403BF09D-5E24-49D3-B4AB-8368A79C91A2}"/>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7759291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7E9A9A-33E8-497A-B867-B8609B3EC76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BD1F4E7-807B-4BC4-A630-D397CDF8228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F26AAB-0D6F-435C-9E6F-E48AEE5E23C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FD5BDB2A-148F-49E5-B5BA-BF1D3785D0F0}"/>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E5A4EDC9-3AC1-4CD7-A847-D19FB8F193E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2D30894-C9A2-46C1-AF65-C80FE310C0C8}"/>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3256177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E53297-3EDB-4C3C-9401-A9F8405C37C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A3DD3CB-E8BF-49FD-ACE3-209269DE51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6016987-E39D-4801-A3F9-13B3874ED3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E519934-2DF5-4B7C-BCF1-DB1D17502D80}"/>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6" name="页脚占位符 5">
            <a:extLst>
              <a:ext uri="{FF2B5EF4-FFF2-40B4-BE49-F238E27FC236}">
                <a16:creationId xmlns:a16="http://schemas.microsoft.com/office/drawing/2014/main" id="{02D064E5-A863-4D92-B23F-BD2068905A1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4C7E143-5A8F-41B2-A48D-DF03D674B363}"/>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674901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7BBD9CD-5E9F-47BB-BD38-62CF10913CC0}"/>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14C9076-CB8C-4A76-B176-39D4ECDF7FD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3696EA-D0F1-49BB-856D-8B41F0E6C5DC}"/>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F60219ED-FF31-4CC4-B513-F1549678939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A63717-8B44-4171-A762-03DA9C4AFC03}"/>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73759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FB093739-0768-4754-8D93-AB47CB1C858E}"/>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8C9D8C3-1C38-490F-A27E-F657A7067FC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1CDA5E1-562E-4BF0-AC6D-E5BE7D28BE76}"/>
              </a:ext>
            </a:extLst>
          </p:cNvPr>
          <p:cNvSpPr>
            <a:spLocks noGrp="1"/>
          </p:cNvSpPr>
          <p:nvPr>
            <p:ph type="dt" sz="half" idx="10"/>
          </p:nvPr>
        </p:nvSpPr>
        <p:spPr/>
        <p:txBody>
          <a:bodyPr/>
          <a:lstStyle/>
          <a:p>
            <a:fld id="{C7FF1951-CAA9-4C30-BAB3-EF7173094E73}"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66BA075A-AB10-402B-BB06-84A6CEFEF82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E2F4B33-A0AE-4145-8FF4-E74FFF4F1632}"/>
              </a:ext>
            </a:extLst>
          </p:cNvPr>
          <p:cNvSpPr>
            <a:spLocks noGrp="1"/>
          </p:cNvSpPr>
          <p:nvPr>
            <p:ph type="sldNum" sz="quarter" idx="12"/>
          </p:nvPr>
        </p:nvSpPr>
        <p:spPr/>
        <p:txBody>
          <a:body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1828820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284C3F9-B478-4D8E-82BA-3D8D472BED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B822FCC-DD57-434B-9C16-36A935A7044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D174D90-5428-4C5A-9D4E-2674E93421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FF1951-CAA9-4C30-BAB3-EF7173094E73}" type="datetimeFigureOut">
              <a:rPr lang="zh-CN" altLang="en-US" smtClean="0"/>
              <a:t>2019/10/18</a:t>
            </a:fld>
            <a:endParaRPr lang="zh-CN" altLang="en-US"/>
          </a:p>
        </p:txBody>
      </p:sp>
      <p:sp>
        <p:nvSpPr>
          <p:cNvPr id="5" name="页脚占位符 4">
            <a:extLst>
              <a:ext uri="{FF2B5EF4-FFF2-40B4-BE49-F238E27FC236}">
                <a16:creationId xmlns:a16="http://schemas.microsoft.com/office/drawing/2014/main" id="{BC0DDE76-A6EA-4F51-AD2A-EA757E8501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55AC73D4-AF20-4721-8565-BF37880EF0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C3F2D5-C0D3-45C7-A52D-DFCB653D93B5}" type="slidenum">
              <a:rPr lang="zh-CN" altLang="en-US" smtClean="0"/>
              <a:t>‹#›</a:t>
            </a:fld>
            <a:endParaRPr lang="zh-CN" altLang="en-US"/>
          </a:p>
        </p:txBody>
      </p:sp>
    </p:spTree>
    <p:extLst>
      <p:ext uri="{BB962C8B-B14F-4D97-AF65-F5344CB8AC3E}">
        <p14:creationId xmlns:p14="http://schemas.microsoft.com/office/powerpoint/2010/main" val="38537611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9000" b="-9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lstStyle/>
          <a:p>
            <a:pPr>
              <a:lnSpc>
                <a:spcPct val="150000"/>
              </a:lnSpc>
            </a:pPr>
            <a:r>
              <a:rPr lang="zh-CN" altLang="en-US" b="1" dirty="0">
                <a:latin typeface="微软雅黑" panose="020B0503020204020204" pitchFamily="34" charset="-122"/>
                <a:ea typeface="微软雅黑" panose="020B0503020204020204" pitchFamily="34" charset="-122"/>
              </a:rPr>
              <a:t>高级英语</a:t>
            </a:r>
            <a:br>
              <a:rPr lang="en-US" altLang="zh-CN" b="1" dirty="0">
                <a:latin typeface="微软雅黑" panose="020B0503020204020204" pitchFamily="34" charset="-122"/>
                <a:ea typeface="微软雅黑" panose="020B0503020204020204" pitchFamily="34" charset="-122"/>
              </a:rPr>
            </a:br>
            <a:r>
              <a:rPr lang="zh-CN" altLang="en-US" sz="4000" dirty="0">
                <a:latin typeface="微软雅黑" panose="020B0503020204020204" pitchFamily="34" charset="-122"/>
                <a:ea typeface="微软雅黑" panose="020B0503020204020204" pitchFamily="34" charset="-122"/>
              </a:rPr>
              <a:t>基础精讲五</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1DB2F69B-24D4-443A-A930-9B466755C6E8}"/>
              </a:ext>
            </a:extLst>
          </p:cNvPr>
          <p:cNvSpPr/>
          <p:nvPr/>
        </p:nvSpPr>
        <p:spPr>
          <a:xfrm>
            <a:off x="110119" y="503175"/>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0314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B6437EF-AFBD-4372-9991-212975DB5262}"/>
              </a:ext>
            </a:extLst>
          </p:cNvPr>
          <p:cNvSpPr txBox="1"/>
          <p:nvPr/>
        </p:nvSpPr>
        <p:spPr>
          <a:xfrm>
            <a:off x="2671545" y="1487889"/>
            <a:ext cx="8818418" cy="83888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Four Choices For Young People</a:t>
            </a:r>
            <a:endPar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1A9CEBA7-560D-49E3-A287-9C85CACB2067}"/>
              </a:ext>
            </a:extLst>
          </p:cNvPr>
          <p:cNvSpPr/>
          <p:nvPr/>
        </p:nvSpPr>
        <p:spPr>
          <a:xfrm>
            <a:off x="205999" y="131898"/>
            <a:ext cx="6096000" cy="307777"/>
          </a:xfrm>
          <a:prstGeom prst="rect">
            <a:avLst/>
          </a:prstGeom>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1.1.1.2</a:t>
            </a:r>
            <a:r>
              <a:rPr kumimoji="0" lang="zh-CN" altLang="en-US"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年轻人的四种选择（</a:t>
            </a:r>
            <a:r>
              <a:rPr kumimoji="0" lang="en-US" altLang="zh-CN"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Four Choices for Young People</a:t>
            </a:r>
            <a:r>
              <a:rPr kumimoji="0" lang="zh-CN" altLang="en-US" sz="1400" b="0" i="0" u="none" strike="noStrike" kern="1200" cap="none" spc="0" normalizeH="0" baseline="0" noProof="0" dirty="0">
                <a:ln>
                  <a:noFill/>
                </a:ln>
                <a:solidFill>
                  <a:prstClr val="white">
                    <a:lumMod val="95000"/>
                  </a:prstClr>
                </a:solidFill>
                <a:effectLst/>
                <a:uLnTx/>
                <a:uFillTx/>
                <a:latin typeface="Helvetica Neue For Number"/>
                <a:ea typeface="等线" panose="02010600030101010101" pitchFamily="2" charset="-122"/>
                <a:cs typeface="+mn-cs"/>
              </a:rPr>
              <a:t>）</a:t>
            </a:r>
            <a:endParaRPr kumimoji="0" lang="zh-CN" altLang="en-US" sz="1400" b="0" i="0" u="none" strike="noStrike" kern="1200" cap="none" spc="0" normalizeH="0" baseline="0" noProof="0" dirty="0">
              <a:ln>
                <a:noFill/>
              </a:ln>
              <a:solidFill>
                <a:prstClr val="white">
                  <a:lumMod val="95000"/>
                </a:prstClr>
              </a:solidFill>
              <a:effectLst/>
              <a:uLnTx/>
              <a:uFillTx/>
              <a:latin typeface="等线" panose="020F0502020204030204"/>
              <a:ea typeface="等线" panose="02010600030101010101" pitchFamily="2" charset="-122"/>
              <a:cs typeface="+mn-cs"/>
            </a:endParaRPr>
          </a:p>
        </p:txBody>
      </p:sp>
      <p:pic>
        <p:nvPicPr>
          <p:cNvPr id="5" name="图片 4">
            <a:extLst>
              <a:ext uri="{FF2B5EF4-FFF2-40B4-BE49-F238E27FC236}">
                <a16:creationId xmlns:a16="http://schemas.microsoft.com/office/drawing/2014/main" id="{1271A150-20C0-421E-A682-436533834D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20655" y="3082636"/>
            <a:ext cx="4532745" cy="2991612"/>
          </a:xfrm>
          <a:prstGeom prst="rect">
            <a:avLst/>
          </a:prstGeom>
        </p:spPr>
      </p:pic>
      <p:sp>
        <p:nvSpPr>
          <p:cNvPr id="7" name="文本框 6">
            <a:extLst>
              <a:ext uri="{FF2B5EF4-FFF2-40B4-BE49-F238E27FC236}">
                <a16:creationId xmlns:a16="http://schemas.microsoft.com/office/drawing/2014/main" id="{3CBCFBF5-6A44-417B-BAEB-350B2380558B}"/>
              </a:ext>
            </a:extLst>
          </p:cNvPr>
          <p:cNvSpPr txBox="1"/>
          <p:nvPr/>
        </p:nvSpPr>
        <p:spPr>
          <a:xfrm>
            <a:off x="4080164" y="2152907"/>
            <a:ext cx="6573982" cy="83888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年轻人的四种选择</a:t>
            </a:r>
          </a:p>
        </p:txBody>
      </p:sp>
      <p:sp>
        <p:nvSpPr>
          <p:cNvPr id="8" name="矩形 7">
            <a:extLst>
              <a:ext uri="{FF2B5EF4-FFF2-40B4-BE49-F238E27FC236}">
                <a16:creationId xmlns:a16="http://schemas.microsoft.com/office/drawing/2014/main" id="{BE1C8CCD-965E-4EC7-B6EA-BC240D411AF0}"/>
              </a:ext>
            </a:extLst>
          </p:cNvPr>
          <p:cNvSpPr/>
          <p:nvPr/>
        </p:nvSpPr>
        <p:spPr>
          <a:xfrm>
            <a:off x="110119" y="503175"/>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57630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12090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Shortly before his graduation, Jim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Binns</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president of the senior class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（毕业班）</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Stanford University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（斯坦福大学）</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wrote me about some of his misgivings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（顾虑，疑虑）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“More than any other generation</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（一代人）</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said, “our generation views the adult world with great skepticism</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（怀疑主义）</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there is also an increased tendency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（倾向）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reject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（拒绝排斥）</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completely that world.”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D39DECCF-1231-4A45-8E4B-78E2AC92A712}"/>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192578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Shortly before his graduation, Jim </a:t>
            </a:r>
            <a:r>
              <a:rPr kumimoji="0" lang="en-US" altLang="zh-CN" sz="1800" b="0" i="0" u="none" strike="noStrike" kern="100" cap="none" spc="0" normalizeH="0" baseline="0" noProof="0" dirty="0" err="1">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Binns</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president of the senior class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（毕业班）</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Stanford University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（斯坦福大学）</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wrote me about some of 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misgivings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（顾虑，疑虑）</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“More than any other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generation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（一代人）</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said, “our generation views the adult world with great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skepticism</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（怀疑主义）</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there is also an increased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tendency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（倾向）</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reject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（拒绝排斥）</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completely that world.”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在毕业前不久，斯坦福大学四年级主席吉姆</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宾司给我写了一封信，信中谈及他的一些不安。他写道：“与其他任何一代人相比，我们这一代人在看待成人世界时抱有更大的疑虑</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同时越来越倾向于全盘否定成人世界。” </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477B90BD-E77A-460F-96EC-BC6527497A77}"/>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11619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Apparently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（显然地）</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he speaks for a lot of his contemporaries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（同代人）</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During the last few years, I have listened to scores of</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（许多）</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young people, in college and out, who were just as nervous about the grown world. Roughly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（大体上）</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their attitude might be summed up</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（总结）</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about like this: “The world is in pretty much of a mess, full of injustice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（不公平）</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poverty, and war. The people responsible are, presumably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（大概）</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adults who have been running</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（运营，管理）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thing. If they can’t do better than that, what have they got to teach our generation? That kind of lesson we can do without.” </a:t>
            </a:r>
          </a:p>
        </p:txBody>
      </p:sp>
      <p:sp>
        <p:nvSpPr>
          <p:cNvPr id="5" name="矩形 4">
            <a:extLst>
              <a:ext uri="{FF2B5EF4-FFF2-40B4-BE49-F238E27FC236}">
                <a16:creationId xmlns:a16="http://schemas.microsoft.com/office/drawing/2014/main" id="{75632008-1859-4563-87F7-FA8D47795A06}"/>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58000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61389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2</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Apparently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（显然地）</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he speaks for a lot of 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contemporaries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（同代人）</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During the last few years, I have listened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scores of</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（许多）</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young people, in college and out, who were just as nervous about the grown world.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Roughly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（大体上）</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their attitude might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be summed up</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（总结）</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about like this: “The world is in pretty much of a mess, full 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injustice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（不公平）</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poverty, and war. The people responsible are,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presumably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（大概）</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 adults who have been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running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（运营，管理）</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thing. If they can’t do better than that, what have they got to teach our generation? That kind of lesson we can do without.”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很明显，他的话代表了许多同龄人的看法。在过去的几年里，我倾听过许多年轻人的谈话，他们有的还在大学读书，有的已经毕业，他们对于成人的世界同样感到不安。大致来说，他们的态度可归纳如下：“这个世界乱糟糟的，到处充满了不平等、贫困和战争。对此该负责的大概应是那些管理这个世界的成年人吧。如果他们不能做得比这些更好，他们又能拿什么来教育我们呢？这样的教导，我们根本不需要。</a:t>
            </a:r>
            <a:endPar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5" name="矩形 4">
            <a:extLst>
              <a:ext uri="{FF2B5EF4-FFF2-40B4-BE49-F238E27FC236}">
                <a16:creationId xmlns:a16="http://schemas.microsoft.com/office/drawing/2014/main" id="{28E07333-F77B-4635-A748-254BFFACE40F}"/>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81115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These conclusions strike</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（给</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留下印象）</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me as reasonable, at least from their point of view. The relevant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（相关的）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question for the arriving generation is not whether our society is imperfect (we can take that for granted), but how to deal with</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（应对）</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For all its harshness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（残酷）</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irrationality</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（非理性）</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is the only world we’ve got. Choosing a strategy to cope with</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（应对）</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then, is the first decision young adults have to make, and usually the most important decision of their lifetime. So far as I have been able to discover, there are only four basic</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（基本的）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alternatives</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（可供选择的事物）</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矩形 4">
            <a:extLst>
              <a:ext uri="{FF2B5EF4-FFF2-40B4-BE49-F238E27FC236}">
                <a16:creationId xmlns:a16="http://schemas.microsoft.com/office/drawing/2014/main" id="{75F3825D-5B14-4E50-8592-37C360265ADD}"/>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969142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61389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3</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These conclusions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strike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（给</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留下印象）</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me as reasonable, at least from their point of view.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relevant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（相关的）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question for the arriving generation is not whether our society is imperfect (we can take that for granted), but how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deal with</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（应对）</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For all its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harshness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（残酷）</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irrationality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（非理性）</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is the only world we’ve got. Choosing a strategy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cope with</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（应对）</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then, is the first decision young adults have to make, and usually the most important decision of their lifetime. So far as I have been able to discover, there are only four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basic</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（基本的）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alternatives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（可供选择的事物）</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我觉得这些结论合情合理，至少从他们的角度来看是这样的。对成长中的一代人来说，相关的问题不是我们的社会是否完美（我们认为那是理所当然的），而是应该如何去应付它。尽管这个社会严酷而不合情理，但它毕竟是我们惟一拥有的世界。因此，选择一个办法去应付这个社会是刚刚步入成年的年轻人必须作出的第一个决定，这通常是他们一生中最重要的决定。根据我的发现，他们的基本选择只有四种：</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EDA1A71C-9E73-48E6-BF07-FF3188FEC8C7}"/>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941881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5" name="图片 4">
            <a:extLst>
              <a:ext uri="{FF2B5EF4-FFF2-40B4-BE49-F238E27FC236}">
                <a16:creationId xmlns:a16="http://schemas.microsoft.com/office/drawing/2014/main" id="{D9C980B5-D647-4641-A370-122A3BDBB3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5" y="1161392"/>
            <a:ext cx="10148455" cy="5376952"/>
          </a:xfrm>
          <a:prstGeom prst="rect">
            <a:avLst/>
          </a:prstGeom>
        </p:spPr>
      </p:pic>
      <p:sp>
        <p:nvSpPr>
          <p:cNvPr id="6" name="矩形 5">
            <a:extLst>
              <a:ext uri="{FF2B5EF4-FFF2-40B4-BE49-F238E27FC236}">
                <a16:creationId xmlns:a16="http://schemas.microsoft.com/office/drawing/2014/main" id="{6CB68CC7-F76B-4551-9218-17150C49CA36}"/>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90582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4-6</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Strategy 1</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Drop Out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Some of us find this distasteful</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（令人不愉快的）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 an undignified kind of life. But for the poor in spirit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（精神）</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with low levels of both energy and pride, it may be the least intolerable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（不可忍受的）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choice available.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Strategy 2</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Flee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Ever since civilization began, certain individuals have tried to run away from</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（逃离）</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in hopes of finding a simpler, more pastoral</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（田园的）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more peaceful life. </a:t>
            </a:r>
          </a:p>
        </p:txBody>
      </p:sp>
      <p:sp>
        <p:nvSpPr>
          <p:cNvPr id="5" name="矩形 4">
            <a:extLst>
              <a:ext uri="{FF2B5EF4-FFF2-40B4-BE49-F238E27FC236}">
                <a16:creationId xmlns:a16="http://schemas.microsoft.com/office/drawing/2014/main" id="{BB071EE7-55A9-4AEF-A60C-C4619ED3526B}"/>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368379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502939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4-6</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Strategy 1</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Drop Out</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Some of us find this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distasteful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（令人不愉快的）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 undignified kind of life. But for the poor in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spirit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（精神）</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with low levels of both energy and pride, it may be the least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intolerable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（不可忍受的）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choice available.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我们中的一些人对此很厌恶</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认为这种生活方式很不光彩。但对于那些卑微、懒惰又缺乏自尊的人来说，这也许是可行的最容易忍受的选择了</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Strategy 2</a:t>
            </a: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Flee</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Ever since civilization began, certain individuals have tried to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run away from</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（逃离）</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in hopes of finding a simpler, more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pastoral</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（田园的）</a:t>
            </a:r>
            <a:r>
              <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more peaceful life.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自文明诞生以来，就有人企图逃避文明社会，希望寻求一种更为朴素、更富田园风情、更为宁静的生活。 </a:t>
            </a:r>
            <a:endParaRPr kumimoji="0" lang="en-US" altLang="zh-CN" sz="1800" b="0" i="0" u="none" strike="noStrike" kern="1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3D0B33B4-5A98-4544-B805-107BCE21F16F}"/>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48323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Plot a Revolution </a:t>
            </a:r>
            <a:endParaRPr kumimoji="0" lang="zh-CN"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7</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This strategy is always popular among those who have no patience with the tedious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（冗长的）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working of the democratic</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（民主的）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process or who believe that basic institutions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（制度）</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can only be changed by force. It attracts some of the more active and idealistic</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（理想主义的）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young people of every generation. To them it offers a romantic appeal, usually symbolized by some dashing</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（潇洒的）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charismatic</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（有魅力的）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figure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（人物）</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8</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has the even greater appeal of simplicity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（简单）</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“Since this society is hopelessly bad, let’s smash</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（打碎）</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and build something better on the ruins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（废墟）</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矩形 4">
            <a:extLst>
              <a:ext uri="{FF2B5EF4-FFF2-40B4-BE49-F238E27FC236}">
                <a16:creationId xmlns:a16="http://schemas.microsoft.com/office/drawing/2014/main" id="{948DE92B-B98C-4496-8023-50E349B52EA8}"/>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787091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10780"/>
            <a:ext cx="10945091" cy="544488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Plot a Revolution </a:t>
            </a:r>
            <a:endParaRPr kumimoji="0" lang="zh-CN"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7</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This strategy is always popular among those who have no patience with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tedious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（冗长的）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working of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democratic</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（民主的）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process or who believe that basic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institutions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（制度）</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can only be changed by force. It attracts some of the more active 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idealistic</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（理想主义的）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young people of every generation. To them it offers a romantic appeal, usually symbolized by some</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dashing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（潇洒的）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charismatic</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（有魅力的）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figure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（人物）</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8</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has the even greater appeal 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simplicity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（简单）</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“Since this society is hopelessly bad, let’s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smash</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（打碎）</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it and build something better on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ruins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（废墟）</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对民主进程单调乏味的运作方式毫无耐心或相信只有武力才能改变基本社会制度的那些人中，这一策略颇受欢迎。它吸引了每一代年轻人中那些更为活跃和更具理想主义的人。对他们来说，这种策略具有浪漫的吸引力，通常以某位魅力非凡且令人振奋的人物为其象征。</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这一策略简单明了并具有更大的吸引力：“既然这个社会已经无可救药，那就让我们砸碎它，在它的废墟上面建一个更好的社会。”</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CB698625-3D97-49A2-A4BB-BE190188CAAB}"/>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7</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862792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951898"/>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9</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Some of my best friends have been revolutionists, and a few of them have led reasonably satisfying lives. These are the ones whose revolutions did not come off</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（成功）</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they have been able to keep on cheerfully plotting their holocausts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（大屠杀）</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right into their senescence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（衰老）</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Others died young, in prison or on the barricades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（障碍，壁垒）</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But the most unfortunate are those whose revolutions have succeeded. They lived in bitter disillusionment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（理想破灭）</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see the establishment they had overthrown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（推翻）</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replaced by a new one, just as hard-faced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（冷酷的）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stuffy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（保守的）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p:txBody>
      </p:sp>
      <p:sp>
        <p:nvSpPr>
          <p:cNvPr id="5" name="矩形 4">
            <a:extLst>
              <a:ext uri="{FF2B5EF4-FFF2-40B4-BE49-F238E27FC236}">
                <a16:creationId xmlns:a16="http://schemas.microsoft.com/office/drawing/2014/main" id="{77C9F258-5638-45F2-9728-77DF68A47B3F}"/>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815054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61389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9</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Some of my best friends have been revolutionists, and a few of them have led reasonably satisfying lives. These are the ones whose revolutions did not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come off</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（成功）</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they have been able to keep on cheerfully plotting their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holocausts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（大屠杀）</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right into their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senescence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（衰老）</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Others died young, in prison or on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barricades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（障碍，壁垒）</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But the most unfortunate are those whose revolutions have succeeded. They lived in bitter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disillusionment</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（理想破灭）</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to see the establishment they had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overthrown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（推翻）</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replaced by a new one, just as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hard-faced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（冷酷的）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stuffy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（保守的）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我最好的朋友中有些是革命者，他们中的一些人过得相当满足。这部分人其实是那些革命并未成功的人，他们可以继续兴高采烈地策划大屠杀，直至老态龙钟。另外一些人年纪轻轻就死了，死在监狱里或街垒旁。但最不幸的是那些革命成功的人。他们极度失望，看到他们推翻的权力机构又被新机构所替代，而新机构依旧是那样冷酷，那样毫无生机。 </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C93FD5A8-440D-4236-8022-625EDFFA7369}"/>
              </a:ext>
            </a:extLst>
          </p:cNvPr>
          <p:cNvSpPr/>
          <p:nvPr/>
        </p:nvSpPr>
        <p:spPr>
          <a:xfrm>
            <a:off x="110119" y="231761"/>
            <a:ext cx="187102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9</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42513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367397"/>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Try to Change the World Gradually, One Clod</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（泥块）</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 Time </a:t>
            </a:r>
            <a:endPar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12</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first glance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（一瞥）</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this course is far from inviting</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（吸引人的）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lacks glamour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（魅力）</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promises no quick results. It depends on the exasperating</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（令人愤怒的）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uncertain instruments of persuasion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（劝说）</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and democratic decision making. It demands patience, always in short supply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（供给）</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About all that can be said for it is that it sometimes works – that in this particular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（特定的）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time and place it offers a better chance for remedying</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（改正）</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some of the world’s outrages</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（愤慨，暴行）</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than any other available strategy. </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93AEE0D4-F966-4D0B-92E3-9DDB5CC3F880}"/>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644621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4613892"/>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Try to Change the World Gradually, One Clod</a:t>
            </a:r>
            <a:r>
              <a:rPr kumimoji="0" lang="zh-CN" altLang="en-US"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（泥块）</a:t>
            </a:r>
            <a:r>
              <a:rPr kumimoji="0" lang="en-US" altLang="zh-CN" sz="18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 Time </a:t>
            </a:r>
            <a:endPar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12</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first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glance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（一瞥）</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this course is far from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inviting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（吸引人的）</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lacks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glamour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（魅力）</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It promises no quick results. It depends on the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exasperating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（令人愤怒的）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uncertain instruments of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persuasion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（劝说）</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and democratic decision making. It demands patience, always in short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supply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（供给）</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About all that can be said for it is that it sometimes works – that in this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particular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（特定的）</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time and place it offers a better chance for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remedying</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（改正）</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some of the world’s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outrages</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（愤慨，暴行）</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than any other available strategy.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一步一步改变社会</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乍一看，这一过程毫无吸引力。它缺乏魅力，并且见效很慢。它依靠劝说和民主决策这些令人恼火且不可靠的方法来实现。它需要耐心，可我们却总是缺乏耐心。它惟一的好处是有时这方法行得通</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在这个特定的时间和地点，它比其他的任何策略都更有可能制止世界上的某些恶行。 </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C773C298-4F82-424E-9D70-7788EA2BB4A5}"/>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98631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2536400"/>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13</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 at least the historical evidence</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（证据）</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seems to suggest. When I was graduating from college, my generation also found the world in a mess. The economic machinery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（机器）</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had broken down</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（失败）</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almost everywhere: In this country nearly a quarter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（四分之一）</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of the population was out of work. A </a:t>
            </a:r>
            <a:r>
              <a:rPr kumimoji="0" lang="en-US" altLang="zh-CN" sz="1800" b="0" i="0" u="none" strike="noStrike" kern="100" cap="none" spc="0" normalizeH="0" baseline="0" noProof="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major war was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seemed all too likely. As a college newspaper editor</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（编辑）</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that time, I protested</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（反抗）</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against this just as vehemently</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（激烈地）</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as student activists are protesting today. </a:t>
            </a:r>
          </a:p>
        </p:txBody>
      </p:sp>
      <p:sp>
        <p:nvSpPr>
          <p:cNvPr id="5" name="矩形 4">
            <a:extLst>
              <a:ext uri="{FF2B5EF4-FFF2-40B4-BE49-F238E27FC236}">
                <a16:creationId xmlns:a16="http://schemas.microsoft.com/office/drawing/2014/main" id="{5592E250-EB97-4C1C-9CB5-C6F94789B735}"/>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1703693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一、高级英语课文精讲</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a:t>
            </a: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上册 </a:t>
            </a:r>
            <a:r>
              <a:rPr kumimoji="0" lang="en-US" altLang="zh-CN"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Lesson 2</a:t>
            </a:r>
            <a:endPar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2" name="矩形 1">
            <a:extLst>
              <a:ext uri="{FF2B5EF4-FFF2-40B4-BE49-F238E27FC236}">
                <a16:creationId xmlns:a16="http://schemas.microsoft.com/office/drawing/2014/main" id="{C93BE075-BBFF-4FB7-9223-A9D6758801E6}"/>
              </a:ext>
            </a:extLst>
          </p:cNvPr>
          <p:cNvSpPr/>
          <p:nvPr/>
        </p:nvSpPr>
        <p:spPr>
          <a:xfrm>
            <a:off x="595745" y="1193907"/>
            <a:ext cx="10945091" cy="3782895"/>
          </a:xfrm>
          <a:prstGeom prst="rect">
            <a:avLst/>
          </a:prstGeom>
        </p:spPr>
        <p:txBody>
          <a:bodyPr wrap="square">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1"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Para 13</a:t>
            </a: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 at least the historical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evidence</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（证据）</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seems to suggest. When I was graduating from college, my generation also found the world in a mess. The economic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machinery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（机器）</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had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broken down</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（失败）</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almost everywhere: In this country nearly a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quarter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（四分之一）</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of the population was out of work. A major war was seemed all too likely. As a college newspaper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editor</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（编辑）</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that time, I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protested</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（反抗）</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against this just as </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vehemently</a:t>
            </a:r>
            <a:r>
              <a:rPr kumimoji="0" lang="zh-CN" altLang="en-US"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（激烈地）</a:t>
            </a:r>
            <a:r>
              <a:rPr kumimoji="0" lang="en-US" altLang="zh-CN" sz="1800" b="0" i="0" u="none" strike="noStrike" kern="1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as student activists are protesting today. </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至少历史事实似乎证明了这一点。我大学毕业的时候，我们这一代人也发现世界乱得一团糟。几乎所有地方的经济机构都已崩溃，在美国几乎四分之一的人口失业。一场大战似乎在所难免。当时作为校报编辑，对这些我曾经猛烈地抗议过，像今天的学生积极分子一样。</a:t>
            </a:r>
            <a:endParaRPr kumimoji="0" lang="en-US" altLang="zh-CN" sz="1800" b="0" i="0" u="none" strike="noStrike" kern="1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5" name="矩形 4">
            <a:extLst>
              <a:ext uri="{FF2B5EF4-FFF2-40B4-BE49-F238E27FC236}">
                <a16:creationId xmlns:a16="http://schemas.microsoft.com/office/drawing/2014/main" id="{BB95077B-F9E4-4602-8B72-8E871A943B83}"/>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75457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练习</a:t>
            </a:r>
          </a:p>
        </p:txBody>
      </p:sp>
      <p:pic>
        <p:nvPicPr>
          <p:cNvPr id="3" name="图片 2">
            <a:extLst>
              <a:ext uri="{FF2B5EF4-FFF2-40B4-BE49-F238E27FC236}">
                <a16:creationId xmlns:a16="http://schemas.microsoft.com/office/drawing/2014/main" id="{68EE9281-0DF4-4353-8BF2-41AC82C84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5744" y="1326070"/>
            <a:ext cx="10046129" cy="5221945"/>
          </a:xfrm>
          <a:prstGeom prst="rect">
            <a:avLst/>
          </a:prstGeom>
        </p:spPr>
      </p:pic>
      <p:sp>
        <p:nvSpPr>
          <p:cNvPr id="5" name="矩形 4">
            <a:extLst>
              <a:ext uri="{FF2B5EF4-FFF2-40B4-BE49-F238E27FC236}">
                <a16:creationId xmlns:a16="http://schemas.microsoft.com/office/drawing/2014/main" id="{8016C10E-B960-4540-8664-F0D128B2B682}"/>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13</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059795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858581" y="2672453"/>
            <a:ext cx="8818418" cy="1669881"/>
          </a:xfrm>
          <a:prstGeom prst="rect">
            <a:avLst/>
          </a:prstGeom>
          <a:noFill/>
        </p:spPr>
        <p:txBody>
          <a:bodyPr wrap="square" rtlCol="0">
            <a:spAutoFit/>
          </a:bodyPr>
          <a:lstStyle/>
          <a:p>
            <a:pPr lvl="0">
              <a:lnSpc>
                <a:spcPct val="150000"/>
              </a:lnSpc>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一</a:t>
            </a:r>
            <a:r>
              <a:rPr lang="zh-CN" altLang="en-US" sz="3600" b="1" dirty="0">
                <a:solidFill>
                  <a:prstClr val="black"/>
                </a:solidFill>
              </a:rPr>
              <a:t>、题型讲解</a:t>
            </a:r>
            <a:r>
              <a:rPr lang="en-US" altLang="zh-CN" sz="3600" b="1" dirty="0">
                <a:solidFill>
                  <a:prstClr val="black"/>
                </a:solidFill>
              </a:rPr>
              <a:t>——</a:t>
            </a:r>
            <a:r>
              <a:rPr lang="zh-CN" altLang="en-US" sz="3600" b="1" dirty="0">
                <a:solidFill>
                  <a:prstClr val="black"/>
                </a:solidFill>
              </a:rPr>
              <a:t>英译汉</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lvl="0">
              <a:lnSpc>
                <a:spcPct val="150000"/>
              </a:lnSpc>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二、</a:t>
            </a:r>
            <a:r>
              <a:rPr lang="zh-CN" altLang="en-US" sz="3600" b="1" dirty="0">
                <a:solidFill>
                  <a:prstClr val="black"/>
                </a:solidFill>
              </a:rPr>
              <a:t>课文带读（上册 </a:t>
            </a:r>
            <a:r>
              <a:rPr lang="en-US" altLang="zh-CN" sz="3600" b="1" dirty="0">
                <a:solidFill>
                  <a:prstClr val="black"/>
                </a:solidFill>
              </a:rPr>
              <a:t>Lesson 7</a:t>
            </a:r>
            <a:r>
              <a:rPr lang="zh-CN" altLang="en-US" sz="3600" b="1" dirty="0">
                <a:solidFill>
                  <a:prstClr val="black"/>
                </a:solidFill>
              </a:rPr>
              <a:t>）</a:t>
            </a:r>
            <a:endPar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5" name="矩形 4">
            <a:extLst>
              <a:ext uri="{FF2B5EF4-FFF2-40B4-BE49-F238E27FC236}">
                <a16:creationId xmlns:a16="http://schemas.microsoft.com/office/drawing/2014/main" id="{8DE9404B-7200-4C6F-97ED-08735835B411}"/>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850895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B6437EF-AFBD-4372-9991-212975DB5262}"/>
              </a:ext>
            </a:extLst>
          </p:cNvPr>
          <p:cNvSpPr txBox="1"/>
          <p:nvPr/>
        </p:nvSpPr>
        <p:spPr>
          <a:xfrm>
            <a:off x="2477581" y="1737271"/>
            <a:ext cx="8377455" cy="83888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You share rose and get fun.</a:t>
            </a:r>
          </a:p>
        </p:txBody>
      </p:sp>
      <p:sp>
        <p:nvSpPr>
          <p:cNvPr id="3" name="矩形 2">
            <a:extLst>
              <a:ext uri="{FF2B5EF4-FFF2-40B4-BE49-F238E27FC236}">
                <a16:creationId xmlns:a16="http://schemas.microsoft.com/office/drawing/2014/main" id="{3ADB35A9-E7ED-4423-9F9A-6345038BA661}"/>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208907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B6437EF-AFBD-4372-9991-212975DB5262}"/>
              </a:ext>
            </a:extLst>
          </p:cNvPr>
          <p:cNvSpPr txBox="1"/>
          <p:nvPr/>
        </p:nvSpPr>
        <p:spPr>
          <a:xfrm>
            <a:off x="2477581" y="1737271"/>
            <a:ext cx="8377455" cy="1669881"/>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You share rose and get fun.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高级：予人玫瑰，手有余香。</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EEA053BE-363E-409D-83D0-5EFE6B0552A5}"/>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303691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B6437EF-AFBD-4372-9991-212975DB5262}"/>
              </a:ext>
            </a:extLst>
          </p:cNvPr>
          <p:cNvSpPr txBox="1"/>
          <p:nvPr/>
        </p:nvSpPr>
        <p:spPr>
          <a:xfrm>
            <a:off x="2477581" y="1737271"/>
            <a:ext cx="8377455" cy="2500877"/>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You share rose and get fun.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高级：予人玫瑰，手有余香。</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prstClr val="black"/>
                </a:solidFill>
                <a:latin typeface="等线" panose="020F0502020204030204"/>
                <a:ea typeface="等线" panose="02010600030101010101" pitchFamily="2" charset="-122"/>
              </a:rPr>
              <a:t>中级：分享玫瑰，收获快乐。</a:t>
            </a:r>
            <a:endParaRPr lang="en-US" altLang="zh-CN" sz="3600" b="1" dirty="0">
              <a:solidFill>
                <a:prstClr val="black"/>
              </a:solidFill>
              <a:latin typeface="等线" panose="020F0502020204030204"/>
              <a:ea typeface="等线" panose="02010600030101010101" pitchFamily="2" charset="-122"/>
            </a:endParaRPr>
          </a:p>
        </p:txBody>
      </p:sp>
      <p:sp>
        <p:nvSpPr>
          <p:cNvPr id="3" name="矩形 2">
            <a:extLst>
              <a:ext uri="{FF2B5EF4-FFF2-40B4-BE49-F238E27FC236}">
                <a16:creationId xmlns:a16="http://schemas.microsoft.com/office/drawing/2014/main" id="{418B95A5-2D96-43B2-885F-9CDCED283F76}"/>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832974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CB6437EF-AFBD-4372-9991-212975DB5262}"/>
              </a:ext>
            </a:extLst>
          </p:cNvPr>
          <p:cNvSpPr txBox="1"/>
          <p:nvPr/>
        </p:nvSpPr>
        <p:spPr>
          <a:xfrm>
            <a:off x="2477581" y="1737271"/>
            <a:ext cx="8377455" cy="333187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You share rose and get fun.</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高级：予人玫瑰，手有余香。</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lang="zh-CN" altLang="en-US" sz="3600" b="1" dirty="0">
                <a:solidFill>
                  <a:prstClr val="black"/>
                </a:solidFill>
                <a:latin typeface="等线" panose="020F0502020204030204"/>
                <a:ea typeface="等线" panose="02010600030101010101" pitchFamily="2" charset="-122"/>
              </a:rPr>
              <a:t>中级：分享玫瑰，收获快乐。</a:t>
            </a:r>
            <a:endParaRPr lang="en-US" altLang="zh-CN" sz="3600" b="1" dirty="0">
              <a:solidFill>
                <a:prstClr val="black"/>
              </a:solidFill>
              <a:latin typeface="等线" panose="020F0502020204030204"/>
              <a:ea typeface="等线" panose="02010600030101010101" pitchFamily="2" charset="-122"/>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低级：鱼香肉丝盖饭。</a:t>
            </a:r>
            <a:endParaRPr kumimoji="0" lang="en-US" altLang="zh-CN"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
        <p:nvSpPr>
          <p:cNvPr id="3" name="矩形 2">
            <a:extLst>
              <a:ext uri="{FF2B5EF4-FFF2-40B4-BE49-F238E27FC236}">
                <a16:creationId xmlns:a16="http://schemas.microsoft.com/office/drawing/2014/main" id="{F1B19F57-5422-4FE2-9B9E-476638AECBCF}"/>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23080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5" name="文本框 4">
            <a:extLst>
              <a:ext uri="{FF2B5EF4-FFF2-40B4-BE49-F238E27FC236}">
                <a16:creationId xmlns:a16="http://schemas.microsoft.com/office/drawing/2014/main" id="{0F7714DD-B098-4ECA-9A97-1C8FD84B103C}"/>
              </a:ext>
            </a:extLst>
          </p:cNvPr>
          <p:cNvSpPr txBox="1"/>
          <p:nvPr/>
        </p:nvSpPr>
        <p:spPr>
          <a:xfrm>
            <a:off x="3979085" y="3429000"/>
            <a:ext cx="1773382" cy="461665"/>
          </a:xfrm>
          <a:prstGeom prst="rect">
            <a:avLst/>
          </a:prstGeom>
          <a:noFill/>
        </p:spPr>
        <p:txBody>
          <a:bodyPr wrap="square" rtlCol="0">
            <a:spAutoFit/>
          </a:bodyPr>
          <a:lstStyle/>
          <a:p>
            <a:r>
              <a:rPr lang="zh-CN" altLang="en-US" sz="2400" b="1" dirty="0"/>
              <a:t>英译汉</a:t>
            </a:r>
          </a:p>
        </p:txBody>
      </p:sp>
      <p:sp>
        <p:nvSpPr>
          <p:cNvPr id="3" name="左大括号 2">
            <a:extLst>
              <a:ext uri="{FF2B5EF4-FFF2-40B4-BE49-F238E27FC236}">
                <a16:creationId xmlns:a16="http://schemas.microsoft.com/office/drawing/2014/main" id="{2F1810FB-B6F9-47C9-A1A4-6ED736FEF9DA}"/>
              </a:ext>
            </a:extLst>
          </p:cNvPr>
          <p:cNvSpPr/>
          <p:nvPr/>
        </p:nvSpPr>
        <p:spPr>
          <a:xfrm>
            <a:off x="5267499" y="2581598"/>
            <a:ext cx="45719" cy="2098964"/>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D01CBB90-134E-435B-9592-B4C268069AFA}"/>
              </a:ext>
            </a:extLst>
          </p:cNvPr>
          <p:cNvSpPr txBox="1"/>
          <p:nvPr/>
        </p:nvSpPr>
        <p:spPr>
          <a:xfrm>
            <a:off x="5604162" y="2475664"/>
            <a:ext cx="1773382" cy="461665"/>
          </a:xfrm>
          <a:prstGeom prst="rect">
            <a:avLst/>
          </a:prstGeom>
          <a:noFill/>
        </p:spPr>
        <p:txBody>
          <a:bodyPr wrap="square" rtlCol="0">
            <a:spAutoFit/>
          </a:bodyPr>
          <a:lstStyle/>
          <a:p>
            <a:r>
              <a:rPr lang="en-US" altLang="zh-CN" sz="2400" b="1" dirty="0"/>
              <a:t>1. </a:t>
            </a:r>
            <a:r>
              <a:rPr lang="zh-CN" altLang="en-US" sz="2400" b="1" dirty="0"/>
              <a:t>划分意群</a:t>
            </a:r>
          </a:p>
        </p:txBody>
      </p:sp>
      <p:sp>
        <p:nvSpPr>
          <p:cNvPr id="7" name="文本框 6">
            <a:extLst>
              <a:ext uri="{FF2B5EF4-FFF2-40B4-BE49-F238E27FC236}">
                <a16:creationId xmlns:a16="http://schemas.microsoft.com/office/drawing/2014/main" id="{30022A9C-BD7D-4D04-B49E-D63DFC6A54AB}"/>
              </a:ext>
            </a:extLst>
          </p:cNvPr>
          <p:cNvSpPr txBox="1"/>
          <p:nvPr/>
        </p:nvSpPr>
        <p:spPr>
          <a:xfrm>
            <a:off x="5604162" y="3325091"/>
            <a:ext cx="1773382" cy="461665"/>
          </a:xfrm>
          <a:prstGeom prst="rect">
            <a:avLst/>
          </a:prstGeom>
          <a:noFill/>
        </p:spPr>
        <p:txBody>
          <a:bodyPr wrap="square" rtlCol="0">
            <a:spAutoFit/>
          </a:bodyPr>
          <a:lstStyle/>
          <a:p>
            <a:r>
              <a:rPr lang="en-US" altLang="zh-CN" sz="2400" b="1" dirty="0"/>
              <a:t>2. </a:t>
            </a:r>
            <a:r>
              <a:rPr lang="zh-CN" altLang="en-US" sz="2400" b="1" dirty="0"/>
              <a:t>意群翻译</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604162" y="4191745"/>
            <a:ext cx="1773382" cy="461665"/>
          </a:xfrm>
          <a:prstGeom prst="rect">
            <a:avLst/>
          </a:prstGeom>
          <a:noFill/>
        </p:spPr>
        <p:txBody>
          <a:bodyPr wrap="square" rtlCol="0">
            <a:spAutoFit/>
          </a:bodyPr>
          <a:lstStyle/>
          <a:p>
            <a:r>
              <a:rPr lang="en-US" altLang="zh-CN" sz="2400" b="1" dirty="0"/>
              <a:t>3. </a:t>
            </a:r>
            <a:r>
              <a:rPr lang="zh-CN" altLang="en-US" sz="2400" b="1" dirty="0"/>
              <a:t>得意忘形</a:t>
            </a:r>
          </a:p>
        </p:txBody>
      </p:sp>
      <p:sp>
        <p:nvSpPr>
          <p:cNvPr id="9" name="矩形 8">
            <a:extLst>
              <a:ext uri="{FF2B5EF4-FFF2-40B4-BE49-F238E27FC236}">
                <a16:creationId xmlns:a16="http://schemas.microsoft.com/office/drawing/2014/main" id="{C7C8B404-F2B9-4065-BDEA-88341A09AEEF}"/>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589870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5" name="文本框 4">
            <a:extLst>
              <a:ext uri="{FF2B5EF4-FFF2-40B4-BE49-F238E27FC236}">
                <a16:creationId xmlns:a16="http://schemas.microsoft.com/office/drawing/2014/main" id="{0F7714DD-B098-4ECA-9A97-1C8FD84B103C}"/>
              </a:ext>
            </a:extLst>
          </p:cNvPr>
          <p:cNvSpPr txBox="1"/>
          <p:nvPr/>
        </p:nvSpPr>
        <p:spPr>
          <a:xfrm>
            <a:off x="3979085" y="3429000"/>
            <a:ext cx="1773382" cy="461665"/>
          </a:xfrm>
          <a:prstGeom prst="rect">
            <a:avLst/>
          </a:prstGeom>
          <a:noFill/>
        </p:spPr>
        <p:txBody>
          <a:bodyPr wrap="square" rtlCol="0">
            <a:spAutoFit/>
          </a:bodyPr>
          <a:lstStyle/>
          <a:p>
            <a:r>
              <a:rPr lang="zh-CN" altLang="en-US" sz="2400" b="1" dirty="0"/>
              <a:t>英译汉</a:t>
            </a:r>
          </a:p>
        </p:txBody>
      </p:sp>
      <p:sp>
        <p:nvSpPr>
          <p:cNvPr id="3" name="左大括号 2">
            <a:extLst>
              <a:ext uri="{FF2B5EF4-FFF2-40B4-BE49-F238E27FC236}">
                <a16:creationId xmlns:a16="http://schemas.microsoft.com/office/drawing/2014/main" id="{2F1810FB-B6F9-47C9-A1A4-6ED736FEF9DA}"/>
              </a:ext>
            </a:extLst>
          </p:cNvPr>
          <p:cNvSpPr/>
          <p:nvPr/>
        </p:nvSpPr>
        <p:spPr>
          <a:xfrm>
            <a:off x="5267499" y="2581598"/>
            <a:ext cx="45719" cy="2098964"/>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sz="2000"/>
          </a:p>
        </p:txBody>
      </p:sp>
      <p:sp>
        <p:nvSpPr>
          <p:cNvPr id="6" name="文本框 5">
            <a:extLst>
              <a:ext uri="{FF2B5EF4-FFF2-40B4-BE49-F238E27FC236}">
                <a16:creationId xmlns:a16="http://schemas.microsoft.com/office/drawing/2014/main" id="{D01CBB90-134E-435B-9592-B4C268069AFA}"/>
              </a:ext>
            </a:extLst>
          </p:cNvPr>
          <p:cNvSpPr txBox="1"/>
          <p:nvPr/>
        </p:nvSpPr>
        <p:spPr>
          <a:xfrm>
            <a:off x="5604162" y="2475664"/>
            <a:ext cx="1773382" cy="461665"/>
          </a:xfrm>
          <a:prstGeom prst="rect">
            <a:avLst/>
          </a:prstGeom>
          <a:noFill/>
        </p:spPr>
        <p:txBody>
          <a:bodyPr wrap="square" rtlCol="0">
            <a:spAutoFit/>
          </a:bodyPr>
          <a:lstStyle/>
          <a:p>
            <a:r>
              <a:rPr lang="en-US" altLang="zh-CN" sz="2400" b="1" dirty="0">
                <a:solidFill>
                  <a:srgbClr val="FF0000"/>
                </a:solidFill>
              </a:rPr>
              <a:t>1. </a:t>
            </a:r>
            <a:r>
              <a:rPr lang="zh-CN" altLang="en-US" sz="2400" b="1" dirty="0">
                <a:solidFill>
                  <a:srgbClr val="FF0000"/>
                </a:solidFill>
              </a:rPr>
              <a:t>划分意群</a:t>
            </a:r>
          </a:p>
        </p:txBody>
      </p:sp>
      <p:sp>
        <p:nvSpPr>
          <p:cNvPr id="7" name="文本框 6">
            <a:extLst>
              <a:ext uri="{FF2B5EF4-FFF2-40B4-BE49-F238E27FC236}">
                <a16:creationId xmlns:a16="http://schemas.microsoft.com/office/drawing/2014/main" id="{30022A9C-BD7D-4D04-B49E-D63DFC6A54AB}"/>
              </a:ext>
            </a:extLst>
          </p:cNvPr>
          <p:cNvSpPr txBox="1"/>
          <p:nvPr/>
        </p:nvSpPr>
        <p:spPr>
          <a:xfrm>
            <a:off x="5604162" y="3325091"/>
            <a:ext cx="1773382" cy="461665"/>
          </a:xfrm>
          <a:prstGeom prst="rect">
            <a:avLst/>
          </a:prstGeom>
          <a:noFill/>
        </p:spPr>
        <p:txBody>
          <a:bodyPr wrap="square" rtlCol="0">
            <a:spAutoFit/>
          </a:bodyPr>
          <a:lstStyle/>
          <a:p>
            <a:r>
              <a:rPr lang="en-US" altLang="zh-CN" sz="2400" b="1" dirty="0"/>
              <a:t>2. </a:t>
            </a:r>
            <a:r>
              <a:rPr lang="zh-CN" altLang="en-US" sz="2400" b="1" dirty="0"/>
              <a:t>意群翻译</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604162" y="4191745"/>
            <a:ext cx="1773382" cy="461665"/>
          </a:xfrm>
          <a:prstGeom prst="rect">
            <a:avLst/>
          </a:prstGeom>
          <a:noFill/>
        </p:spPr>
        <p:txBody>
          <a:bodyPr wrap="square" rtlCol="0">
            <a:spAutoFit/>
          </a:bodyPr>
          <a:lstStyle/>
          <a:p>
            <a:r>
              <a:rPr lang="en-US" altLang="zh-CN" sz="2400" b="1" dirty="0"/>
              <a:t>3. </a:t>
            </a:r>
            <a:r>
              <a:rPr lang="zh-CN" altLang="en-US" sz="2400" b="1" dirty="0"/>
              <a:t>得意忘形</a:t>
            </a:r>
          </a:p>
        </p:txBody>
      </p:sp>
      <p:sp>
        <p:nvSpPr>
          <p:cNvPr id="9" name="矩形 8">
            <a:extLst>
              <a:ext uri="{FF2B5EF4-FFF2-40B4-BE49-F238E27FC236}">
                <a16:creationId xmlns:a16="http://schemas.microsoft.com/office/drawing/2014/main" id="{831D0979-D9CB-4CBB-872C-3398EFE8C68E}"/>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083677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1. </a:t>
            </a:r>
            <a:r>
              <a:rPr lang="zh-CN" altLang="en-US" sz="2000" b="1" dirty="0"/>
              <a:t>划分意群</a:t>
            </a:r>
          </a:p>
        </p:txBody>
      </p:sp>
      <p:sp>
        <p:nvSpPr>
          <p:cNvPr id="7" name="文本框 6">
            <a:extLst>
              <a:ext uri="{FF2B5EF4-FFF2-40B4-BE49-F238E27FC236}">
                <a16:creationId xmlns:a16="http://schemas.microsoft.com/office/drawing/2014/main" id="{30022A9C-BD7D-4D04-B49E-D63DFC6A54AB}"/>
              </a:ext>
            </a:extLst>
          </p:cNvPr>
          <p:cNvSpPr txBox="1"/>
          <p:nvPr/>
        </p:nvSpPr>
        <p:spPr>
          <a:xfrm>
            <a:off x="595744" y="2124760"/>
            <a:ext cx="4031673" cy="400110"/>
          </a:xfrm>
          <a:prstGeom prst="rect">
            <a:avLst/>
          </a:prstGeom>
          <a:noFill/>
        </p:spPr>
        <p:txBody>
          <a:bodyPr wrap="square" rtlCol="0">
            <a:spAutoFit/>
          </a:bodyPr>
          <a:lstStyle/>
          <a:p>
            <a:r>
              <a:rPr lang="zh-CN" altLang="en-US" sz="2000" b="1" dirty="0"/>
              <a:t>按照以下六种标志划分</a:t>
            </a:r>
          </a:p>
        </p:txBody>
      </p:sp>
      <p:sp>
        <p:nvSpPr>
          <p:cNvPr id="8" name="文本框 7">
            <a:extLst>
              <a:ext uri="{FF2B5EF4-FFF2-40B4-BE49-F238E27FC236}">
                <a16:creationId xmlns:a16="http://schemas.microsoft.com/office/drawing/2014/main" id="{7F7BFCF1-F124-4F4B-8746-24B0959D73E3}"/>
              </a:ext>
            </a:extLst>
          </p:cNvPr>
          <p:cNvSpPr txBox="1"/>
          <p:nvPr/>
        </p:nvSpPr>
        <p:spPr>
          <a:xfrm>
            <a:off x="4177144" y="2598472"/>
            <a:ext cx="3422074" cy="3360022"/>
          </a:xfrm>
          <a:prstGeom prst="rect">
            <a:avLst/>
          </a:prstGeom>
          <a:noFill/>
        </p:spPr>
        <p:txBody>
          <a:bodyPr wrap="square" rtlCol="0">
            <a:spAutoFit/>
          </a:bodyPr>
          <a:lstStyle/>
          <a:p>
            <a:pPr>
              <a:lnSpc>
                <a:spcPct val="150000"/>
              </a:lnSpc>
            </a:pPr>
            <a:r>
              <a:rPr lang="zh-CN" altLang="en-US" sz="2400" b="1" dirty="0"/>
              <a:t>① 标点符号</a:t>
            </a:r>
            <a:endParaRPr lang="en-US" altLang="zh-CN" sz="2400" b="1" dirty="0"/>
          </a:p>
          <a:p>
            <a:pPr>
              <a:lnSpc>
                <a:spcPct val="150000"/>
              </a:lnSpc>
            </a:pPr>
            <a:r>
              <a:rPr lang="zh-CN" altLang="en-US" sz="2400" b="1" dirty="0"/>
              <a:t>② 介词短语</a:t>
            </a:r>
            <a:endParaRPr lang="en-US" altLang="zh-CN" sz="2400" b="1" dirty="0"/>
          </a:p>
          <a:p>
            <a:pPr>
              <a:lnSpc>
                <a:spcPct val="150000"/>
              </a:lnSpc>
            </a:pPr>
            <a:r>
              <a:rPr lang="zh-CN" altLang="en-US" sz="2400" b="1" dirty="0"/>
              <a:t>③ 连词</a:t>
            </a:r>
            <a:endParaRPr lang="en-US" altLang="zh-CN" sz="2400" b="1" dirty="0"/>
          </a:p>
          <a:p>
            <a:pPr>
              <a:lnSpc>
                <a:spcPct val="150000"/>
              </a:lnSpc>
            </a:pPr>
            <a:r>
              <a:rPr lang="zh-CN" altLang="en-US" sz="2400" b="1" dirty="0"/>
              <a:t>④ 非谓语动词</a:t>
            </a:r>
            <a:endParaRPr lang="en-US" altLang="zh-CN" sz="2400" b="1" dirty="0"/>
          </a:p>
          <a:p>
            <a:pPr>
              <a:lnSpc>
                <a:spcPct val="150000"/>
              </a:lnSpc>
            </a:pPr>
            <a:r>
              <a:rPr lang="zh-CN" altLang="en-US" sz="2400" b="1" dirty="0"/>
              <a:t>⑤ 引导词</a:t>
            </a:r>
            <a:endParaRPr lang="en-US" altLang="zh-CN" sz="2400" b="1" dirty="0"/>
          </a:p>
          <a:p>
            <a:pPr>
              <a:lnSpc>
                <a:spcPct val="150000"/>
              </a:lnSpc>
            </a:pPr>
            <a:r>
              <a:rPr lang="zh-CN" altLang="en-US" sz="2400" b="1" dirty="0"/>
              <a:t>⑥ 固定搭配</a:t>
            </a:r>
          </a:p>
        </p:txBody>
      </p:sp>
      <p:sp>
        <p:nvSpPr>
          <p:cNvPr id="9" name="矩形 8">
            <a:extLst>
              <a:ext uri="{FF2B5EF4-FFF2-40B4-BE49-F238E27FC236}">
                <a16:creationId xmlns:a16="http://schemas.microsoft.com/office/drawing/2014/main" id="{0DC7CD3A-5FC0-49C6-AAD9-69BAA1347886}"/>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713105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1. </a:t>
            </a:r>
            <a:r>
              <a:rPr lang="zh-CN" altLang="en-US" sz="2000" b="1" dirty="0"/>
              <a:t>划分意群</a:t>
            </a:r>
          </a:p>
        </p:txBody>
      </p:sp>
      <p:sp>
        <p:nvSpPr>
          <p:cNvPr id="10" name="矩形 9">
            <a:extLst>
              <a:ext uri="{FF2B5EF4-FFF2-40B4-BE49-F238E27FC236}">
                <a16:creationId xmlns:a16="http://schemas.microsoft.com/office/drawing/2014/main" id="{30752C95-A189-432A-9B03-948A33B56221}"/>
              </a:ext>
            </a:extLst>
          </p:cNvPr>
          <p:cNvSpPr/>
          <p:nvPr/>
        </p:nvSpPr>
        <p:spPr>
          <a:xfrm>
            <a:off x="595745" y="2139095"/>
            <a:ext cx="11159837" cy="1289905"/>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But what this country doesn‘t know is that America has created a monster  in the form of millions of fighting men who have been taught to deal in violence, and who have been given a chance to die for the biggest nothing in history.</a:t>
            </a:r>
            <a:endParaRPr lang="zh-CN" altLang="en-US"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108F1C4F-BA9D-486E-84E6-0391597BBFEB}"/>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5294858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1. </a:t>
            </a:r>
            <a:r>
              <a:rPr lang="zh-CN" altLang="en-US" sz="2000" b="1" dirty="0"/>
              <a:t>划分意群</a:t>
            </a:r>
          </a:p>
        </p:txBody>
      </p:sp>
      <p:cxnSp>
        <p:nvCxnSpPr>
          <p:cNvPr id="19" name="直接连接符 18">
            <a:extLst>
              <a:ext uri="{FF2B5EF4-FFF2-40B4-BE49-F238E27FC236}">
                <a16:creationId xmlns:a16="http://schemas.microsoft.com/office/drawing/2014/main" id="{D3F66F94-60E3-470C-84EC-CF6E3BD585D8}"/>
              </a:ext>
            </a:extLst>
          </p:cNvPr>
          <p:cNvCxnSpPr>
            <a:cxnSpLocks/>
          </p:cNvCxnSpPr>
          <p:nvPr/>
        </p:nvCxnSpPr>
        <p:spPr>
          <a:xfrm flipH="1">
            <a:off x="4887191" y="2139095"/>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10" name="矩形 9">
            <a:extLst>
              <a:ext uri="{FF2B5EF4-FFF2-40B4-BE49-F238E27FC236}">
                <a16:creationId xmlns:a16="http://schemas.microsoft.com/office/drawing/2014/main" id="{B4CF3A42-39E2-4BE8-B854-F534B00E3199}"/>
              </a:ext>
            </a:extLst>
          </p:cNvPr>
          <p:cNvSpPr/>
          <p:nvPr/>
        </p:nvSpPr>
        <p:spPr>
          <a:xfrm>
            <a:off x="595745" y="2139095"/>
            <a:ext cx="11159837" cy="1289905"/>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But what this country doesn‘t know is that America has created a monster  in the form of millions of fighting men who have been taught to deal in violence, and who have been given a chance to die for the biggest nothing in history.</a:t>
            </a:r>
            <a:endParaRPr lang="zh-CN" altLang="en-US" dirty="0">
              <a:latin typeface="微软雅黑" panose="020B0503020204020204" pitchFamily="34" charset="-122"/>
              <a:ea typeface="微软雅黑" panose="020B0503020204020204" pitchFamily="34" charset="-122"/>
            </a:endParaRPr>
          </a:p>
        </p:txBody>
      </p:sp>
      <p:cxnSp>
        <p:nvCxnSpPr>
          <p:cNvPr id="11" name="直接连接符 10">
            <a:extLst>
              <a:ext uri="{FF2B5EF4-FFF2-40B4-BE49-F238E27FC236}">
                <a16:creationId xmlns:a16="http://schemas.microsoft.com/office/drawing/2014/main" id="{BA8D462B-7C4A-4765-B913-F6F8517805E6}"/>
              </a:ext>
            </a:extLst>
          </p:cNvPr>
          <p:cNvCxnSpPr>
            <a:cxnSpLocks/>
          </p:cNvCxnSpPr>
          <p:nvPr/>
        </p:nvCxnSpPr>
        <p:spPr>
          <a:xfrm flipH="1">
            <a:off x="8946572" y="2139095"/>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直接连接符 11">
            <a:extLst>
              <a:ext uri="{FF2B5EF4-FFF2-40B4-BE49-F238E27FC236}">
                <a16:creationId xmlns:a16="http://schemas.microsoft.com/office/drawing/2014/main" id="{06BF8C9F-99FA-4364-921B-AA3874703965}"/>
              </a:ext>
            </a:extLst>
          </p:cNvPr>
          <p:cNvCxnSpPr>
            <a:cxnSpLocks/>
          </p:cNvCxnSpPr>
          <p:nvPr/>
        </p:nvCxnSpPr>
        <p:spPr>
          <a:xfrm flipH="1">
            <a:off x="2369127"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接连接符 12">
            <a:extLst>
              <a:ext uri="{FF2B5EF4-FFF2-40B4-BE49-F238E27FC236}">
                <a16:creationId xmlns:a16="http://schemas.microsoft.com/office/drawing/2014/main" id="{365AD21A-FD71-47FB-A43D-7082566C3765}"/>
              </a:ext>
            </a:extLst>
          </p:cNvPr>
          <p:cNvCxnSpPr>
            <a:cxnSpLocks/>
          </p:cNvCxnSpPr>
          <p:nvPr/>
        </p:nvCxnSpPr>
        <p:spPr>
          <a:xfrm flipH="1">
            <a:off x="4849092"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A39460FD-2449-4B07-B589-45EAC600FA1D}"/>
              </a:ext>
            </a:extLst>
          </p:cNvPr>
          <p:cNvCxnSpPr>
            <a:cxnSpLocks/>
          </p:cNvCxnSpPr>
          <p:nvPr/>
        </p:nvCxnSpPr>
        <p:spPr>
          <a:xfrm flipH="1">
            <a:off x="7020791"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E650469E-DE18-42A4-A8D2-328BE77177AF}"/>
              </a:ext>
            </a:extLst>
          </p:cNvPr>
          <p:cNvCxnSpPr>
            <a:cxnSpLocks/>
          </p:cNvCxnSpPr>
          <p:nvPr/>
        </p:nvCxnSpPr>
        <p:spPr>
          <a:xfrm flipH="1">
            <a:off x="7491846"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0" name="直接连接符 19">
            <a:extLst>
              <a:ext uri="{FF2B5EF4-FFF2-40B4-BE49-F238E27FC236}">
                <a16:creationId xmlns:a16="http://schemas.microsoft.com/office/drawing/2014/main" id="{09F8580B-48CC-40FF-BE46-655EED6188E7}"/>
              </a:ext>
            </a:extLst>
          </p:cNvPr>
          <p:cNvCxnSpPr>
            <a:cxnSpLocks/>
          </p:cNvCxnSpPr>
          <p:nvPr/>
        </p:nvCxnSpPr>
        <p:spPr>
          <a:xfrm flipH="1">
            <a:off x="10879280"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3F6E8F33-F78D-4748-9849-AA3413EF3AB5}"/>
              </a:ext>
            </a:extLst>
          </p:cNvPr>
          <p:cNvCxnSpPr>
            <a:cxnSpLocks/>
          </p:cNvCxnSpPr>
          <p:nvPr/>
        </p:nvCxnSpPr>
        <p:spPr>
          <a:xfrm flipH="1">
            <a:off x="914399" y="3040356"/>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38DD62E3-B4EB-4E15-9E3B-1E81CAFF57D4}"/>
              </a:ext>
            </a:extLst>
          </p:cNvPr>
          <p:cNvCxnSpPr>
            <a:cxnSpLocks/>
          </p:cNvCxnSpPr>
          <p:nvPr/>
        </p:nvCxnSpPr>
        <p:spPr>
          <a:xfrm flipH="1">
            <a:off x="3548497" y="3040356"/>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16" name="矩形 15">
            <a:extLst>
              <a:ext uri="{FF2B5EF4-FFF2-40B4-BE49-F238E27FC236}">
                <a16:creationId xmlns:a16="http://schemas.microsoft.com/office/drawing/2014/main" id="{2C5295F0-9E6E-4160-B805-491778DFF503}"/>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16556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5" name="文本框 4">
            <a:extLst>
              <a:ext uri="{FF2B5EF4-FFF2-40B4-BE49-F238E27FC236}">
                <a16:creationId xmlns:a16="http://schemas.microsoft.com/office/drawing/2014/main" id="{0F7714DD-B098-4ECA-9A97-1C8FD84B103C}"/>
              </a:ext>
            </a:extLst>
          </p:cNvPr>
          <p:cNvSpPr txBox="1"/>
          <p:nvPr/>
        </p:nvSpPr>
        <p:spPr>
          <a:xfrm>
            <a:off x="4010890" y="3325091"/>
            <a:ext cx="1773382" cy="400110"/>
          </a:xfrm>
          <a:prstGeom prst="rect">
            <a:avLst/>
          </a:prstGeom>
          <a:noFill/>
        </p:spPr>
        <p:txBody>
          <a:bodyPr wrap="square" rtlCol="0">
            <a:spAutoFit/>
          </a:bodyPr>
          <a:lstStyle/>
          <a:p>
            <a:r>
              <a:rPr lang="zh-CN" altLang="en-US" sz="2000" b="1" dirty="0"/>
              <a:t>英译汉</a:t>
            </a:r>
          </a:p>
        </p:txBody>
      </p:sp>
      <p:sp>
        <p:nvSpPr>
          <p:cNvPr id="3" name="左大括号 2">
            <a:extLst>
              <a:ext uri="{FF2B5EF4-FFF2-40B4-BE49-F238E27FC236}">
                <a16:creationId xmlns:a16="http://schemas.microsoft.com/office/drawing/2014/main" id="{2F1810FB-B6F9-47C9-A1A4-6ED736FEF9DA}"/>
              </a:ext>
            </a:extLst>
          </p:cNvPr>
          <p:cNvSpPr/>
          <p:nvPr/>
        </p:nvSpPr>
        <p:spPr>
          <a:xfrm>
            <a:off x="5267499" y="2475664"/>
            <a:ext cx="45719" cy="2098964"/>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D01CBB90-134E-435B-9592-B4C268069AFA}"/>
              </a:ext>
            </a:extLst>
          </p:cNvPr>
          <p:cNvSpPr txBox="1"/>
          <p:nvPr/>
        </p:nvSpPr>
        <p:spPr>
          <a:xfrm>
            <a:off x="5604162" y="2475664"/>
            <a:ext cx="1773382" cy="400110"/>
          </a:xfrm>
          <a:prstGeom prst="rect">
            <a:avLst/>
          </a:prstGeom>
          <a:noFill/>
        </p:spPr>
        <p:txBody>
          <a:bodyPr wrap="square" rtlCol="0">
            <a:spAutoFit/>
          </a:bodyPr>
          <a:lstStyle/>
          <a:p>
            <a:r>
              <a:rPr lang="en-US" altLang="zh-CN" sz="2000" b="1" dirty="0"/>
              <a:t>1. </a:t>
            </a:r>
            <a:r>
              <a:rPr lang="zh-CN" altLang="en-US" sz="2000" b="1" dirty="0"/>
              <a:t>划分意群</a:t>
            </a:r>
          </a:p>
        </p:txBody>
      </p:sp>
      <p:sp>
        <p:nvSpPr>
          <p:cNvPr id="7" name="文本框 6">
            <a:extLst>
              <a:ext uri="{FF2B5EF4-FFF2-40B4-BE49-F238E27FC236}">
                <a16:creationId xmlns:a16="http://schemas.microsoft.com/office/drawing/2014/main" id="{30022A9C-BD7D-4D04-B49E-D63DFC6A54AB}"/>
              </a:ext>
            </a:extLst>
          </p:cNvPr>
          <p:cNvSpPr txBox="1"/>
          <p:nvPr/>
        </p:nvSpPr>
        <p:spPr>
          <a:xfrm>
            <a:off x="5604162" y="3325091"/>
            <a:ext cx="1773382" cy="400110"/>
          </a:xfrm>
          <a:prstGeom prst="rect">
            <a:avLst/>
          </a:prstGeom>
          <a:noFill/>
        </p:spPr>
        <p:txBody>
          <a:bodyPr wrap="square" rtlCol="0">
            <a:spAutoFit/>
          </a:bodyPr>
          <a:lstStyle/>
          <a:p>
            <a:r>
              <a:rPr lang="en-US" altLang="zh-CN" sz="2000" b="1" dirty="0">
                <a:solidFill>
                  <a:srgbClr val="FF0000"/>
                </a:solidFill>
              </a:rPr>
              <a:t>2. </a:t>
            </a:r>
            <a:r>
              <a:rPr lang="zh-CN" altLang="en-US" sz="2000" b="1" dirty="0">
                <a:solidFill>
                  <a:srgbClr val="FF0000"/>
                </a:solidFill>
              </a:rPr>
              <a:t>意群翻译</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604162" y="4191745"/>
            <a:ext cx="1773382" cy="400110"/>
          </a:xfrm>
          <a:prstGeom prst="rect">
            <a:avLst/>
          </a:prstGeom>
          <a:noFill/>
        </p:spPr>
        <p:txBody>
          <a:bodyPr wrap="square" rtlCol="0">
            <a:spAutoFit/>
          </a:bodyPr>
          <a:lstStyle/>
          <a:p>
            <a:r>
              <a:rPr lang="en-US" altLang="zh-CN" sz="2000" b="1" dirty="0"/>
              <a:t>3. </a:t>
            </a:r>
            <a:r>
              <a:rPr lang="zh-CN" altLang="en-US" sz="2000" b="1" dirty="0"/>
              <a:t>得意忘形</a:t>
            </a:r>
          </a:p>
        </p:txBody>
      </p:sp>
      <p:sp>
        <p:nvSpPr>
          <p:cNvPr id="9" name="矩形 8">
            <a:extLst>
              <a:ext uri="{FF2B5EF4-FFF2-40B4-BE49-F238E27FC236}">
                <a16:creationId xmlns:a16="http://schemas.microsoft.com/office/drawing/2014/main" id="{491D4569-66E6-4F20-8C7C-1226BFCC25D1}"/>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9784722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2. </a:t>
            </a:r>
            <a:r>
              <a:rPr lang="zh-CN" altLang="en-US" sz="2000" b="1" dirty="0"/>
              <a:t>意群翻译</a:t>
            </a:r>
          </a:p>
        </p:txBody>
      </p:sp>
      <p:cxnSp>
        <p:nvCxnSpPr>
          <p:cNvPr id="19" name="直接连接符 18">
            <a:extLst>
              <a:ext uri="{FF2B5EF4-FFF2-40B4-BE49-F238E27FC236}">
                <a16:creationId xmlns:a16="http://schemas.microsoft.com/office/drawing/2014/main" id="{D3F66F94-60E3-470C-84EC-CF6E3BD585D8}"/>
              </a:ext>
            </a:extLst>
          </p:cNvPr>
          <p:cNvCxnSpPr>
            <a:cxnSpLocks/>
          </p:cNvCxnSpPr>
          <p:nvPr/>
        </p:nvCxnSpPr>
        <p:spPr>
          <a:xfrm flipH="1">
            <a:off x="4887191" y="2139095"/>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10" name="矩形 9">
            <a:extLst>
              <a:ext uri="{FF2B5EF4-FFF2-40B4-BE49-F238E27FC236}">
                <a16:creationId xmlns:a16="http://schemas.microsoft.com/office/drawing/2014/main" id="{B4CF3A42-39E2-4BE8-B854-F534B00E3199}"/>
              </a:ext>
            </a:extLst>
          </p:cNvPr>
          <p:cNvSpPr/>
          <p:nvPr/>
        </p:nvSpPr>
        <p:spPr>
          <a:xfrm>
            <a:off x="595745" y="2139095"/>
            <a:ext cx="11159837" cy="1289905"/>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But what this country doesn‘t know is that America has created a monster  in the form of millions of fighting men who have been taught to deal in violence, and who have been given a chance to die for the biggest nothing in history.</a:t>
            </a:r>
            <a:endParaRPr lang="zh-CN" altLang="en-US" dirty="0">
              <a:latin typeface="微软雅黑" panose="020B0503020204020204" pitchFamily="34" charset="-122"/>
              <a:ea typeface="微软雅黑" panose="020B0503020204020204" pitchFamily="34" charset="-122"/>
            </a:endParaRPr>
          </a:p>
        </p:txBody>
      </p:sp>
      <p:cxnSp>
        <p:nvCxnSpPr>
          <p:cNvPr id="11" name="直接连接符 10">
            <a:extLst>
              <a:ext uri="{FF2B5EF4-FFF2-40B4-BE49-F238E27FC236}">
                <a16:creationId xmlns:a16="http://schemas.microsoft.com/office/drawing/2014/main" id="{BA8D462B-7C4A-4765-B913-F6F8517805E6}"/>
              </a:ext>
            </a:extLst>
          </p:cNvPr>
          <p:cNvCxnSpPr>
            <a:cxnSpLocks/>
          </p:cNvCxnSpPr>
          <p:nvPr/>
        </p:nvCxnSpPr>
        <p:spPr>
          <a:xfrm flipH="1">
            <a:off x="8946572" y="2139095"/>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直接连接符 11">
            <a:extLst>
              <a:ext uri="{FF2B5EF4-FFF2-40B4-BE49-F238E27FC236}">
                <a16:creationId xmlns:a16="http://schemas.microsoft.com/office/drawing/2014/main" id="{06BF8C9F-99FA-4364-921B-AA3874703965}"/>
              </a:ext>
            </a:extLst>
          </p:cNvPr>
          <p:cNvCxnSpPr>
            <a:cxnSpLocks/>
          </p:cNvCxnSpPr>
          <p:nvPr/>
        </p:nvCxnSpPr>
        <p:spPr>
          <a:xfrm flipH="1">
            <a:off x="2369127"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接连接符 12">
            <a:extLst>
              <a:ext uri="{FF2B5EF4-FFF2-40B4-BE49-F238E27FC236}">
                <a16:creationId xmlns:a16="http://schemas.microsoft.com/office/drawing/2014/main" id="{365AD21A-FD71-47FB-A43D-7082566C3765}"/>
              </a:ext>
            </a:extLst>
          </p:cNvPr>
          <p:cNvCxnSpPr>
            <a:cxnSpLocks/>
          </p:cNvCxnSpPr>
          <p:nvPr/>
        </p:nvCxnSpPr>
        <p:spPr>
          <a:xfrm flipH="1">
            <a:off x="4849092"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A39460FD-2449-4B07-B589-45EAC600FA1D}"/>
              </a:ext>
            </a:extLst>
          </p:cNvPr>
          <p:cNvCxnSpPr>
            <a:cxnSpLocks/>
          </p:cNvCxnSpPr>
          <p:nvPr/>
        </p:nvCxnSpPr>
        <p:spPr>
          <a:xfrm flipH="1">
            <a:off x="7020791"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E650469E-DE18-42A4-A8D2-328BE77177AF}"/>
              </a:ext>
            </a:extLst>
          </p:cNvPr>
          <p:cNvCxnSpPr>
            <a:cxnSpLocks/>
          </p:cNvCxnSpPr>
          <p:nvPr/>
        </p:nvCxnSpPr>
        <p:spPr>
          <a:xfrm flipH="1">
            <a:off x="7491846"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0" name="直接连接符 19">
            <a:extLst>
              <a:ext uri="{FF2B5EF4-FFF2-40B4-BE49-F238E27FC236}">
                <a16:creationId xmlns:a16="http://schemas.microsoft.com/office/drawing/2014/main" id="{09F8580B-48CC-40FF-BE46-655EED6188E7}"/>
              </a:ext>
            </a:extLst>
          </p:cNvPr>
          <p:cNvCxnSpPr>
            <a:cxnSpLocks/>
          </p:cNvCxnSpPr>
          <p:nvPr/>
        </p:nvCxnSpPr>
        <p:spPr>
          <a:xfrm flipH="1">
            <a:off x="10879280"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3F6E8F33-F78D-4748-9849-AA3413EF3AB5}"/>
              </a:ext>
            </a:extLst>
          </p:cNvPr>
          <p:cNvCxnSpPr>
            <a:cxnSpLocks/>
          </p:cNvCxnSpPr>
          <p:nvPr/>
        </p:nvCxnSpPr>
        <p:spPr>
          <a:xfrm flipH="1">
            <a:off x="914399" y="3040356"/>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38DD62E3-B4EB-4E15-9E3B-1E81CAFF57D4}"/>
              </a:ext>
            </a:extLst>
          </p:cNvPr>
          <p:cNvCxnSpPr>
            <a:cxnSpLocks/>
          </p:cNvCxnSpPr>
          <p:nvPr/>
        </p:nvCxnSpPr>
        <p:spPr>
          <a:xfrm flipH="1">
            <a:off x="3548497" y="3040356"/>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16" name="矩形 15">
            <a:extLst>
              <a:ext uri="{FF2B5EF4-FFF2-40B4-BE49-F238E27FC236}">
                <a16:creationId xmlns:a16="http://schemas.microsoft.com/office/drawing/2014/main" id="{E73FFE2C-B012-4FA3-BE17-8AC330BD9E09}"/>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784947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5" name="文本框 4">
            <a:extLst>
              <a:ext uri="{FF2B5EF4-FFF2-40B4-BE49-F238E27FC236}">
                <a16:creationId xmlns:a16="http://schemas.microsoft.com/office/drawing/2014/main" id="{0F7714DD-B098-4ECA-9A97-1C8FD84B103C}"/>
              </a:ext>
            </a:extLst>
          </p:cNvPr>
          <p:cNvSpPr txBox="1"/>
          <p:nvPr/>
        </p:nvSpPr>
        <p:spPr>
          <a:xfrm>
            <a:off x="4010890" y="3325091"/>
            <a:ext cx="1773382" cy="400110"/>
          </a:xfrm>
          <a:prstGeom prst="rect">
            <a:avLst/>
          </a:prstGeom>
          <a:noFill/>
        </p:spPr>
        <p:txBody>
          <a:bodyPr wrap="square" rtlCol="0">
            <a:spAutoFit/>
          </a:bodyPr>
          <a:lstStyle/>
          <a:p>
            <a:r>
              <a:rPr lang="zh-CN" altLang="en-US" sz="2000" b="1" dirty="0"/>
              <a:t>英译汉</a:t>
            </a:r>
          </a:p>
        </p:txBody>
      </p:sp>
      <p:sp>
        <p:nvSpPr>
          <p:cNvPr id="3" name="左大括号 2">
            <a:extLst>
              <a:ext uri="{FF2B5EF4-FFF2-40B4-BE49-F238E27FC236}">
                <a16:creationId xmlns:a16="http://schemas.microsoft.com/office/drawing/2014/main" id="{2F1810FB-B6F9-47C9-A1A4-6ED736FEF9DA}"/>
              </a:ext>
            </a:extLst>
          </p:cNvPr>
          <p:cNvSpPr/>
          <p:nvPr/>
        </p:nvSpPr>
        <p:spPr>
          <a:xfrm>
            <a:off x="5267499" y="2475664"/>
            <a:ext cx="45719" cy="2098964"/>
          </a:xfrm>
          <a:prstGeom prst="leftBrace">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D01CBB90-134E-435B-9592-B4C268069AFA}"/>
              </a:ext>
            </a:extLst>
          </p:cNvPr>
          <p:cNvSpPr txBox="1"/>
          <p:nvPr/>
        </p:nvSpPr>
        <p:spPr>
          <a:xfrm>
            <a:off x="5604162" y="2475664"/>
            <a:ext cx="1773382" cy="400110"/>
          </a:xfrm>
          <a:prstGeom prst="rect">
            <a:avLst/>
          </a:prstGeom>
          <a:noFill/>
        </p:spPr>
        <p:txBody>
          <a:bodyPr wrap="square" rtlCol="0">
            <a:spAutoFit/>
          </a:bodyPr>
          <a:lstStyle/>
          <a:p>
            <a:r>
              <a:rPr lang="en-US" altLang="zh-CN" sz="2000" b="1" dirty="0"/>
              <a:t>1. </a:t>
            </a:r>
            <a:r>
              <a:rPr lang="zh-CN" altLang="en-US" sz="2000" b="1" dirty="0"/>
              <a:t>划分意群</a:t>
            </a:r>
          </a:p>
        </p:txBody>
      </p:sp>
      <p:sp>
        <p:nvSpPr>
          <p:cNvPr id="7" name="文本框 6">
            <a:extLst>
              <a:ext uri="{FF2B5EF4-FFF2-40B4-BE49-F238E27FC236}">
                <a16:creationId xmlns:a16="http://schemas.microsoft.com/office/drawing/2014/main" id="{30022A9C-BD7D-4D04-B49E-D63DFC6A54AB}"/>
              </a:ext>
            </a:extLst>
          </p:cNvPr>
          <p:cNvSpPr txBox="1"/>
          <p:nvPr/>
        </p:nvSpPr>
        <p:spPr>
          <a:xfrm>
            <a:off x="5604162" y="3325091"/>
            <a:ext cx="1773382" cy="400110"/>
          </a:xfrm>
          <a:prstGeom prst="rect">
            <a:avLst/>
          </a:prstGeom>
          <a:noFill/>
        </p:spPr>
        <p:txBody>
          <a:bodyPr wrap="square" rtlCol="0">
            <a:spAutoFit/>
          </a:bodyPr>
          <a:lstStyle/>
          <a:p>
            <a:r>
              <a:rPr lang="en-US" altLang="zh-CN" sz="2000" b="1" dirty="0"/>
              <a:t>2. </a:t>
            </a:r>
            <a:r>
              <a:rPr lang="zh-CN" altLang="en-US" sz="2000" b="1" dirty="0"/>
              <a:t>意群翻译</a:t>
            </a:r>
          </a:p>
        </p:txBody>
      </p:sp>
      <p:sp>
        <p:nvSpPr>
          <p:cNvPr id="8" name="文本框 7">
            <a:extLst>
              <a:ext uri="{FF2B5EF4-FFF2-40B4-BE49-F238E27FC236}">
                <a16:creationId xmlns:a16="http://schemas.microsoft.com/office/drawing/2014/main" id="{7F7BFCF1-F124-4F4B-8746-24B0959D73E3}"/>
              </a:ext>
            </a:extLst>
          </p:cNvPr>
          <p:cNvSpPr txBox="1"/>
          <p:nvPr/>
        </p:nvSpPr>
        <p:spPr>
          <a:xfrm>
            <a:off x="5604162" y="4191745"/>
            <a:ext cx="1773382" cy="400110"/>
          </a:xfrm>
          <a:prstGeom prst="rect">
            <a:avLst/>
          </a:prstGeom>
          <a:noFill/>
        </p:spPr>
        <p:txBody>
          <a:bodyPr wrap="square" rtlCol="0">
            <a:spAutoFit/>
          </a:bodyPr>
          <a:lstStyle/>
          <a:p>
            <a:r>
              <a:rPr lang="en-US" altLang="zh-CN" sz="2000" b="1" dirty="0">
                <a:solidFill>
                  <a:srgbClr val="FF0000"/>
                </a:solidFill>
              </a:rPr>
              <a:t>3. </a:t>
            </a:r>
            <a:r>
              <a:rPr lang="zh-CN" altLang="en-US" sz="2000" b="1" dirty="0">
                <a:solidFill>
                  <a:srgbClr val="FF0000"/>
                </a:solidFill>
              </a:rPr>
              <a:t>得意忘形</a:t>
            </a:r>
          </a:p>
        </p:txBody>
      </p:sp>
      <p:sp>
        <p:nvSpPr>
          <p:cNvPr id="9" name="矩形 8">
            <a:extLst>
              <a:ext uri="{FF2B5EF4-FFF2-40B4-BE49-F238E27FC236}">
                <a16:creationId xmlns:a16="http://schemas.microsoft.com/office/drawing/2014/main" id="{8A35CBD7-F7D0-4925-BCA9-10AE2E59DF50}"/>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8387503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3. </a:t>
            </a:r>
            <a:r>
              <a:rPr lang="zh-CN" altLang="en-US" sz="2000" b="1" dirty="0"/>
              <a:t>得意忘形</a:t>
            </a:r>
          </a:p>
        </p:txBody>
      </p:sp>
      <p:cxnSp>
        <p:nvCxnSpPr>
          <p:cNvPr id="19" name="直接连接符 18">
            <a:extLst>
              <a:ext uri="{FF2B5EF4-FFF2-40B4-BE49-F238E27FC236}">
                <a16:creationId xmlns:a16="http://schemas.microsoft.com/office/drawing/2014/main" id="{D3F66F94-60E3-470C-84EC-CF6E3BD585D8}"/>
              </a:ext>
            </a:extLst>
          </p:cNvPr>
          <p:cNvCxnSpPr>
            <a:cxnSpLocks/>
          </p:cNvCxnSpPr>
          <p:nvPr/>
        </p:nvCxnSpPr>
        <p:spPr>
          <a:xfrm flipH="1">
            <a:off x="4887191" y="2139095"/>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10" name="矩形 9">
            <a:extLst>
              <a:ext uri="{FF2B5EF4-FFF2-40B4-BE49-F238E27FC236}">
                <a16:creationId xmlns:a16="http://schemas.microsoft.com/office/drawing/2014/main" id="{B4CF3A42-39E2-4BE8-B854-F534B00E3199}"/>
              </a:ext>
            </a:extLst>
          </p:cNvPr>
          <p:cNvSpPr/>
          <p:nvPr/>
        </p:nvSpPr>
        <p:spPr>
          <a:xfrm>
            <a:off x="595745" y="2139095"/>
            <a:ext cx="11159837" cy="1289905"/>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But what this country doesn‘t know is that America has created a monster  in the form of millions of fighting men who have been taught to deal in violence, and who have been given a chance to die for the biggest nothing in history.</a:t>
            </a:r>
          </a:p>
        </p:txBody>
      </p:sp>
      <p:cxnSp>
        <p:nvCxnSpPr>
          <p:cNvPr id="11" name="直接连接符 10">
            <a:extLst>
              <a:ext uri="{FF2B5EF4-FFF2-40B4-BE49-F238E27FC236}">
                <a16:creationId xmlns:a16="http://schemas.microsoft.com/office/drawing/2014/main" id="{BA8D462B-7C4A-4765-B913-F6F8517805E6}"/>
              </a:ext>
            </a:extLst>
          </p:cNvPr>
          <p:cNvCxnSpPr>
            <a:cxnSpLocks/>
          </p:cNvCxnSpPr>
          <p:nvPr/>
        </p:nvCxnSpPr>
        <p:spPr>
          <a:xfrm flipH="1">
            <a:off x="8946572" y="2139095"/>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直接连接符 11">
            <a:extLst>
              <a:ext uri="{FF2B5EF4-FFF2-40B4-BE49-F238E27FC236}">
                <a16:creationId xmlns:a16="http://schemas.microsoft.com/office/drawing/2014/main" id="{06BF8C9F-99FA-4364-921B-AA3874703965}"/>
              </a:ext>
            </a:extLst>
          </p:cNvPr>
          <p:cNvCxnSpPr>
            <a:cxnSpLocks/>
          </p:cNvCxnSpPr>
          <p:nvPr/>
        </p:nvCxnSpPr>
        <p:spPr>
          <a:xfrm flipH="1">
            <a:off x="2369127"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接连接符 12">
            <a:extLst>
              <a:ext uri="{FF2B5EF4-FFF2-40B4-BE49-F238E27FC236}">
                <a16:creationId xmlns:a16="http://schemas.microsoft.com/office/drawing/2014/main" id="{365AD21A-FD71-47FB-A43D-7082566C3765}"/>
              </a:ext>
            </a:extLst>
          </p:cNvPr>
          <p:cNvCxnSpPr>
            <a:cxnSpLocks/>
          </p:cNvCxnSpPr>
          <p:nvPr/>
        </p:nvCxnSpPr>
        <p:spPr>
          <a:xfrm flipH="1">
            <a:off x="4849092"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A39460FD-2449-4B07-B589-45EAC600FA1D}"/>
              </a:ext>
            </a:extLst>
          </p:cNvPr>
          <p:cNvCxnSpPr>
            <a:cxnSpLocks/>
          </p:cNvCxnSpPr>
          <p:nvPr/>
        </p:nvCxnSpPr>
        <p:spPr>
          <a:xfrm flipH="1">
            <a:off x="7020791"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E650469E-DE18-42A4-A8D2-328BE77177AF}"/>
              </a:ext>
            </a:extLst>
          </p:cNvPr>
          <p:cNvCxnSpPr>
            <a:cxnSpLocks/>
          </p:cNvCxnSpPr>
          <p:nvPr/>
        </p:nvCxnSpPr>
        <p:spPr>
          <a:xfrm flipH="1">
            <a:off x="7491846"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0" name="直接连接符 19">
            <a:extLst>
              <a:ext uri="{FF2B5EF4-FFF2-40B4-BE49-F238E27FC236}">
                <a16:creationId xmlns:a16="http://schemas.microsoft.com/office/drawing/2014/main" id="{09F8580B-48CC-40FF-BE46-655EED6188E7}"/>
              </a:ext>
            </a:extLst>
          </p:cNvPr>
          <p:cNvCxnSpPr>
            <a:cxnSpLocks/>
          </p:cNvCxnSpPr>
          <p:nvPr/>
        </p:nvCxnSpPr>
        <p:spPr>
          <a:xfrm flipH="1">
            <a:off x="10879280"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3F6E8F33-F78D-4748-9849-AA3413EF3AB5}"/>
              </a:ext>
            </a:extLst>
          </p:cNvPr>
          <p:cNvCxnSpPr>
            <a:cxnSpLocks/>
          </p:cNvCxnSpPr>
          <p:nvPr/>
        </p:nvCxnSpPr>
        <p:spPr>
          <a:xfrm flipH="1">
            <a:off x="914399" y="3040356"/>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38DD62E3-B4EB-4E15-9E3B-1E81CAFF57D4}"/>
              </a:ext>
            </a:extLst>
          </p:cNvPr>
          <p:cNvCxnSpPr>
            <a:cxnSpLocks/>
          </p:cNvCxnSpPr>
          <p:nvPr/>
        </p:nvCxnSpPr>
        <p:spPr>
          <a:xfrm flipH="1">
            <a:off x="3548497" y="3040356"/>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16" name="矩形 15">
            <a:extLst>
              <a:ext uri="{FF2B5EF4-FFF2-40B4-BE49-F238E27FC236}">
                <a16:creationId xmlns:a16="http://schemas.microsoft.com/office/drawing/2014/main" id="{03AAEF63-E9A3-4273-B6D2-F393BA39BF6B}"/>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3208679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一、英译汉</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773382" cy="400110"/>
          </a:xfrm>
          <a:prstGeom prst="rect">
            <a:avLst/>
          </a:prstGeom>
          <a:noFill/>
        </p:spPr>
        <p:txBody>
          <a:bodyPr wrap="square" rtlCol="0">
            <a:spAutoFit/>
          </a:bodyPr>
          <a:lstStyle/>
          <a:p>
            <a:r>
              <a:rPr lang="en-US" altLang="zh-CN" sz="2000" b="1" dirty="0"/>
              <a:t>3. </a:t>
            </a:r>
            <a:r>
              <a:rPr lang="zh-CN" altLang="en-US" sz="2000" b="1" dirty="0"/>
              <a:t>得意忘形</a:t>
            </a:r>
          </a:p>
        </p:txBody>
      </p:sp>
      <p:cxnSp>
        <p:nvCxnSpPr>
          <p:cNvPr id="19" name="直接连接符 18">
            <a:extLst>
              <a:ext uri="{FF2B5EF4-FFF2-40B4-BE49-F238E27FC236}">
                <a16:creationId xmlns:a16="http://schemas.microsoft.com/office/drawing/2014/main" id="{D3F66F94-60E3-470C-84EC-CF6E3BD585D8}"/>
              </a:ext>
            </a:extLst>
          </p:cNvPr>
          <p:cNvCxnSpPr>
            <a:cxnSpLocks/>
          </p:cNvCxnSpPr>
          <p:nvPr/>
        </p:nvCxnSpPr>
        <p:spPr>
          <a:xfrm flipH="1">
            <a:off x="4887191" y="2139095"/>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10" name="矩形 9">
            <a:extLst>
              <a:ext uri="{FF2B5EF4-FFF2-40B4-BE49-F238E27FC236}">
                <a16:creationId xmlns:a16="http://schemas.microsoft.com/office/drawing/2014/main" id="{B4CF3A42-39E2-4BE8-B854-F534B00E3199}"/>
              </a:ext>
            </a:extLst>
          </p:cNvPr>
          <p:cNvSpPr/>
          <p:nvPr/>
        </p:nvSpPr>
        <p:spPr>
          <a:xfrm>
            <a:off x="595745" y="2139095"/>
            <a:ext cx="11159837" cy="2120902"/>
          </a:xfrm>
          <a:prstGeom prst="rect">
            <a:avLst/>
          </a:prstGeom>
        </p:spPr>
        <p:txBody>
          <a:bodyPr wrap="square">
            <a:spAutoFit/>
          </a:bodyPr>
          <a:lstStyle/>
          <a:p>
            <a:pPr>
              <a:lnSpc>
                <a:spcPct val="150000"/>
              </a:lnSpc>
            </a:pP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But what this country doesn‘t know is that America has created a monster  in the form of millions of fighting men who have been taught to deal in violence, and who have been given a chance to die for the biggest nothing in history.</a:t>
            </a:r>
          </a:p>
          <a:p>
            <a:pPr>
              <a:lnSpc>
                <a:spcPct val="150000"/>
              </a:lnSpc>
            </a:pPr>
            <a:r>
              <a:rPr lang="zh-CN" altLang="en-US" kern="10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但是这个国家不知道的是，美国已经以数百万个战斗人员形成一种可怕的力量，这些战斗人员受过从事暴力的训练，并被赋予一个机会去为人类历史最大的虚无而死。（被赋予一个毫无意义地去牺牲的机会）</a:t>
            </a:r>
            <a:endParaRPr lang="zh-CN" altLang="en-US" dirty="0">
              <a:latin typeface="微软雅黑" panose="020B0503020204020204" pitchFamily="34" charset="-122"/>
              <a:ea typeface="微软雅黑" panose="020B0503020204020204" pitchFamily="34" charset="-122"/>
            </a:endParaRPr>
          </a:p>
        </p:txBody>
      </p:sp>
      <p:cxnSp>
        <p:nvCxnSpPr>
          <p:cNvPr id="11" name="直接连接符 10">
            <a:extLst>
              <a:ext uri="{FF2B5EF4-FFF2-40B4-BE49-F238E27FC236}">
                <a16:creationId xmlns:a16="http://schemas.microsoft.com/office/drawing/2014/main" id="{BA8D462B-7C4A-4765-B913-F6F8517805E6}"/>
              </a:ext>
            </a:extLst>
          </p:cNvPr>
          <p:cNvCxnSpPr>
            <a:cxnSpLocks/>
          </p:cNvCxnSpPr>
          <p:nvPr/>
        </p:nvCxnSpPr>
        <p:spPr>
          <a:xfrm flipH="1">
            <a:off x="8946572" y="2139095"/>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2" name="直接连接符 11">
            <a:extLst>
              <a:ext uri="{FF2B5EF4-FFF2-40B4-BE49-F238E27FC236}">
                <a16:creationId xmlns:a16="http://schemas.microsoft.com/office/drawing/2014/main" id="{06BF8C9F-99FA-4364-921B-AA3874703965}"/>
              </a:ext>
            </a:extLst>
          </p:cNvPr>
          <p:cNvCxnSpPr>
            <a:cxnSpLocks/>
          </p:cNvCxnSpPr>
          <p:nvPr/>
        </p:nvCxnSpPr>
        <p:spPr>
          <a:xfrm flipH="1">
            <a:off x="2369127"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3" name="直接连接符 12">
            <a:extLst>
              <a:ext uri="{FF2B5EF4-FFF2-40B4-BE49-F238E27FC236}">
                <a16:creationId xmlns:a16="http://schemas.microsoft.com/office/drawing/2014/main" id="{365AD21A-FD71-47FB-A43D-7082566C3765}"/>
              </a:ext>
            </a:extLst>
          </p:cNvPr>
          <p:cNvCxnSpPr>
            <a:cxnSpLocks/>
          </p:cNvCxnSpPr>
          <p:nvPr/>
        </p:nvCxnSpPr>
        <p:spPr>
          <a:xfrm flipH="1">
            <a:off x="4849092"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4" name="直接连接符 13">
            <a:extLst>
              <a:ext uri="{FF2B5EF4-FFF2-40B4-BE49-F238E27FC236}">
                <a16:creationId xmlns:a16="http://schemas.microsoft.com/office/drawing/2014/main" id="{A39460FD-2449-4B07-B589-45EAC600FA1D}"/>
              </a:ext>
            </a:extLst>
          </p:cNvPr>
          <p:cNvCxnSpPr>
            <a:cxnSpLocks/>
          </p:cNvCxnSpPr>
          <p:nvPr/>
        </p:nvCxnSpPr>
        <p:spPr>
          <a:xfrm flipH="1">
            <a:off x="7020791"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5" name="直接连接符 14">
            <a:extLst>
              <a:ext uri="{FF2B5EF4-FFF2-40B4-BE49-F238E27FC236}">
                <a16:creationId xmlns:a16="http://schemas.microsoft.com/office/drawing/2014/main" id="{E650469E-DE18-42A4-A8D2-328BE77177AF}"/>
              </a:ext>
            </a:extLst>
          </p:cNvPr>
          <p:cNvCxnSpPr>
            <a:cxnSpLocks/>
          </p:cNvCxnSpPr>
          <p:nvPr/>
        </p:nvCxnSpPr>
        <p:spPr>
          <a:xfrm flipH="1">
            <a:off x="7491846"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0" name="直接连接符 19">
            <a:extLst>
              <a:ext uri="{FF2B5EF4-FFF2-40B4-BE49-F238E27FC236}">
                <a16:creationId xmlns:a16="http://schemas.microsoft.com/office/drawing/2014/main" id="{09F8580B-48CC-40FF-BE46-655EED6188E7}"/>
              </a:ext>
            </a:extLst>
          </p:cNvPr>
          <p:cNvCxnSpPr>
            <a:cxnSpLocks/>
          </p:cNvCxnSpPr>
          <p:nvPr/>
        </p:nvCxnSpPr>
        <p:spPr>
          <a:xfrm flipH="1">
            <a:off x="10879280" y="2527738"/>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1" name="直接连接符 20">
            <a:extLst>
              <a:ext uri="{FF2B5EF4-FFF2-40B4-BE49-F238E27FC236}">
                <a16:creationId xmlns:a16="http://schemas.microsoft.com/office/drawing/2014/main" id="{3F6E8F33-F78D-4748-9849-AA3413EF3AB5}"/>
              </a:ext>
            </a:extLst>
          </p:cNvPr>
          <p:cNvCxnSpPr>
            <a:cxnSpLocks/>
          </p:cNvCxnSpPr>
          <p:nvPr/>
        </p:nvCxnSpPr>
        <p:spPr>
          <a:xfrm flipH="1">
            <a:off x="914399" y="3040356"/>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22" name="直接连接符 21">
            <a:extLst>
              <a:ext uri="{FF2B5EF4-FFF2-40B4-BE49-F238E27FC236}">
                <a16:creationId xmlns:a16="http://schemas.microsoft.com/office/drawing/2014/main" id="{38DD62E3-B4EB-4E15-9E3B-1E81CAFF57D4}"/>
              </a:ext>
            </a:extLst>
          </p:cNvPr>
          <p:cNvCxnSpPr>
            <a:cxnSpLocks/>
          </p:cNvCxnSpPr>
          <p:nvPr/>
        </p:nvCxnSpPr>
        <p:spPr>
          <a:xfrm flipH="1">
            <a:off x="3548497" y="3040356"/>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16" name="矩形 15">
            <a:extLst>
              <a:ext uri="{FF2B5EF4-FFF2-40B4-BE49-F238E27FC236}">
                <a16:creationId xmlns:a16="http://schemas.microsoft.com/office/drawing/2014/main" id="{2B00F625-4759-4C0A-8F30-357FB60608C9}"/>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247675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练习  </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0972800" cy="961289"/>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1. They belong to churches, even though they attend somewhat less frequently, and they want their children to have religious instruction.</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0810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273414BD-4DB3-4BE9-B067-EB8D523D8BB9}"/>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1811076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练习  </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0972800" cy="142295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1. They belong to churches, even though they attend somewhat less frequently, and they want their children to have religious instruction.</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0810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尽管他们去教堂的次数没有从前多，但是他们仍然信教，也希望孩子接受宗教教育。</a:t>
            </a:r>
          </a:p>
        </p:txBody>
      </p:sp>
      <p:cxnSp>
        <p:nvCxnSpPr>
          <p:cNvPr id="16" name="直接连接符 15">
            <a:extLst>
              <a:ext uri="{FF2B5EF4-FFF2-40B4-BE49-F238E27FC236}">
                <a16:creationId xmlns:a16="http://schemas.microsoft.com/office/drawing/2014/main" id="{ED3301EA-47FE-4070-A985-6ACA923459EA}"/>
              </a:ext>
            </a:extLst>
          </p:cNvPr>
          <p:cNvCxnSpPr>
            <a:cxnSpLocks/>
          </p:cNvCxnSpPr>
          <p:nvPr/>
        </p:nvCxnSpPr>
        <p:spPr>
          <a:xfrm flipH="1">
            <a:off x="3929497" y="1576836"/>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7" name="直接连接符 16">
            <a:extLst>
              <a:ext uri="{FF2B5EF4-FFF2-40B4-BE49-F238E27FC236}">
                <a16:creationId xmlns:a16="http://schemas.microsoft.com/office/drawing/2014/main" id="{94074D23-70A4-47E3-85B7-706D8D10D0D6}"/>
              </a:ext>
            </a:extLst>
          </p:cNvPr>
          <p:cNvCxnSpPr>
            <a:cxnSpLocks/>
          </p:cNvCxnSpPr>
          <p:nvPr/>
        </p:nvCxnSpPr>
        <p:spPr>
          <a:xfrm flipH="1">
            <a:off x="7067551" y="1576836"/>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18" name="直接连接符 17">
            <a:extLst>
              <a:ext uri="{FF2B5EF4-FFF2-40B4-BE49-F238E27FC236}">
                <a16:creationId xmlns:a16="http://schemas.microsoft.com/office/drawing/2014/main" id="{B43B68F5-95B3-443E-B705-A93ECC5EB85B}"/>
              </a:ext>
            </a:extLst>
          </p:cNvPr>
          <p:cNvCxnSpPr>
            <a:cxnSpLocks/>
          </p:cNvCxnSpPr>
          <p:nvPr/>
        </p:nvCxnSpPr>
        <p:spPr>
          <a:xfrm flipH="1">
            <a:off x="3506933" y="2089454"/>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7" name="矩形 6">
            <a:extLst>
              <a:ext uri="{FF2B5EF4-FFF2-40B4-BE49-F238E27FC236}">
                <a16:creationId xmlns:a16="http://schemas.microsoft.com/office/drawing/2014/main" id="{D313F535-C8B4-45BD-B323-0DDBEC8C5BD8}"/>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5191862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练习  </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0972800" cy="961289"/>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2. One of the more depressing things about being poor in America is the endless waiting in welfare or unemployment lines.</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0801</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7DABE571-F5D6-4609-A8D7-E9E9334887C0}"/>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221864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练习  </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0972800" cy="142295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2. One of the more depressing things about being poor in America is the endless waiting in welfare or unemployment lines.</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0801</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在美国使穷人更加沮丧的事情之一就是没完没了地排队等候领取福利和失业救济金。</a:t>
            </a:r>
            <a:endParaRPr lang="en-US" altLang="zh-CN" sz="2000" dirty="0">
              <a:latin typeface="微软雅黑" panose="020B0503020204020204" pitchFamily="34" charset="-122"/>
              <a:ea typeface="微软雅黑" panose="020B0503020204020204" pitchFamily="34" charset="-122"/>
            </a:endParaRPr>
          </a:p>
        </p:txBody>
      </p:sp>
      <p:cxnSp>
        <p:nvCxnSpPr>
          <p:cNvPr id="5" name="直接连接符 4">
            <a:extLst>
              <a:ext uri="{FF2B5EF4-FFF2-40B4-BE49-F238E27FC236}">
                <a16:creationId xmlns:a16="http://schemas.microsoft.com/office/drawing/2014/main" id="{A2A11D60-F17B-42F3-97E3-1AA715C278D6}"/>
              </a:ext>
            </a:extLst>
          </p:cNvPr>
          <p:cNvCxnSpPr>
            <a:cxnSpLocks/>
          </p:cNvCxnSpPr>
          <p:nvPr/>
        </p:nvCxnSpPr>
        <p:spPr>
          <a:xfrm flipH="1">
            <a:off x="5155624" y="1562981"/>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直接连接符 6">
            <a:extLst>
              <a:ext uri="{FF2B5EF4-FFF2-40B4-BE49-F238E27FC236}">
                <a16:creationId xmlns:a16="http://schemas.microsoft.com/office/drawing/2014/main" id="{5611E52A-0EE2-420A-B68B-0B6F91AAD3A6}"/>
              </a:ext>
            </a:extLst>
          </p:cNvPr>
          <p:cNvCxnSpPr>
            <a:cxnSpLocks/>
          </p:cNvCxnSpPr>
          <p:nvPr/>
        </p:nvCxnSpPr>
        <p:spPr>
          <a:xfrm flipH="1">
            <a:off x="7393133" y="1562981"/>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直接连接符 7">
            <a:extLst>
              <a:ext uri="{FF2B5EF4-FFF2-40B4-BE49-F238E27FC236}">
                <a16:creationId xmlns:a16="http://schemas.microsoft.com/office/drawing/2014/main" id="{63BF7279-68ED-47C5-85C4-3D70D7AE58B7}"/>
              </a:ext>
            </a:extLst>
          </p:cNvPr>
          <p:cNvCxnSpPr>
            <a:cxnSpLocks/>
          </p:cNvCxnSpPr>
          <p:nvPr/>
        </p:nvCxnSpPr>
        <p:spPr>
          <a:xfrm flipH="1">
            <a:off x="1518806" y="2018149"/>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9" name="矩形 8">
            <a:extLst>
              <a:ext uri="{FF2B5EF4-FFF2-40B4-BE49-F238E27FC236}">
                <a16:creationId xmlns:a16="http://schemas.microsoft.com/office/drawing/2014/main" id="{BB7D840B-49BA-4619-BE27-6F4E9D1EFC2C}"/>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1994666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练习  </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0972800" cy="142295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3. An experienced immigration professional identifies what type of information can be supplied that is most likely to favorably impress the visa officer considering the application.</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0710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4A23F201-0886-40EE-ACD6-C22B9A277B56}"/>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769915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练习  </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0972800" cy="2346283"/>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3. An experienced immigration professional identifies what type of information can be supplied that is most likely to favorably impress the visa officer considering the application.</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0710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有经验的移民公司的专业人员能确认提供哪些信息，最有可能给受理申请的签证官留下良好的印象。</a:t>
            </a:r>
            <a:endParaRPr lang="en-US" altLang="zh-CN" sz="2000" dirty="0">
              <a:latin typeface="微软雅黑" panose="020B0503020204020204" pitchFamily="34" charset="-122"/>
              <a:ea typeface="微软雅黑" panose="020B0503020204020204" pitchFamily="34" charset="-122"/>
            </a:endParaRPr>
          </a:p>
        </p:txBody>
      </p:sp>
      <p:cxnSp>
        <p:nvCxnSpPr>
          <p:cNvPr id="5" name="直接连接符 4">
            <a:extLst>
              <a:ext uri="{FF2B5EF4-FFF2-40B4-BE49-F238E27FC236}">
                <a16:creationId xmlns:a16="http://schemas.microsoft.com/office/drawing/2014/main" id="{ABBFF469-3BC1-4519-A2CD-1D926CE97F87}"/>
              </a:ext>
            </a:extLst>
          </p:cNvPr>
          <p:cNvCxnSpPr>
            <a:cxnSpLocks/>
          </p:cNvCxnSpPr>
          <p:nvPr/>
        </p:nvCxnSpPr>
        <p:spPr>
          <a:xfrm flipH="1">
            <a:off x="7122970" y="1562981"/>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直接连接符 6">
            <a:extLst>
              <a:ext uri="{FF2B5EF4-FFF2-40B4-BE49-F238E27FC236}">
                <a16:creationId xmlns:a16="http://schemas.microsoft.com/office/drawing/2014/main" id="{1A8A6367-6302-423A-A161-280CD4B0A18D}"/>
              </a:ext>
            </a:extLst>
          </p:cNvPr>
          <p:cNvCxnSpPr>
            <a:cxnSpLocks/>
          </p:cNvCxnSpPr>
          <p:nvPr/>
        </p:nvCxnSpPr>
        <p:spPr>
          <a:xfrm flipH="1">
            <a:off x="1636570" y="2075599"/>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9" name="直接连接符 8">
            <a:extLst>
              <a:ext uri="{FF2B5EF4-FFF2-40B4-BE49-F238E27FC236}">
                <a16:creationId xmlns:a16="http://schemas.microsoft.com/office/drawing/2014/main" id="{17E2F480-4FB3-40CB-8323-4461B03B8780}"/>
              </a:ext>
            </a:extLst>
          </p:cNvPr>
          <p:cNvCxnSpPr>
            <a:cxnSpLocks/>
          </p:cNvCxnSpPr>
          <p:nvPr/>
        </p:nvCxnSpPr>
        <p:spPr>
          <a:xfrm flipH="1">
            <a:off x="8264236" y="2075599"/>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8" name="矩形 7">
            <a:extLst>
              <a:ext uri="{FF2B5EF4-FFF2-40B4-BE49-F238E27FC236}">
                <a16:creationId xmlns:a16="http://schemas.microsoft.com/office/drawing/2014/main" id="{AF518DFF-7957-444D-B816-A4DD776F0169}"/>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49804275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练习  </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0972800" cy="1422954"/>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4. But where does one find good conversation these days? Certainly not in the presence of the television set, which consumes half the average Americans nonsleeping, nonworking hours.</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0610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sp>
        <p:nvSpPr>
          <p:cNvPr id="5" name="矩形 4">
            <a:extLst>
              <a:ext uri="{FF2B5EF4-FFF2-40B4-BE49-F238E27FC236}">
                <a16:creationId xmlns:a16="http://schemas.microsoft.com/office/drawing/2014/main" id="{1F3CAB53-96AD-4EB2-AC35-24022DA882F7}"/>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068059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595745" y="477982"/>
            <a:ext cx="7883237" cy="523220"/>
          </a:xfrm>
          <a:prstGeom prst="rect">
            <a:avLst/>
          </a:prstGeom>
          <a:noFill/>
        </p:spPr>
        <p:txBody>
          <a:bodyPr wrap="square" rtlCol="0">
            <a:spAutoFit/>
          </a:bodyPr>
          <a:lstStyle/>
          <a:p>
            <a:r>
              <a:rPr lang="zh-CN" altLang="en-US" sz="2800" b="1" dirty="0"/>
              <a:t>练习  </a:t>
            </a:r>
          </a:p>
        </p:txBody>
      </p:sp>
      <p:sp>
        <p:nvSpPr>
          <p:cNvPr id="6" name="文本框 5">
            <a:extLst>
              <a:ext uri="{FF2B5EF4-FFF2-40B4-BE49-F238E27FC236}">
                <a16:creationId xmlns:a16="http://schemas.microsoft.com/office/drawing/2014/main" id="{D01CBB90-134E-435B-9592-B4C268069AFA}"/>
              </a:ext>
            </a:extLst>
          </p:cNvPr>
          <p:cNvSpPr txBox="1"/>
          <p:nvPr/>
        </p:nvSpPr>
        <p:spPr>
          <a:xfrm>
            <a:off x="595745" y="1562981"/>
            <a:ext cx="10972800" cy="2346283"/>
          </a:xfrm>
          <a:prstGeom prst="rect">
            <a:avLst/>
          </a:prstGeom>
          <a:noFill/>
        </p:spPr>
        <p:txBody>
          <a:bodyPr wrap="square" rtlCol="0">
            <a:spAutoFit/>
          </a:bodyPr>
          <a:lstStyle/>
          <a:p>
            <a:pPr>
              <a:lnSpc>
                <a:spcPct val="150000"/>
              </a:lnSpc>
            </a:pPr>
            <a:r>
              <a:rPr lang="en-US" altLang="zh-CN" sz="2000" dirty="0">
                <a:latin typeface="微软雅黑" panose="020B0503020204020204" pitchFamily="34" charset="-122"/>
                <a:ea typeface="微软雅黑" panose="020B0503020204020204" pitchFamily="34" charset="-122"/>
              </a:rPr>
              <a:t>4. But where does one find good conversation these days? Certainly not in the presence of the television set, which consumes half the average Americans nonsleeping, nonworking hours.</a:t>
            </a:r>
            <a:r>
              <a:rPr lang="zh-CN" altLang="en-US" sz="2000" dirty="0">
                <a:latin typeface="微软雅黑" panose="020B0503020204020204" pitchFamily="34" charset="-122"/>
                <a:ea typeface="微软雅黑" panose="020B0503020204020204" pitchFamily="34" charset="-122"/>
              </a:rPr>
              <a:t>（</a:t>
            </a:r>
            <a:r>
              <a:rPr lang="en-US" altLang="zh-CN" sz="2000" dirty="0">
                <a:latin typeface="微软雅黑" panose="020B0503020204020204" pitchFamily="34" charset="-122"/>
                <a:ea typeface="微软雅黑" panose="020B0503020204020204" pitchFamily="34" charset="-122"/>
              </a:rPr>
              <a:t>0610</a:t>
            </a:r>
            <a:r>
              <a:rPr lang="zh-CN" altLang="en-US" sz="2000" dirty="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a:p>
            <a:pPr>
              <a:lnSpc>
                <a:spcPct val="150000"/>
              </a:lnSpc>
            </a:pPr>
            <a:r>
              <a:rPr lang="zh-CN" altLang="en-US" sz="2000" dirty="0">
                <a:latin typeface="微软雅黑" panose="020B0503020204020204" pitchFamily="34" charset="-122"/>
                <a:ea typeface="微软雅黑" panose="020B0503020204020204" pitchFamily="34" charset="-122"/>
              </a:rPr>
              <a:t>但是现在哪里找良好的交流方式？当然不是在电视上，看电视耗费掉了一般的美国人除睡眠和工作之外的半数的时间。</a:t>
            </a:r>
            <a:endParaRPr lang="en-US" altLang="zh-CN" sz="2000" dirty="0">
              <a:latin typeface="微软雅黑" panose="020B0503020204020204" pitchFamily="34" charset="-122"/>
              <a:ea typeface="微软雅黑" panose="020B0503020204020204" pitchFamily="34" charset="-122"/>
            </a:endParaRPr>
          </a:p>
        </p:txBody>
      </p:sp>
      <p:cxnSp>
        <p:nvCxnSpPr>
          <p:cNvPr id="5" name="直接连接符 4">
            <a:extLst>
              <a:ext uri="{FF2B5EF4-FFF2-40B4-BE49-F238E27FC236}">
                <a16:creationId xmlns:a16="http://schemas.microsoft.com/office/drawing/2014/main" id="{767F4233-7095-4EFC-AD38-20CD8AB687A7}"/>
              </a:ext>
            </a:extLst>
          </p:cNvPr>
          <p:cNvCxnSpPr>
            <a:cxnSpLocks/>
          </p:cNvCxnSpPr>
          <p:nvPr/>
        </p:nvCxnSpPr>
        <p:spPr>
          <a:xfrm flipH="1">
            <a:off x="9381261" y="1562981"/>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7" name="直接连接符 6">
            <a:extLst>
              <a:ext uri="{FF2B5EF4-FFF2-40B4-BE49-F238E27FC236}">
                <a16:creationId xmlns:a16="http://schemas.microsoft.com/office/drawing/2014/main" id="{C3D7BB41-494A-4230-9E83-17C0DC47C1C4}"/>
              </a:ext>
            </a:extLst>
          </p:cNvPr>
          <p:cNvCxnSpPr>
            <a:cxnSpLocks/>
          </p:cNvCxnSpPr>
          <p:nvPr/>
        </p:nvCxnSpPr>
        <p:spPr>
          <a:xfrm flipH="1">
            <a:off x="595745" y="1943981"/>
            <a:ext cx="214746" cy="512618"/>
          </a:xfrm>
          <a:prstGeom prst="line">
            <a:avLst/>
          </a:prstGeom>
        </p:spPr>
        <p:style>
          <a:lnRef idx="3">
            <a:schemeClr val="accent2"/>
          </a:lnRef>
          <a:fillRef idx="0">
            <a:schemeClr val="accent2"/>
          </a:fillRef>
          <a:effectRef idx="2">
            <a:schemeClr val="accent2"/>
          </a:effectRef>
          <a:fontRef idx="minor">
            <a:schemeClr val="tx1"/>
          </a:fontRef>
        </p:style>
      </p:cxnSp>
      <p:cxnSp>
        <p:nvCxnSpPr>
          <p:cNvPr id="8" name="直接连接符 7">
            <a:extLst>
              <a:ext uri="{FF2B5EF4-FFF2-40B4-BE49-F238E27FC236}">
                <a16:creationId xmlns:a16="http://schemas.microsoft.com/office/drawing/2014/main" id="{4ADD98F1-81B4-49A5-9C70-63A9A7F73D3F}"/>
              </a:ext>
            </a:extLst>
          </p:cNvPr>
          <p:cNvCxnSpPr>
            <a:cxnSpLocks/>
          </p:cNvCxnSpPr>
          <p:nvPr/>
        </p:nvCxnSpPr>
        <p:spPr>
          <a:xfrm flipH="1">
            <a:off x="3035879" y="1992472"/>
            <a:ext cx="214746" cy="512618"/>
          </a:xfrm>
          <a:prstGeom prst="line">
            <a:avLst/>
          </a:prstGeom>
        </p:spPr>
        <p:style>
          <a:lnRef idx="3">
            <a:schemeClr val="accent2"/>
          </a:lnRef>
          <a:fillRef idx="0">
            <a:schemeClr val="accent2"/>
          </a:fillRef>
          <a:effectRef idx="2">
            <a:schemeClr val="accent2"/>
          </a:effectRef>
          <a:fontRef idx="minor">
            <a:schemeClr val="tx1"/>
          </a:fontRef>
        </p:style>
      </p:cxnSp>
      <p:sp>
        <p:nvSpPr>
          <p:cNvPr id="9" name="矩形 8">
            <a:extLst>
              <a:ext uri="{FF2B5EF4-FFF2-40B4-BE49-F238E27FC236}">
                <a16:creationId xmlns:a16="http://schemas.microsoft.com/office/drawing/2014/main" id="{8AE2E0B9-9606-4C86-B34B-2B8FD9A0C684}"/>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742393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4465A5-CB12-46E0-B273-9E4CF163A115}"/>
              </a:ext>
            </a:extLst>
          </p:cNvPr>
          <p:cNvSpPr txBox="1"/>
          <p:nvPr/>
        </p:nvSpPr>
        <p:spPr>
          <a:xfrm>
            <a:off x="749964" y="503875"/>
            <a:ext cx="8818418"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36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目录</a:t>
            </a:r>
          </a:p>
        </p:txBody>
      </p:sp>
      <p:sp>
        <p:nvSpPr>
          <p:cNvPr id="6" name="文本框 5">
            <a:extLst>
              <a:ext uri="{FF2B5EF4-FFF2-40B4-BE49-F238E27FC236}">
                <a16:creationId xmlns:a16="http://schemas.microsoft.com/office/drawing/2014/main" id="{CB6437EF-AFBD-4372-9991-212975DB5262}"/>
              </a:ext>
            </a:extLst>
          </p:cNvPr>
          <p:cNvSpPr txBox="1"/>
          <p:nvPr/>
        </p:nvSpPr>
        <p:spPr>
          <a:xfrm>
            <a:off x="2858581" y="2672453"/>
            <a:ext cx="8818418" cy="1669881"/>
          </a:xfrm>
          <a:prstGeom prst="rect">
            <a:avLst/>
          </a:prstGeom>
          <a:noFill/>
        </p:spPr>
        <p:txBody>
          <a:bodyPr wrap="square" rtlCol="0">
            <a:spAutoFit/>
          </a:bodyPr>
          <a:lstStyle/>
          <a:p>
            <a:pPr lvl="0">
              <a:lnSpc>
                <a:spcPct val="150000"/>
              </a:lnSpc>
              <a:defRPr/>
            </a:pPr>
            <a:r>
              <a:rPr kumimoji="0" lang="zh-CN" altLang="en-US" sz="3600" b="1" i="0" u="none" strike="noStrike" kern="1200" cap="none" spc="0" normalizeH="0" baseline="0" noProof="0" dirty="0">
                <a:ln>
                  <a:noFill/>
                </a:ln>
                <a:solidFill>
                  <a:schemeClr val="bg1">
                    <a:lumMod val="85000"/>
                  </a:schemeClr>
                </a:solidFill>
                <a:effectLst/>
                <a:uLnTx/>
                <a:uFillTx/>
                <a:latin typeface="等线" panose="020F0502020204030204"/>
                <a:ea typeface="等线" panose="02010600030101010101" pitchFamily="2" charset="-122"/>
                <a:cs typeface="+mn-cs"/>
              </a:rPr>
              <a:t>一</a:t>
            </a:r>
            <a:r>
              <a:rPr lang="zh-CN" altLang="en-US" sz="3600" b="1" dirty="0">
                <a:solidFill>
                  <a:schemeClr val="bg1">
                    <a:lumMod val="85000"/>
                  </a:schemeClr>
                </a:solidFill>
              </a:rPr>
              <a:t>、题型讲解</a:t>
            </a:r>
            <a:r>
              <a:rPr lang="en-US" altLang="zh-CN" sz="3600" b="1" dirty="0">
                <a:solidFill>
                  <a:schemeClr val="bg1">
                    <a:lumMod val="85000"/>
                  </a:schemeClr>
                </a:solidFill>
              </a:rPr>
              <a:t>——</a:t>
            </a:r>
            <a:r>
              <a:rPr lang="zh-CN" altLang="en-US" sz="3600" b="1" dirty="0">
                <a:solidFill>
                  <a:schemeClr val="bg1">
                    <a:lumMod val="85000"/>
                  </a:schemeClr>
                </a:solidFill>
              </a:rPr>
              <a:t>英译汉</a:t>
            </a:r>
            <a:endParaRPr kumimoji="0" lang="en-US" altLang="zh-CN" sz="3600" b="1" i="0" u="none" strike="noStrike" kern="1200" cap="none" spc="0" normalizeH="0" baseline="0" noProof="0" dirty="0">
              <a:ln>
                <a:noFill/>
              </a:ln>
              <a:solidFill>
                <a:schemeClr val="bg1">
                  <a:lumMod val="85000"/>
                </a:schemeClr>
              </a:solidFill>
              <a:effectLst/>
              <a:uLnTx/>
              <a:uFillTx/>
              <a:latin typeface="等线" panose="020F0502020204030204"/>
              <a:ea typeface="等线" panose="02010600030101010101" pitchFamily="2" charset="-122"/>
            </a:endParaRPr>
          </a:p>
          <a:p>
            <a:pPr lvl="0">
              <a:lnSpc>
                <a:spcPct val="150000"/>
              </a:lnSpc>
              <a:defRPr/>
            </a:pPr>
            <a:r>
              <a:rPr kumimoji="0" lang="zh-CN" altLang="en-US" sz="3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cs typeface="+mn-cs"/>
              </a:rPr>
              <a:t>二、</a:t>
            </a:r>
            <a:r>
              <a:rPr lang="zh-CN" altLang="en-US" sz="3600" b="1" dirty="0">
                <a:solidFill>
                  <a:srgbClr val="FF0000"/>
                </a:solidFill>
              </a:rPr>
              <a:t>课文带读（上册 </a:t>
            </a:r>
            <a:r>
              <a:rPr lang="en-US" altLang="zh-CN" sz="3600" b="1" dirty="0">
                <a:solidFill>
                  <a:srgbClr val="FF0000"/>
                </a:solidFill>
              </a:rPr>
              <a:t>Lesson 7</a:t>
            </a:r>
            <a:r>
              <a:rPr lang="zh-CN" altLang="en-US" sz="3600" b="1" dirty="0">
                <a:solidFill>
                  <a:srgbClr val="FF0000"/>
                </a:solidFill>
              </a:rPr>
              <a:t>）</a:t>
            </a:r>
            <a:endParaRPr kumimoji="0" lang="zh-CN" altLang="en-US" sz="3600" b="1" i="0" u="none" strike="noStrike" kern="1200" cap="none" spc="0" normalizeH="0" baseline="0" noProof="0" dirty="0">
              <a:ln>
                <a:noFill/>
              </a:ln>
              <a:solidFill>
                <a:srgbClr val="FF0000"/>
              </a:solidFill>
              <a:effectLst/>
              <a:uLnTx/>
              <a:uFillTx/>
              <a:latin typeface="等线" panose="020F0502020204030204"/>
              <a:ea typeface="等线" panose="02010600030101010101" pitchFamily="2" charset="-122"/>
            </a:endParaRPr>
          </a:p>
        </p:txBody>
      </p:sp>
      <p:sp>
        <p:nvSpPr>
          <p:cNvPr id="5" name="矩形 4">
            <a:extLst>
              <a:ext uri="{FF2B5EF4-FFF2-40B4-BE49-F238E27FC236}">
                <a16:creationId xmlns:a16="http://schemas.microsoft.com/office/drawing/2014/main" id="{DF464CC3-B201-4378-B789-DAC95EDFB522}"/>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53495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50000"/>
            <a:lum/>
          </a:blip>
          <a:srcRect/>
          <a:stretch>
            <a:fillRect t="-7000" b="-7000"/>
          </a:stretch>
        </a:blip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9C1D02-344F-459A-86C8-706C281250DA}"/>
              </a:ext>
            </a:extLst>
          </p:cNvPr>
          <p:cNvSpPr>
            <a:spLocks noGrp="1"/>
          </p:cNvSpPr>
          <p:nvPr>
            <p:ph type="ctrTitle"/>
          </p:nvPr>
        </p:nvSpPr>
        <p:spPr>
          <a:xfrm>
            <a:off x="942109" y="1808163"/>
            <a:ext cx="9144000" cy="2387600"/>
          </a:xfrm>
        </p:spPr>
        <p:txBody>
          <a:bodyPr>
            <a:normAutofit fontScale="90000"/>
          </a:bodyPr>
          <a:lstStyle/>
          <a:p>
            <a:pPr>
              <a:lnSpc>
                <a:spcPct val="150000"/>
              </a:lnSpc>
            </a:pPr>
            <a:r>
              <a:rPr lang="zh-CN" altLang="en-US" b="1" dirty="0">
                <a:latin typeface="微软雅黑" panose="020B0503020204020204" pitchFamily="34" charset="-122"/>
                <a:ea typeface="微软雅黑" panose="020B0503020204020204" pitchFamily="34" charset="-122"/>
              </a:rPr>
              <a:t>谢谢观看</a:t>
            </a:r>
            <a:br>
              <a:rPr lang="en-US" altLang="zh-CN" b="1" dirty="0">
                <a:latin typeface="微软雅黑" panose="020B0503020204020204" pitchFamily="34" charset="-122"/>
                <a:ea typeface="微软雅黑" panose="020B0503020204020204" pitchFamily="34" charset="-122"/>
              </a:rPr>
            </a:br>
            <a:r>
              <a:rPr lang="en-US" altLang="zh-CN" b="1" dirty="0">
                <a:latin typeface="微软雅黑" panose="020B0503020204020204" pitchFamily="34" charset="-122"/>
                <a:ea typeface="微软雅黑" panose="020B0503020204020204" pitchFamily="34" charset="-122"/>
              </a:rPr>
              <a:t>See You</a:t>
            </a:r>
            <a:endParaRPr lang="zh-CN" altLang="en-US" dirty="0">
              <a:latin typeface="微软雅黑" panose="020B0503020204020204" pitchFamily="34" charset="-122"/>
              <a:ea typeface="微软雅黑" panose="020B0503020204020204" pitchFamily="34" charset="-122"/>
            </a:endParaRPr>
          </a:p>
        </p:txBody>
      </p:sp>
      <p:sp>
        <p:nvSpPr>
          <p:cNvPr id="3" name="矩形 2">
            <a:extLst>
              <a:ext uri="{FF2B5EF4-FFF2-40B4-BE49-F238E27FC236}">
                <a16:creationId xmlns:a16="http://schemas.microsoft.com/office/drawing/2014/main" id="{C1D099DC-BC3D-4BF8-A88D-D047FB08CA3E}"/>
              </a:ext>
            </a:extLst>
          </p:cNvPr>
          <p:cNvSpPr/>
          <p:nvPr/>
        </p:nvSpPr>
        <p:spPr>
          <a:xfrm>
            <a:off x="110119" y="231761"/>
            <a:ext cx="1999265" cy="246221"/>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0005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1.2.14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上册第二课第</a:t>
            </a:r>
            <a:r>
              <a:rPr kumimoji="0" lang="en-US"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14</a:t>
            </a:r>
            <a:r>
              <a:rPr kumimoji="0" lang="zh-CN" altLang="en-US"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rPr>
              <a:t>段</a:t>
            </a:r>
            <a:endParaRPr kumimoji="0" lang="zh-CN" altLang="zh-CN" sz="1000" b="0" i="0" u="none" strike="noStrike" kern="100" cap="none" spc="0" normalizeH="0" baseline="0" noProof="0" dirty="0">
              <a:ln>
                <a:noFill/>
              </a:ln>
              <a:solidFill>
                <a:prstClr val="white">
                  <a:lumMod val="95000"/>
                </a:prstClr>
              </a:solidFill>
              <a:effectLst/>
              <a:uLnTx/>
              <a:uFillTx/>
              <a:latin typeface="宋体" panose="02010600030101010101" pitchFamily="2" charset="-122"/>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15586273"/>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2361</TotalTime>
  <Words>4101</Words>
  <Application>Microsoft Office PowerPoint</Application>
  <PresentationFormat>宽屏</PresentationFormat>
  <Paragraphs>205</Paragraphs>
  <Slides>45</Slides>
  <Notes>6</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45</vt:i4>
      </vt:variant>
    </vt:vector>
  </HeadingPairs>
  <TitlesOfParts>
    <vt:vector size="52" baseType="lpstr">
      <vt:lpstr>Helvetica Neue For Number</vt:lpstr>
      <vt:lpstr>等线</vt:lpstr>
      <vt:lpstr>等线 Light</vt:lpstr>
      <vt:lpstr>宋体</vt:lpstr>
      <vt:lpstr>微软雅黑</vt:lpstr>
      <vt:lpstr>Arial</vt:lpstr>
      <vt:lpstr>Office 主题​​</vt:lpstr>
      <vt:lpstr>高级英语 基础精讲五</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谢谢观看 See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高级英语 基础精讲四</dc:title>
  <dc:creator>shao Archer</dc:creator>
  <cp:lastModifiedBy>shao Archer</cp:lastModifiedBy>
  <cp:revision>72</cp:revision>
  <dcterms:created xsi:type="dcterms:W3CDTF">2019-05-01T09:47:28Z</dcterms:created>
  <dcterms:modified xsi:type="dcterms:W3CDTF">2019-10-18T08:19:36Z</dcterms:modified>
</cp:coreProperties>
</file>