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358" r:id="rId3"/>
    <p:sldId id="330" r:id="rId4"/>
    <p:sldId id="346" r:id="rId5"/>
    <p:sldId id="347" r:id="rId6"/>
    <p:sldId id="345" r:id="rId7"/>
    <p:sldId id="338" r:id="rId8"/>
    <p:sldId id="331" r:id="rId9"/>
    <p:sldId id="344" r:id="rId10"/>
    <p:sldId id="368" r:id="rId11"/>
    <p:sldId id="339" r:id="rId12"/>
    <p:sldId id="332" r:id="rId13"/>
    <p:sldId id="341" r:id="rId14"/>
    <p:sldId id="333" r:id="rId15"/>
    <p:sldId id="337" r:id="rId16"/>
    <p:sldId id="342" r:id="rId17"/>
    <p:sldId id="334" r:id="rId18"/>
    <p:sldId id="336" r:id="rId19"/>
    <p:sldId id="343" r:id="rId20"/>
    <p:sldId id="335" r:id="rId21"/>
    <p:sldId id="359" r:id="rId22"/>
    <p:sldId id="369" r:id="rId23"/>
    <p:sldId id="306" r:id="rId24"/>
    <p:sldId id="351" r:id="rId25"/>
    <p:sldId id="352" r:id="rId26"/>
    <p:sldId id="354" r:id="rId27"/>
    <p:sldId id="355" r:id="rId28"/>
    <p:sldId id="356" r:id="rId29"/>
    <p:sldId id="353" r:id="rId30"/>
    <p:sldId id="479" r:id="rId31"/>
    <p:sldId id="480" r:id="rId32"/>
    <p:sldId id="481" r:id="rId33"/>
    <p:sldId id="303"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090" autoAdjust="0"/>
  </p:normalViewPr>
  <p:slideViewPr>
    <p:cSldViewPr snapToGrid="0">
      <p:cViewPr>
        <p:scale>
          <a:sx n="150" d="100"/>
          <a:sy n="15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DE065-6DB9-4428-923E-84EA5221F41D}"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7ABA02-9AED-4278-8E3B-4A022153E8F3}" type="slidenum">
              <a:rPr lang="zh-CN" altLang="en-US" smtClean="0"/>
              <a:t>‹#›</a:t>
            </a:fld>
            <a:endParaRPr lang="zh-CN" altLang="en-US"/>
          </a:p>
        </p:txBody>
      </p:sp>
    </p:spTree>
    <p:extLst>
      <p:ext uri="{BB962C8B-B14F-4D97-AF65-F5344CB8AC3E}">
        <p14:creationId xmlns:p14="http://schemas.microsoft.com/office/powerpoint/2010/main" val="426747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可口可乐 </a:t>
            </a:r>
            <a:r>
              <a:rPr lang="en-US" altLang="zh-CN" dirty="0"/>
              <a:t>1886</a:t>
            </a:r>
            <a:r>
              <a:rPr lang="zh-CN" altLang="en-US" dirty="0"/>
              <a:t>年</a:t>
            </a:r>
            <a:endParaRPr lang="en-US" altLang="zh-CN" dirty="0"/>
          </a:p>
          <a:p>
            <a:r>
              <a:rPr lang="zh-CN" altLang="en-US" dirty="0"/>
              <a:t>百事可乐</a:t>
            </a:r>
            <a:r>
              <a:rPr lang="en-US" altLang="zh-CN" dirty="0"/>
              <a:t>1903</a:t>
            </a:r>
            <a:r>
              <a:rPr lang="zh-CN" altLang="en-US" dirty="0"/>
              <a:t>年</a:t>
            </a:r>
          </a:p>
        </p:txBody>
      </p:sp>
      <p:sp>
        <p:nvSpPr>
          <p:cNvPr id="4" name="灯片编号占位符 3"/>
          <p:cNvSpPr>
            <a:spLocks noGrp="1"/>
          </p:cNvSpPr>
          <p:nvPr>
            <p:ph type="sldNum" sz="quarter" idx="5"/>
          </p:nvPr>
        </p:nvSpPr>
        <p:spPr/>
        <p:txBody>
          <a:bodyPr/>
          <a:lstStyle/>
          <a:p>
            <a:fld id="{437ABA02-9AED-4278-8E3B-4A022153E8F3}" type="slidenum">
              <a:rPr lang="zh-CN" altLang="en-US" smtClean="0"/>
              <a:t>1</a:t>
            </a:fld>
            <a:endParaRPr lang="zh-CN" altLang="en-US"/>
          </a:p>
        </p:txBody>
      </p:sp>
    </p:spTree>
    <p:extLst>
      <p:ext uri="{BB962C8B-B14F-4D97-AF65-F5344CB8AC3E}">
        <p14:creationId xmlns:p14="http://schemas.microsoft.com/office/powerpoint/2010/main" val="372143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Discharge</a:t>
            </a:r>
            <a:r>
              <a:rPr lang="zh-CN" altLang="en-US" dirty="0"/>
              <a:t>解雇，离开，释放</a:t>
            </a:r>
            <a:endParaRPr lang="en-US" altLang="zh-CN" dirty="0"/>
          </a:p>
          <a:p>
            <a:r>
              <a:rPr lang="en-US" altLang="zh-CN" dirty="0"/>
              <a:t>On a basis</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EA283-2410-4BF5-897E-3573B7A4B12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63339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 tantamount to= be equal to</a:t>
            </a:r>
            <a:r>
              <a:rPr lang="zh-CN" altLang="en-US" dirty="0"/>
              <a:t>等同于</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EA283-2410-4BF5-897E-3573B7A4B12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52666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 into </a:t>
            </a:r>
            <a:r>
              <a:rPr lang="zh-CN" altLang="en-US" dirty="0"/>
              <a:t>被用在</a:t>
            </a:r>
            <a:endParaRPr lang="en-US" altLang="zh-CN" dirty="0"/>
          </a:p>
          <a:p>
            <a:r>
              <a:rPr lang="en-US" altLang="zh-CN" dirty="0"/>
              <a:t>dictatorial</a:t>
            </a:r>
            <a:r>
              <a:rPr lang="zh-CN" altLang="en-US" dirty="0"/>
              <a:t>英 </a:t>
            </a:r>
            <a:r>
              <a:rPr lang="en-US" altLang="zh-CN" dirty="0"/>
              <a:t>[ˌ</a:t>
            </a:r>
            <a:r>
              <a:rPr lang="en-US" altLang="zh-CN" dirty="0" err="1"/>
              <a:t>dɪktəˈtɔːriəl</a:t>
            </a:r>
            <a:r>
              <a:rPr lang="en-US" altLang="zh-CN" dirty="0"/>
              <a:t>]   </a:t>
            </a:r>
            <a:r>
              <a:rPr lang="zh-CN" altLang="en-US" dirty="0"/>
              <a:t>美 </a:t>
            </a:r>
            <a:r>
              <a:rPr lang="en-US" altLang="zh-CN" dirty="0"/>
              <a:t>[ˌ</a:t>
            </a:r>
            <a:r>
              <a:rPr lang="en-US" altLang="zh-CN" dirty="0" err="1"/>
              <a:t>dɪktəˈtɔːriəl</a:t>
            </a:r>
            <a:r>
              <a:rPr lang="en-US" altLang="zh-CN" dirty="0"/>
              <a:t>] </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EA283-2410-4BF5-897E-3573B7A4B12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54418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Rule</a:t>
            </a:r>
            <a:r>
              <a:rPr lang="zh-CN" altLang="en-US" dirty="0"/>
              <a:t>裁决，判定</a:t>
            </a:r>
            <a:endParaRPr lang="en-US" altLang="zh-CN" dirty="0"/>
          </a:p>
          <a:p>
            <a:r>
              <a:rPr lang="en-US" altLang="zh-CN" dirty="0"/>
              <a:t>Section </a:t>
            </a:r>
            <a:r>
              <a:rPr lang="zh-CN" altLang="en-US" dirty="0"/>
              <a:t>部门，部分</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EA283-2410-4BF5-897E-3573B7A4B12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37681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49DD0A-3D73-4A8B-89C3-111A253995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34601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49DD0A-3D73-4A8B-89C3-111A253995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52333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49DD0A-3D73-4A8B-89C3-111A253995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88288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5043F2-B379-469E-8071-9F46844E10D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787FA09-AA6D-4778-A8D7-49D9755874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93B4363-EE1D-4A5A-BC6A-BDCEB0E355D2}"/>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67965DBA-1A79-46F0-98D8-FC3FA17771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1572AA-8CF5-4DE3-9BF7-9E3016243513}"/>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795906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A0911-286D-4629-BB70-5D93986077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2FDB0D-AE21-4FF2-AEF2-7F772AC9F60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88D88D-E353-40BB-B433-54C6A3914065}"/>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4073E47E-41CD-4368-BCDD-4CB18CA83F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A7447E-CE63-41A0-A3AE-2E5132D0B995}"/>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1101978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9A5E8F-AD2E-448A-84BD-2A51A3F5704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741A3F-7BFE-4718-913B-550B9C5D3F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C1E2FF6-572A-4BCB-8AB4-D06CAAF6C82A}"/>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FA5D6443-A663-4890-908D-A143572D9C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B75F79-3C12-4B3E-996D-3C7E107257A6}"/>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1800343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28C5F-82AF-4B97-B3B8-66968CF5F5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B83404-3771-488D-A04A-4A52500827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541AC9C-934F-4492-B90C-F1409D7DB6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B3BEADC-5DC4-467F-982A-2EBB41C6504C}"/>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38D3C54C-4E35-4F47-9D05-54DE1D77530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3B09F9-072B-46AB-B03E-356F6DCEAB3F}"/>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3811068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598DE-EF2B-4789-B9CD-40DB6CEF282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D126734-0268-4F5B-9FE2-4538ACDCFF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434366D-C17D-4238-99E9-2E489A78BE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46F29A-3B9A-4B01-96D4-DC11AAA62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80229BD-60CF-4F38-BCFE-0EB7646FA24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809CD98-87B8-42C4-9B44-DE02A98DF709}"/>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1523A668-CDBC-4949-A86F-9C92C9CF1B6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2C77CA0-EBE0-4AFB-A510-1FAC0C4B7406}"/>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424269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AC718-CA29-466E-9A45-7247EB0B0B2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EAD7515-9121-4BA6-8CA2-1F9F64BDCAE2}"/>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60003225-4334-4704-8862-0880FBD30B0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8770432-D8CB-47B8-96E5-1F60020B6FE5}"/>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2831408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0528237-7D1B-4C9C-8CF7-285C384DAB5C}"/>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17B3DCAE-CF5B-47C2-ADC4-27E7D971509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316C5C5-AADB-401D-8404-EB81460D10F0}"/>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2358344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540A56-A58F-4A7B-B409-BF69FD805F9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9A7F6DC-9A10-4796-B5FB-3934C2AE2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D95DCDE-B213-4C23-9A0A-6143166875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E4BD126-3B4A-455E-9E22-77FCB23D1AD6}"/>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1DB060BD-5644-4ABB-B4BF-33062A7C5A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A697C88-E5EC-4B23-8179-11CBE18F0B55}"/>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2884841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1C4BCB-FC6D-48BA-AF09-E97FD7A7537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437E226-A6B6-4576-B6FD-8023563033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17CF5CE-DD7B-4928-BF1E-03F0B73BD1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776EAA3-BF95-4FA4-BDF1-0312A4D6BA35}"/>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AD879B43-FADB-42D6-B589-16A3030CFD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14BAFB-7E23-4F5B-B383-E50CB90338BE}"/>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364834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5B8D7-FC38-4AA0-A78D-91D9BF96366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B3D1B0-5F76-42A0-9EEE-C0A2A6650E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DB0B1D-D150-4077-AF2E-1DB9641C026D}"/>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B027C0BD-142E-4107-9781-537C96C4E9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7BC537-93B2-401C-84BF-9E6C4A7BC011}"/>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260744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57B1FFE-A26A-43B5-BD29-388EA5C3153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2CF3B3-F277-4E43-9A4C-39164DBA555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C2E43E-BB4E-45C6-866E-DDFE318375CA}"/>
              </a:ext>
            </a:extLst>
          </p:cNvPr>
          <p:cNvSpPr>
            <a:spLocks noGrp="1"/>
          </p:cNvSpPr>
          <p:nvPr>
            <p:ph type="dt" sz="half" idx="10"/>
          </p:nvPr>
        </p:nvSpPr>
        <p:spPr/>
        <p:txBody>
          <a:body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A4947C67-2059-4FD7-95ED-71D3196920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1BBD92-460F-4E65-9552-E4518929CF68}"/>
              </a:ext>
            </a:extLst>
          </p:cNvPr>
          <p:cNvSpPr>
            <a:spLocks noGrp="1"/>
          </p:cNvSpPr>
          <p:nvPr>
            <p:ph type="sldNum" sz="quarter" idx="12"/>
          </p:nvPr>
        </p:nvSpPr>
        <p:spPr/>
        <p:txBody>
          <a:body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4202448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0927A2A-453A-45E7-90D1-003DAF4CA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021085F-FCA9-484C-9E01-854E56EA9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FB4E0AB-8ECA-426A-BFC5-2C27DCA6BE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0E2A7F-E458-48C2-B39F-CEA98D750EA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3DC190C2-94B3-4014-BE2C-D6D88D688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D6BF158-F2B1-4D68-8EE4-02A48FFF77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DB9BFC-F480-48DD-839F-B292C0A98427}" type="slidenum">
              <a:rPr lang="zh-CN" altLang="en-US" smtClean="0"/>
              <a:t>‹#›</a:t>
            </a:fld>
            <a:endParaRPr lang="zh-CN" altLang="en-US"/>
          </a:p>
        </p:txBody>
      </p:sp>
    </p:spTree>
    <p:extLst>
      <p:ext uri="{BB962C8B-B14F-4D97-AF65-F5344CB8AC3E}">
        <p14:creationId xmlns:p14="http://schemas.microsoft.com/office/powerpoint/2010/main" val="725251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基础精讲六</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695D1A16-ECFB-4D66-8BDB-D4A5064297CB}"/>
              </a:ext>
            </a:extLst>
          </p:cNvPr>
          <p:cNvSpPr/>
          <p:nvPr/>
        </p:nvSpPr>
        <p:spPr>
          <a:xfrm>
            <a:off x="270462" y="341993"/>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DAB79B2-2FE7-4C96-A310-1CB23BE9A8B5}"/>
              </a:ext>
            </a:extLst>
          </p:cNvPr>
          <p:cNvSpPr/>
          <p:nvPr/>
        </p:nvSpPr>
        <p:spPr>
          <a:xfrm>
            <a:off x="-60472" y="64994"/>
            <a:ext cx="3969998"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1.1.1.14</a:t>
            </a:r>
            <a:r>
              <a:rPr kumimoji="0" lang="zh-CN" altLang="en-US" sz="12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我想告诉您</a:t>
            </a:r>
            <a:r>
              <a:rPr kumimoji="0" lang="en-US" altLang="zh-CN" sz="12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(I Would Like to Tell You Something)</a:t>
            </a:r>
            <a:endParaRPr kumimoji="0" lang="zh-CN" altLang="en-US" sz="1200" b="0" i="0" u="none" strike="noStrike" kern="1200" cap="none" spc="0" normalizeH="0" baseline="0" noProof="0" dirty="0">
              <a:ln>
                <a:noFill/>
              </a:ln>
              <a:solidFill>
                <a:prstClr val="white">
                  <a:lumMod val="95000"/>
                </a:prstClr>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4EC7DC03-6116-45BE-81A2-4B2EC903F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243" y="3105039"/>
            <a:ext cx="5208629" cy="3067162"/>
          </a:xfrm>
          <a:prstGeom prst="rect">
            <a:avLst/>
          </a:prstGeom>
        </p:spPr>
      </p:pic>
      <p:sp>
        <p:nvSpPr>
          <p:cNvPr id="7" name="文本框 6">
            <a:extLst>
              <a:ext uri="{FF2B5EF4-FFF2-40B4-BE49-F238E27FC236}">
                <a16:creationId xmlns:a16="http://schemas.microsoft.com/office/drawing/2014/main" id="{0AB46537-5F02-4C54-8001-795E3CB5AC23}"/>
              </a:ext>
            </a:extLst>
          </p:cNvPr>
          <p:cNvSpPr txBox="1"/>
          <p:nvPr/>
        </p:nvSpPr>
        <p:spPr>
          <a:xfrm>
            <a:off x="2651347" y="1683328"/>
            <a:ext cx="653241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I Would Like to Tell You Something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我想告诉你</a:t>
            </a:r>
          </a:p>
        </p:txBody>
      </p:sp>
      <p:sp>
        <p:nvSpPr>
          <p:cNvPr id="6" name="矩形 5">
            <a:extLst>
              <a:ext uri="{FF2B5EF4-FFF2-40B4-BE49-F238E27FC236}">
                <a16:creationId xmlns:a16="http://schemas.microsoft.com/office/drawing/2014/main" id="{EEC8EB1F-4EB8-4EBB-8588-6607D2D0B006}"/>
              </a:ext>
            </a:extLst>
          </p:cNvPr>
          <p:cNvSpPr/>
          <p:nvPr/>
        </p:nvSpPr>
        <p:spPr>
          <a:xfrm>
            <a:off x="270462" y="341993"/>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97672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76723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would like to tell you something about what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veterans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（老兵）</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are doing in this country, and about our feeling now that we’ve come back from a war we didn't really want to fight.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我们从一场我们并不想打的战争中返回家园，我想告诉你们退伍军人正在这个国家里做些什么，告诉你们我们的感受。 </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B3226E6-9AA2-4270-B7AF-CF748F35EB91}"/>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25264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little over a week ago we held an investigation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Detroit where over 150 honorably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（光荣地）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discharged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（解雇）</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veterans, many of them highly decorated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（装饰）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testified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（作证）</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war crimes committed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（犯罪）</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Indochina —not isolated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（孤立的）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incidents, but crimes committed on a day-to-day basis with the full awareness of officers at all levels of command. </a:t>
            </a:r>
          </a:p>
        </p:txBody>
      </p:sp>
      <p:sp>
        <p:nvSpPr>
          <p:cNvPr id="5" name="矩形 4">
            <a:extLst>
              <a:ext uri="{FF2B5EF4-FFF2-40B4-BE49-F238E27FC236}">
                <a16:creationId xmlns:a16="http://schemas.microsoft.com/office/drawing/2014/main" id="{D0E78109-8C7A-4EFA-A2DE-06EB73F664A7}"/>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0123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963F327B-A210-4814-A8D8-C478F189B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945" y="1586346"/>
            <a:ext cx="4382746" cy="4485321"/>
          </a:xfrm>
          <a:prstGeom prst="rect">
            <a:avLst/>
          </a:prstGeom>
        </p:spPr>
      </p:pic>
      <p:sp>
        <p:nvSpPr>
          <p:cNvPr id="6" name="矩形 5">
            <a:extLst>
              <a:ext uri="{FF2B5EF4-FFF2-40B4-BE49-F238E27FC236}">
                <a16:creationId xmlns:a16="http://schemas.microsoft.com/office/drawing/2014/main" id="{6B8E6ADB-F63D-49AE-84FE-EB5EDA903674}"/>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02056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little over a week ago we held 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investigation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Detroit where over 150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honorably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（光荣地）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discharged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（解雇）</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veterans, many of them highly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decorated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（装饰）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testified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（作证）</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war crimes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committed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（犯罪）</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Indochina —not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isolated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（孤立的）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incidents, but crimes committed on a day-to-day basis with the full awareness of officers at all levels of command.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一个多星期以前，我们在底特律进行了一次调查，在那里，</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150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多名光荣退伍的老兵，其中许多人曾被授予各种高级勋章，为在印度支那犯下的战争罪行做证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这些罪行并不是孤立的事件，而是每天都在发生，并且各级军官对此都十分清楚。</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8F243E33-272A-45A4-9BCC-DD49688FA9D4}"/>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3198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investigation was not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staged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（举行）</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 that veterans could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spill out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（说出）</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their hearts 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purge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（净化）</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their souls; </a:t>
            </a:r>
            <a:r>
              <a:rPr kumimoji="0" lang="en-US" altLang="zh-CN"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was done to prove that the policy of the United States in Indochina is tantamount</a:t>
            </a:r>
            <a:r>
              <a:rPr kumimoji="0" lang="zh-CN" altLang="en-US"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（相等的）</a:t>
            </a:r>
            <a:r>
              <a:rPr kumimoji="0" lang="en-US" altLang="zh-CN"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genocide</a:t>
            </a:r>
            <a:r>
              <a:rPr kumimoji="0" lang="zh-CN" altLang="en-US"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（种族灭绝）</a:t>
            </a:r>
            <a:r>
              <a:rPr kumimoji="0" lang="en-US" altLang="zh-CN"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that not only the soldiers are responsible for what is happening, but that everyone here in America who has allowed the brutalization</a:t>
            </a:r>
            <a:r>
              <a:rPr kumimoji="0" lang="zh-CN" altLang="en-US"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（兽性，残忍性） </a:t>
            </a:r>
            <a:r>
              <a:rPr kumimoji="0" lang="en-US" altLang="zh-CN"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de-personalization</a:t>
            </a:r>
            <a:r>
              <a:rPr kumimoji="0" lang="zh-CN" altLang="en-US"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（丧失人性） </a:t>
            </a:r>
            <a:r>
              <a:rPr kumimoji="0" lang="en-US" altLang="zh-CN" sz="1800" b="0" i="0" u="none" strike="noStrike" kern="10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go on is responsible. </a:t>
            </a:r>
          </a:p>
        </p:txBody>
      </p:sp>
      <p:sp>
        <p:nvSpPr>
          <p:cNvPr id="5" name="矩形 4">
            <a:extLst>
              <a:ext uri="{FF2B5EF4-FFF2-40B4-BE49-F238E27FC236}">
                <a16:creationId xmlns:a16="http://schemas.microsoft.com/office/drawing/2014/main" id="{A6D403AF-34DB-4728-9133-47893586910D}"/>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590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investigation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 not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staged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（举行）</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 that veterans could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spill out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（说出）</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their hearts 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purge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（净化）</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their souls; it was done to prove that the policy of the United States in Indochina 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tantamount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（相等的）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genocide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（种族灭绝）</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that not only the soldiers are responsible for what is happening, but that everyone here in America who has allowed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brutalization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（兽性，残忍性）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de-personalization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（丧失人性）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go on is responsible.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次调查并不是为了让那些老兵倾吐他们心中多年以来积蓄已久的感情或是消除他们心灵的负罪感，而是为了证实美国在印度支那的政策无异于种族灭绝，不仅仅是美国士兵应对那里发生的一切负责，还有每一个允许这种暴行和冷漠继续下去的美国人。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06211975-8883-4F32-B2FD-7E72213D2AAF}"/>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5443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__________ was not staged so that veterans could spill out their hearts or ________their souls; it was done to prove that the policy of the United States in Indochina is __________ to ___________and that not only the soldiers are responsible for what is happening, but that everyone here in America who has allowed the __________and de-personalization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go on is responsible.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brutalization B.</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genocide C. tantamount D. purge E. investigation</a:t>
            </a:r>
          </a:p>
        </p:txBody>
      </p:sp>
      <p:sp>
        <p:nvSpPr>
          <p:cNvPr id="5" name="矩形 4">
            <a:extLst>
              <a:ext uri="{FF2B5EF4-FFF2-40B4-BE49-F238E27FC236}">
                <a16:creationId xmlns:a16="http://schemas.microsoft.com/office/drawing/2014/main" id="{6728A65A-6BDC-47CF-96D9-F8829B495B06}"/>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70115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investigation</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not staged so that veterans could spill out their hearts 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purge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their souls; it was done to prove that the policy of the United States in Indochina 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tantamount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genocide</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that not only the soldiers are responsible for what is happening, but that everyone here in America who has allowed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brutalization</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de-personalization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go on is responsible.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brutalization B.</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genocide C. tantamount D. purge E. investigation</a:t>
            </a:r>
          </a:p>
        </p:txBody>
      </p:sp>
      <p:sp>
        <p:nvSpPr>
          <p:cNvPr id="5" name="矩形 4">
            <a:extLst>
              <a:ext uri="{FF2B5EF4-FFF2-40B4-BE49-F238E27FC236}">
                <a16:creationId xmlns:a16="http://schemas.microsoft.com/office/drawing/2014/main" id="{E21231DE-7469-4576-8953-F05C714CED4C}"/>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94124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was done also to show that you don‘t start making things right by prosecuting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（起诉）</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William Galley, no matter how guilty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（内疚的）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may be; you also prosecute the men who encouraged the situation. It was done to show that there is not just one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Mylai</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countless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（无数的）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Mylais</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they are continuing every single day. There was an almost total press blackout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（封锁）</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the testimony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（证词）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those veterans.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C7BD5787-9842-4831-AB64-376759C7F2D2}"/>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33959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was done also to show that you don‘t start making things right by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prosecuting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（起诉）</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William Galley, no matter how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guilty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（内疚的）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 may be; you also prosecute the men who encouraged the situation. It was done to show that there is not just one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Mylai</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countless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（无数的）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Mylais</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they are continuing every single day. There was an almost total press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blackout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（封锁）</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testimony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（证词）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those veterans.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这次调查的目的还想告诉大家，不管威廉</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凯利的罪行有多大，仅仅起诉他是错误的，还应该起诉那些造成这种局面的人。这次调查还告诉大家不是只有一个迈莱，而是有无数个迈莱，类似的事件每天都在发生。那些老兵的证词差不多遭到彻底的封锁。</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F5E0EA09-A514-4EBC-99BE-ED3B74EB7FA2}"/>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25544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9</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（从事）</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violence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（暴力）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who have been given a chance to die for the biggest nothing in history. We have returned to this country with a sense of anger and betrayal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（背叛）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which nobody has yet grasped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（理解）</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We’re angry about the same things you are in terms of</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而言）</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policy—a little angrier because our lives were the things used to test those policies. </a:t>
            </a:r>
          </a:p>
        </p:txBody>
      </p:sp>
      <p:sp>
        <p:nvSpPr>
          <p:cNvPr id="5" name="矩形 4">
            <a:extLst>
              <a:ext uri="{FF2B5EF4-FFF2-40B4-BE49-F238E27FC236}">
                <a16:creationId xmlns:a16="http://schemas.microsoft.com/office/drawing/2014/main" id="{BF7F9023-7947-482A-A147-C80BE684D72A}"/>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98191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9</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deal in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（从事）</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violence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（暴力）</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who have been given a chance to die for the biggest nothing in history. We have returned to this country with a sense of anger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betrayal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（背叛）</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which nobody has yet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grasped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We’re angry about the same things you are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terms of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（就</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而言）</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policy—a little angrier because our lives were the things used to test those policies.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但是这个国家不知道它将几百万个战斗人员制造成一种可怕的力量，他们受过从事暴力的训练，并被赋予一个史上最无意义的去牺牲的机会。我们满怀愤怒和被出卖的感觉回到了这个国家，这一点许多人至今还不明白。就政策而言，我们对同样的事情也感到愤怒</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甚至更强烈些，因为用来检验这些政策的东西是我们的生命。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3EFC5D11-3E71-4210-9E02-B4AFCC201915}"/>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01712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F2740A1B-9B58-485D-891C-8D3031293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183836"/>
            <a:ext cx="11009621" cy="5196182"/>
          </a:xfrm>
          <a:prstGeom prst="rect">
            <a:avLst/>
          </a:prstGeom>
        </p:spPr>
      </p:pic>
      <p:sp>
        <p:nvSpPr>
          <p:cNvPr id="5" name="矩形 4">
            <a:extLst>
              <a:ext uri="{FF2B5EF4-FFF2-40B4-BE49-F238E27FC236}">
                <a16:creationId xmlns:a16="http://schemas.microsoft.com/office/drawing/2014/main" id="{C9248B81-7565-47EF-B911-3DE9EEE5D390}"/>
              </a:ext>
            </a:extLst>
          </p:cNvPr>
          <p:cNvSpPr/>
          <p:nvPr/>
        </p:nvSpPr>
        <p:spPr>
          <a:xfrm>
            <a:off x="211196" y="193826"/>
            <a:ext cx="206338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6960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 anger goes beyond the simple policy matters. It goes into the fact that all the things we were told about Vietnam</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（越南）</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found untrue when we got there. We found that too often American men were dying in those rice paddies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（稻田）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want of support from our so-called allies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（联盟）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saw first hand the money—your taxes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（税钱）</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—squandered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（浪费）</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by a corrupt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（腐败的）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dictatorial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（独裁的）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regime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（政权，政体）</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saw that Agnew had a one-sided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（片面的）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idea of who was kept free by the flag, as blacks provided the highest percentage of casualties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（伤亡人数）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5" name="矩形 4">
            <a:extLst>
              <a:ext uri="{FF2B5EF4-FFF2-40B4-BE49-F238E27FC236}">
                <a16:creationId xmlns:a16="http://schemas.microsoft.com/office/drawing/2014/main" id="{97A115C5-4EE8-4E13-A668-33B4D391AF50}"/>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22756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13</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 anger goes beyond the simple policy matters. It goes into the fact that all the things we were told about Vietnam</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（越南）</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found untrue when we got there. We found that too often American men were dying in those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rice paddies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（稻田）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from want of support from our so-called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allies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（联盟）</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saw first hand the money—your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taxes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（税钱）</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squandered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（浪费）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by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corrupt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（腐败的）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dictatorial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（独裁的）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regime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（政权，政体）</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saw that Agnew had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one-sided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（片面的）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idea of who was kept free by the flag, as blacks provided the highest percentage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casualties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（伤亡人数）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我们愤怒的不仅是简单的政策问题，而是等我们到了越南才发现有关越南的一切都是假的。我们发现很多时候美国士兵因为得不到所谓盟军的帮助而死于那些稻田里。我们亲眼看到你们纳税人的钱被一个迅速惨败的独裁政权大肆挥霍。我们还看到阿格纽在有关美国保卫的是谁的自由这一问题上的看法是片面的，因为死伤人员中黑人所占的比例最高。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E464D30F-0ECC-4161-941F-63F8C6E89C31}"/>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7370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A98929EF-9697-4E5D-9B37-EC45CF559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143785"/>
            <a:ext cx="10163319" cy="5056124"/>
          </a:xfrm>
          <a:prstGeom prst="rect">
            <a:avLst/>
          </a:prstGeom>
        </p:spPr>
      </p:pic>
      <p:sp>
        <p:nvSpPr>
          <p:cNvPr id="6" name="矩形 5">
            <a:extLst>
              <a:ext uri="{FF2B5EF4-FFF2-40B4-BE49-F238E27FC236}">
                <a16:creationId xmlns:a16="http://schemas.microsoft.com/office/drawing/2014/main" id="{FA638ACF-73CC-4382-8B52-37F3758987C1}"/>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43242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18</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will also be returning our war medals to Congress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（国会）</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be demanding that the judiciary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（司法部）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this country rule on the Massachusetts bill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（法案）</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which calls for the declaration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（宣布）</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the Vietnam war is unconstitutional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（违宪的）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are asking for the support of all sections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（部分）</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the peace movement because we do not feel that this is a time to be dormant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（静止的）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war is part and parcel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（包裹）</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everything that we are trying to communicate to people of this country. The problem of Vietnam is not just the problem of war and diplomacy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（外交）</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it's a problem of the very basic American idealism that we are trying to question. </a:t>
            </a:r>
          </a:p>
        </p:txBody>
      </p:sp>
      <p:sp>
        <p:nvSpPr>
          <p:cNvPr id="5" name="矩形 4">
            <a:extLst>
              <a:ext uri="{FF2B5EF4-FFF2-40B4-BE49-F238E27FC236}">
                <a16:creationId xmlns:a16="http://schemas.microsoft.com/office/drawing/2014/main" id="{5527C2F7-1061-4B5B-AE56-2BDF493BDE17}"/>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5278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will also be returning our war medals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Congress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（国会）</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be demanding that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judiciary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（司法部）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this country rule on the Massachusetts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bill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（法案）</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which calls for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declaration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（宣布）</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the Vietnam war 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unconstitutional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（违宪的）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are asking for the support of all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sections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（部分）</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peace movement because we do not feel that this is a time to be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dormant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（静止的）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war is part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parcel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everything that we are trying to communicate to people of this country. The problem of Vietnam is not just the problem of war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diplomacy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（外交）</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it's a problem of the very basic American idealism that we are trying to question.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们还要将军功章还给国会，并要求美国的司法部门就宣布越南战争是违反宪法的马萨诸塞法案作出裁决。我们请求和平运动的所有部门支持我们，因为我们认为这不是保持沉默的时候。战争是我们要对这个国家的人们说明的一切事情的核心。越南的问题不仅仅是战争和外交，而是我们对美国最根本的理想主义产生了怀疑。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7F8B6FB1-9BF9-4758-AB51-C5FD27D52AB2}"/>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62249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18</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will also be returning our war medals to Congress and be demanding that the judiciary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this country rule on the Massachusetts _______ which calls for the declaration ______ the Vietnam war is unconstitutional. We are asking for the support of all sections of the peace movement _________ we do not feel that this is a time to be ________. The war is part and parcel of everything that we are trying to communicate to people of this country. The problem of Vietnam is not just the problem of war and __________; it's a problem of the very basic American idealism that we are trying to question.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that B. because C. diplomacy D. dormant E. bill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615F20F0-DF92-4217-8108-24D5F4948ACE}"/>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07550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14</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18</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 will also be returning our war medals to Congress and be demanding that the judiciary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this country rule on the Massachusetts</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bill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which calls for the declaration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Vietnam war is unconstitutional. We are asking for the support of all sections of the peace movement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because</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do not feel that this is a time to be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dormant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war is part and parcel of everything that we are trying to communicate to people of this country. The problem of Vietnam is not just the problem of war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diplomacy</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it's a problem of the very basic American idealism that we are trying to question.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that B. because C. diplomacy D. dormant E. bill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B84F826A-E144-4BC2-B66E-85CDDEB06AD0}"/>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90618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一、课文带读（上册 </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10</a:t>
            </a: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二、题型讲解</a:t>
            </a:r>
            <a:r>
              <a:rPr lang="en-US" altLang="zh-CN" sz="3600" b="1" dirty="0">
                <a:solidFill>
                  <a:prstClr val="black"/>
                </a:solidFill>
                <a:latin typeface="等线" panose="020F0502020204030204"/>
                <a:ea typeface="等线" panose="02010600030101010101" pitchFamily="2" charset="-122"/>
              </a:rPr>
              <a:t>——</a:t>
            </a:r>
            <a:r>
              <a:rPr lang="zh-CN" altLang="en-US" sz="3600" b="1" dirty="0">
                <a:solidFill>
                  <a:prstClr val="black"/>
                </a:solidFill>
                <a:latin typeface="等线" panose="020F0502020204030204"/>
                <a:ea typeface="等线" panose="02010600030101010101" pitchFamily="2" charset="-122"/>
              </a:rPr>
              <a:t>写作题</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613E841C-6700-45EF-8CB4-E17C6F44079D}"/>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089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cs typeface="+mn-cs"/>
              </a:rPr>
              <a:t>一、课文带读（上册 </a:t>
            </a:r>
            <a:r>
              <a:rPr kumimoji="0" lang="en-US" altLang="zh-CN"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cs typeface="+mn-cs"/>
              </a:rPr>
              <a:t>Lesson 10</a:t>
            </a:r>
            <a:r>
              <a:rPr kumimoji="0" lang="zh-CN" altLang="en-US"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srgbClr val="FF0000"/>
                </a:solidFill>
                <a:latin typeface="等线" panose="020F0502020204030204"/>
                <a:ea typeface="等线" panose="02010600030101010101" pitchFamily="2" charset="-122"/>
              </a:rPr>
              <a:t>二、题型讲解</a:t>
            </a:r>
            <a:r>
              <a:rPr lang="en-US" altLang="zh-CN" sz="3600" b="1" dirty="0">
                <a:solidFill>
                  <a:srgbClr val="FF0000"/>
                </a:solidFill>
                <a:latin typeface="等线" panose="020F0502020204030204"/>
                <a:ea typeface="等线" panose="02010600030101010101" pitchFamily="2" charset="-122"/>
              </a:rPr>
              <a:t>——</a:t>
            </a:r>
            <a:r>
              <a:rPr lang="zh-CN" altLang="en-US" sz="3600" b="1" dirty="0">
                <a:solidFill>
                  <a:srgbClr val="FF0000"/>
                </a:solidFill>
                <a:latin typeface="等线" panose="020F0502020204030204"/>
                <a:ea typeface="等线" panose="02010600030101010101" pitchFamily="2" charset="-122"/>
              </a:rPr>
              <a:t>写作题</a:t>
            </a:r>
            <a:endParaRPr kumimoji="0" lang="en-US" altLang="zh-CN"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endParaRPr>
          </a:p>
        </p:txBody>
      </p:sp>
      <p:sp>
        <p:nvSpPr>
          <p:cNvPr id="5" name="矩形 4">
            <a:extLst>
              <a:ext uri="{FF2B5EF4-FFF2-40B4-BE49-F238E27FC236}">
                <a16:creationId xmlns:a16="http://schemas.microsoft.com/office/drawing/2014/main" id="{034B683E-F6B7-44D5-B36B-8A1D2D9A47F3}"/>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2455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890069"/>
          </a:xfrm>
          <a:prstGeom prst="rect">
            <a:avLst/>
          </a:prstGeom>
        </p:spPr>
        <p:txBody>
          <a:bodyPr wrap="square">
            <a:spAutoFit/>
          </a:bodyPr>
          <a:lstStyle/>
          <a:p>
            <a:pPr>
              <a:lnSpc>
                <a:spcPct val="150000"/>
              </a:lnSpc>
            </a:pPr>
            <a:r>
              <a:rPr lang="en-US" altLang="zh-CN" sz="2400" b="1" dirty="0"/>
              <a:t>Why do you think some people choose to work from home? </a:t>
            </a:r>
            <a:r>
              <a:rPr lang="en-US" altLang="zh-CN" b="1" dirty="0"/>
              <a:t> </a:t>
            </a:r>
          </a:p>
          <a:p>
            <a:pPr>
              <a:lnSpc>
                <a:spcPct val="150000"/>
              </a:lnSpc>
            </a:pPr>
            <a:endPar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确定个人观点</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9125F42-9599-4AB6-AB11-3448D67E8232}"/>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96893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859565"/>
          </a:xfrm>
          <a:prstGeom prst="rect">
            <a:avLst/>
          </a:prstGeom>
        </p:spPr>
        <p:txBody>
          <a:bodyPr wrap="square">
            <a:spAutoFit/>
          </a:bodyPr>
          <a:lstStyle/>
          <a:p>
            <a:pPr>
              <a:lnSpc>
                <a:spcPct val="150000"/>
              </a:lnSpc>
            </a:pPr>
            <a:r>
              <a:rPr lang="en-US" altLang="zh-CN" sz="2400" b="1" dirty="0"/>
              <a:t>Why do you think some people choose to work from home? </a:t>
            </a:r>
            <a:r>
              <a:rPr lang="en-US" altLang="zh-CN" b="1" dirty="0"/>
              <a:t> </a:t>
            </a:r>
          </a:p>
          <a:p>
            <a:pPr>
              <a:lnSpc>
                <a:spcPct val="150000"/>
              </a:lnSpc>
            </a:pPr>
            <a:endParaRPr lang="en-US"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确定个人观点</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 prefer to believe that working from home has more advantages than working outside. There are some reasons. </a:t>
            </a:r>
          </a:p>
          <a:p>
            <a:pPr>
              <a:lnSpc>
                <a:spcPct val="150000"/>
              </a:lnSpc>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757CCB4-FFDF-4F9C-A7DD-3E4EE2D727AA}"/>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40002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36729"/>
          </a:xfrm>
          <a:prstGeom prst="rect">
            <a:avLst/>
          </a:prstGeom>
        </p:spPr>
        <p:txBody>
          <a:bodyPr wrap="square">
            <a:spAutoFit/>
          </a:bodyPr>
          <a:lstStyle/>
          <a:p>
            <a:pPr>
              <a:lnSpc>
                <a:spcPct val="150000"/>
              </a:lnSpc>
            </a:pPr>
            <a:r>
              <a:rPr lang="en-US" altLang="zh-CN" sz="2400" b="1" dirty="0"/>
              <a:t>Why do you think some people choose to work from home? </a:t>
            </a:r>
            <a:r>
              <a:rPr lang="en-US" altLang="zh-CN" b="1" dirty="0"/>
              <a:t> </a:t>
            </a:r>
          </a:p>
          <a:p>
            <a:pPr>
              <a:lnSpc>
                <a:spcPct val="150000"/>
              </a:lnSpc>
            </a:pPr>
            <a:endPar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确定个人观点</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 prefer to believe that working from home has more advantages than working outside. There are some reasons. </a:t>
            </a: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 I am given an opportunity of working from home, I will not hesitate for a moment about taking it. Millions of reasons can explain my choice. </a:t>
            </a:r>
          </a:p>
          <a:p>
            <a:pPr>
              <a:lnSpc>
                <a:spcPct val="150000"/>
              </a:lnSpc>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D02B3CFA-A6F1-425B-BE20-3FC31F3E89C5}"/>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72203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469120"/>
          </a:xfrm>
          <a:prstGeom prst="rect">
            <a:avLst/>
          </a:prstGeom>
        </p:spPr>
        <p:txBody>
          <a:bodyPr wrap="square">
            <a:spAutoFit/>
          </a:bodyPr>
          <a:lstStyle/>
          <a:p>
            <a:pPr>
              <a:lnSpc>
                <a:spcPct val="150000"/>
              </a:lnSpc>
            </a:pPr>
            <a:r>
              <a:rPr lang="en-US" altLang="zh-CN" sz="2400" b="1" dirty="0"/>
              <a:t>Why do you think some people choose to work from home? </a:t>
            </a:r>
            <a:r>
              <a:rPr lang="en-US" altLang="zh-CN" b="1" dirty="0"/>
              <a:t> </a:t>
            </a:r>
          </a:p>
          <a:p>
            <a:pPr>
              <a:lnSpc>
                <a:spcPct val="150000"/>
              </a:lnSpc>
            </a:pPr>
            <a:endPar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提出支持论点的论据</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6BFF79F9-0FC2-4095-BBB7-115BEA44FDB7}"/>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72138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15780"/>
          </a:xfrm>
          <a:prstGeom prst="rect">
            <a:avLst/>
          </a:prstGeom>
        </p:spPr>
        <p:txBody>
          <a:bodyPr wrap="square">
            <a:spAutoFit/>
          </a:bodyPr>
          <a:lstStyle/>
          <a:p>
            <a:pPr>
              <a:lnSpc>
                <a:spcPct val="150000"/>
              </a:lnSpc>
            </a:pPr>
            <a:r>
              <a:rPr lang="en-US" altLang="zh-CN" sz="2400" b="1" dirty="0"/>
              <a:t>Why do you think some people choose to work from home? </a:t>
            </a:r>
            <a:r>
              <a:rPr lang="en-US" altLang="zh-CN" b="1" dirty="0"/>
              <a:t> </a:t>
            </a:r>
          </a:p>
          <a:p>
            <a:pPr>
              <a:lnSpc>
                <a:spcPct val="150000"/>
              </a:lnSpc>
            </a:pPr>
            <a:endPar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提出支持论点的论据</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First</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 will not have to spend two or three hours on the subway every day any more, because I can work just after having breakfast at home. Second, it appeals to me that I will own an independent room and work alone so that I can enjoy the quietness of working. Third, working from home gives me enough time to accompany my family. </a:t>
            </a:r>
          </a:p>
        </p:txBody>
      </p:sp>
      <p:sp>
        <p:nvSpPr>
          <p:cNvPr id="5" name="矩形 4">
            <a:extLst>
              <a:ext uri="{FF2B5EF4-FFF2-40B4-BE49-F238E27FC236}">
                <a16:creationId xmlns:a16="http://schemas.microsoft.com/office/drawing/2014/main" id="{5EFE96EA-EA24-4011-92B9-2D74D628BF12}"/>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414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96EC93-5EDF-4B6A-987E-C11B0796099C}"/>
              </a:ext>
            </a:extLst>
          </p:cNvPr>
          <p:cNvSpPr/>
          <p:nvPr/>
        </p:nvSpPr>
        <p:spPr>
          <a:xfrm>
            <a:off x="595745" y="2233721"/>
            <a:ext cx="10980058" cy="540341"/>
          </a:xfrm>
          <a:prstGeom prst="rect">
            <a:avLst/>
          </a:prstGeom>
        </p:spPr>
        <p:txBody>
          <a:bodyPr wrap="square">
            <a:spAutoFit/>
          </a:bodyPr>
          <a:lstStyle/>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① </a:t>
            </a:r>
            <a:r>
              <a:rPr lang="zh-CN" altLang="en-US" sz="2200" dirty="0">
                <a:solidFill>
                  <a:srgbClr val="FF0000"/>
                </a:solidFill>
                <a:latin typeface="微软雅黑" panose="020B0503020204020204" pitchFamily="34" charset="-122"/>
                <a:ea typeface="微软雅黑" panose="020B0503020204020204" pitchFamily="34" charset="-122"/>
              </a:rPr>
              <a:t>词数要足够</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建议写</a:t>
            </a:r>
            <a:r>
              <a:rPr lang="en-US" altLang="zh-CN" sz="2200" dirty="0">
                <a:solidFill>
                  <a:prstClr val="black"/>
                </a:solidFill>
                <a:latin typeface="微软雅黑" panose="020B0503020204020204" pitchFamily="34" charset="-122"/>
                <a:ea typeface="微软雅黑" panose="020B0503020204020204" pitchFamily="34" charset="-122"/>
              </a:rPr>
              <a:t>90-110</a:t>
            </a:r>
            <a:r>
              <a:rPr lang="zh-CN" altLang="en-US" sz="2200" dirty="0">
                <a:solidFill>
                  <a:prstClr val="black"/>
                </a:solidFill>
                <a:latin typeface="微软雅黑" panose="020B0503020204020204" pitchFamily="34" charset="-122"/>
                <a:ea typeface="微软雅黑" panose="020B0503020204020204" pitchFamily="34" charset="-122"/>
              </a:rPr>
              <a:t>词</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DB9A792-0AD2-4C5F-A083-A60EE72AB5EB}"/>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3. </a:t>
            </a:r>
            <a:r>
              <a:rPr lang="zh-CN" altLang="en-US" sz="2000" b="1" dirty="0"/>
              <a:t>注意事项</a:t>
            </a:r>
          </a:p>
        </p:txBody>
      </p:sp>
      <p:sp>
        <p:nvSpPr>
          <p:cNvPr id="6" name="文本框 5">
            <a:extLst>
              <a:ext uri="{FF2B5EF4-FFF2-40B4-BE49-F238E27FC236}">
                <a16:creationId xmlns:a16="http://schemas.microsoft.com/office/drawing/2014/main" id="{9C8A675B-8B06-4FCE-95D2-FA41C6E3E3E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5" name="矩形 4">
            <a:extLst>
              <a:ext uri="{FF2B5EF4-FFF2-40B4-BE49-F238E27FC236}">
                <a16:creationId xmlns:a16="http://schemas.microsoft.com/office/drawing/2014/main" id="{466C8CB1-17C4-4039-80F2-4C3ADA5CEBDC}"/>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2114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96EC93-5EDF-4B6A-987E-C11B0796099C}"/>
              </a:ext>
            </a:extLst>
          </p:cNvPr>
          <p:cNvSpPr/>
          <p:nvPr/>
        </p:nvSpPr>
        <p:spPr>
          <a:xfrm>
            <a:off x="595745" y="2233721"/>
            <a:ext cx="10980058" cy="1048172"/>
          </a:xfrm>
          <a:prstGeom prst="rect">
            <a:avLst/>
          </a:prstGeom>
        </p:spPr>
        <p:txBody>
          <a:bodyPr wrap="square">
            <a:spAutoFit/>
          </a:bodyPr>
          <a:lstStyle/>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① </a:t>
            </a:r>
            <a:r>
              <a:rPr lang="zh-CN" altLang="en-US" sz="2200" dirty="0">
                <a:solidFill>
                  <a:srgbClr val="FF0000"/>
                </a:solidFill>
                <a:latin typeface="微软雅黑" panose="020B0503020204020204" pitchFamily="34" charset="-122"/>
                <a:ea typeface="微软雅黑" panose="020B0503020204020204" pitchFamily="34" charset="-122"/>
              </a:rPr>
              <a:t>词数要足够</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建议写</a:t>
            </a:r>
            <a:r>
              <a:rPr lang="en-US" altLang="zh-CN" sz="2200">
                <a:solidFill>
                  <a:prstClr val="black"/>
                </a:solidFill>
                <a:latin typeface="微软雅黑" panose="020B0503020204020204" pitchFamily="34" charset="-122"/>
                <a:ea typeface="微软雅黑" panose="020B0503020204020204" pitchFamily="34" charset="-122"/>
              </a:rPr>
              <a:t>90-110</a:t>
            </a:r>
            <a:r>
              <a:rPr lang="zh-CN" altLang="en-US" sz="2200" dirty="0">
                <a:solidFill>
                  <a:prstClr val="black"/>
                </a:solidFill>
                <a:latin typeface="微软雅黑" panose="020B0503020204020204" pitchFamily="34" charset="-122"/>
                <a:ea typeface="微软雅黑" panose="020B0503020204020204" pitchFamily="34" charset="-122"/>
              </a:rPr>
              <a:t>词</a:t>
            </a:r>
            <a:endParaRPr lang="en-US" altLang="zh-CN" sz="2200" dirty="0">
              <a:solidFill>
                <a:prstClr val="black"/>
              </a:solidFill>
              <a:latin typeface="微软雅黑" panose="020B0503020204020204" pitchFamily="34" charset="-122"/>
              <a:ea typeface="微软雅黑" panose="020B0503020204020204" pitchFamily="34" charset="-122"/>
            </a:endParaRPr>
          </a:p>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② 卷面整洁，字迹工整</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写错了轻轻划一下</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DB9A792-0AD2-4C5F-A083-A60EE72AB5EB}"/>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3. </a:t>
            </a:r>
            <a:r>
              <a:rPr lang="zh-CN" altLang="en-US" sz="2000" b="1" dirty="0"/>
              <a:t>注意事项</a:t>
            </a:r>
          </a:p>
        </p:txBody>
      </p:sp>
      <p:sp>
        <p:nvSpPr>
          <p:cNvPr id="6" name="文本框 5">
            <a:extLst>
              <a:ext uri="{FF2B5EF4-FFF2-40B4-BE49-F238E27FC236}">
                <a16:creationId xmlns:a16="http://schemas.microsoft.com/office/drawing/2014/main" id="{9C8A675B-8B06-4FCE-95D2-FA41C6E3E3E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5" name="矩形 4">
            <a:extLst>
              <a:ext uri="{FF2B5EF4-FFF2-40B4-BE49-F238E27FC236}">
                <a16:creationId xmlns:a16="http://schemas.microsoft.com/office/drawing/2014/main" id="{C538E8AA-F5E7-4F67-BF1E-B4E212B84A5D}"/>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80084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96EC93-5EDF-4B6A-987E-C11B0796099C}"/>
              </a:ext>
            </a:extLst>
          </p:cNvPr>
          <p:cNvSpPr/>
          <p:nvPr/>
        </p:nvSpPr>
        <p:spPr>
          <a:xfrm>
            <a:off x="595745" y="2233721"/>
            <a:ext cx="10980058" cy="1556003"/>
          </a:xfrm>
          <a:prstGeom prst="rect">
            <a:avLst/>
          </a:prstGeom>
        </p:spPr>
        <p:txBody>
          <a:bodyPr wrap="square">
            <a:spAutoFit/>
          </a:bodyPr>
          <a:lstStyle/>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① </a:t>
            </a:r>
            <a:r>
              <a:rPr lang="zh-CN" altLang="en-US" sz="2200" dirty="0">
                <a:solidFill>
                  <a:srgbClr val="FF0000"/>
                </a:solidFill>
                <a:latin typeface="微软雅黑" panose="020B0503020204020204" pitchFamily="34" charset="-122"/>
                <a:ea typeface="微软雅黑" panose="020B0503020204020204" pitchFamily="34" charset="-122"/>
              </a:rPr>
              <a:t>词数要足够</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建议写</a:t>
            </a:r>
            <a:r>
              <a:rPr lang="en-US" altLang="zh-CN" sz="2200" dirty="0">
                <a:solidFill>
                  <a:prstClr val="black"/>
                </a:solidFill>
                <a:latin typeface="微软雅黑" panose="020B0503020204020204" pitchFamily="34" charset="-122"/>
                <a:ea typeface="微软雅黑" panose="020B0503020204020204" pitchFamily="34" charset="-122"/>
              </a:rPr>
              <a:t>90-110</a:t>
            </a:r>
            <a:r>
              <a:rPr lang="zh-CN" altLang="en-US" sz="2200" dirty="0">
                <a:solidFill>
                  <a:prstClr val="black"/>
                </a:solidFill>
                <a:latin typeface="微软雅黑" panose="020B0503020204020204" pitchFamily="34" charset="-122"/>
                <a:ea typeface="微软雅黑" panose="020B0503020204020204" pitchFamily="34" charset="-122"/>
              </a:rPr>
              <a:t>词</a:t>
            </a:r>
            <a:endParaRPr lang="en-US" altLang="zh-CN" sz="2200" dirty="0">
              <a:solidFill>
                <a:prstClr val="black"/>
              </a:solidFill>
              <a:latin typeface="微软雅黑" panose="020B0503020204020204" pitchFamily="34" charset="-122"/>
              <a:ea typeface="微软雅黑" panose="020B0503020204020204" pitchFamily="34" charset="-122"/>
            </a:endParaRPr>
          </a:p>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② 卷面整洁，字迹工整</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写错了轻轻划一下</a:t>
            </a:r>
            <a:endParaRPr lang="en-US" altLang="zh-CN" sz="2200" dirty="0">
              <a:solidFill>
                <a:prstClr val="black"/>
              </a:solidFill>
              <a:latin typeface="微软雅黑" panose="020B0503020204020204" pitchFamily="34" charset="-122"/>
              <a:ea typeface="微软雅黑" panose="020B0503020204020204" pitchFamily="34" charset="-122"/>
            </a:endParaRPr>
          </a:p>
          <a:p>
            <a:pPr lvl="0">
              <a:lnSpc>
                <a:spcPct val="150000"/>
              </a:lnSpc>
              <a:defRPr/>
            </a:pPr>
            <a:r>
              <a:rPr lang="zh-CN" altLang="en-US" sz="2200" dirty="0">
                <a:solidFill>
                  <a:prstClr val="black"/>
                </a:solidFill>
                <a:latin typeface="微软雅黑" panose="020B0503020204020204" pitchFamily="34" charset="-122"/>
                <a:ea typeface="微软雅黑" panose="020B0503020204020204" pitchFamily="34" charset="-122"/>
              </a:rPr>
              <a:t>③ 完成后检查单词拼写和语法</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单数第三人称，时态等问题</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DB9A792-0AD2-4C5F-A083-A60EE72AB5EB}"/>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3. </a:t>
            </a:r>
            <a:r>
              <a:rPr lang="zh-CN" altLang="en-US" sz="2000" b="1" dirty="0"/>
              <a:t>注意事项</a:t>
            </a:r>
          </a:p>
        </p:txBody>
      </p:sp>
      <p:sp>
        <p:nvSpPr>
          <p:cNvPr id="6" name="文本框 5">
            <a:extLst>
              <a:ext uri="{FF2B5EF4-FFF2-40B4-BE49-F238E27FC236}">
                <a16:creationId xmlns:a16="http://schemas.microsoft.com/office/drawing/2014/main" id="{9C8A675B-8B06-4FCE-95D2-FA41C6E3E3E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写作题</a:t>
            </a:r>
          </a:p>
        </p:txBody>
      </p:sp>
      <p:sp>
        <p:nvSpPr>
          <p:cNvPr id="5" name="矩形 4">
            <a:extLst>
              <a:ext uri="{FF2B5EF4-FFF2-40B4-BE49-F238E27FC236}">
                <a16:creationId xmlns:a16="http://schemas.microsoft.com/office/drawing/2014/main" id="{AFB1F90F-6E1D-4775-9EC5-C1278EB7D629}"/>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67732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13000" b="-13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1447206"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726B4A8A-3D97-4454-A277-B4434D68189B}"/>
              </a:ext>
            </a:extLst>
          </p:cNvPr>
          <p:cNvSpPr/>
          <p:nvPr/>
        </p:nvSpPr>
        <p:spPr>
          <a:xfrm>
            <a:off x="211196" y="193826"/>
            <a:ext cx="2191626"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1.14.19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上册第十四课第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1341</TotalTime>
  <Words>3041</Words>
  <Application>Microsoft Office PowerPoint</Application>
  <PresentationFormat>宽屏</PresentationFormat>
  <Paragraphs>149</Paragraphs>
  <Slides>33</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Helvetica Neue For Number</vt:lpstr>
      <vt:lpstr>等线</vt:lpstr>
      <vt:lpstr>等线 Light</vt:lpstr>
      <vt:lpstr>宋体</vt:lpstr>
      <vt:lpstr>微软雅黑</vt:lpstr>
      <vt:lpstr>Arial</vt:lpstr>
      <vt:lpstr>Office 主题​​</vt:lpstr>
      <vt:lpstr>高级英语 基础精讲六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基础精讲六</dc:title>
  <dc:creator>shao Archer</dc:creator>
  <cp:lastModifiedBy>shao Archer</cp:lastModifiedBy>
  <cp:revision>77</cp:revision>
  <dcterms:created xsi:type="dcterms:W3CDTF">2019-05-03T11:39:52Z</dcterms:created>
  <dcterms:modified xsi:type="dcterms:W3CDTF">2019-10-18T08:30:42Z</dcterms:modified>
</cp:coreProperties>
</file>