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0"/>
  </p:notesMasterIdLst>
  <p:sldIdLst>
    <p:sldId id="257" r:id="rId2"/>
    <p:sldId id="273" r:id="rId3"/>
    <p:sldId id="272" r:id="rId4"/>
    <p:sldId id="275" r:id="rId5"/>
    <p:sldId id="293" r:id="rId6"/>
    <p:sldId id="274" r:id="rId7"/>
    <p:sldId id="286" r:id="rId8"/>
    <p:sldId id="295" r:id="rId9"/>
    <p:sldId id="281" r:id="rId10"/>
    <p:sldId id="276" r:id="rId11"/>
    <p:sldId id="287" r:id="rId12"/>
    <p:sldId id="296" r:id="rId13"/>
    <p:sldId id="282" r:id="rId14"/>
    <p:sldId id="277" r:id="rId15"/>
    <p:sldId id="283" r:id="rId16"/>
    <p:sldId id="278" r:id="rId17"/>
    <p:sldId id="284" r:id="rId18"/>
    <p:sldId id="279" r:id="rId19"/>
    <p:sldId id="288" r:id="rId20"/>
    <p:sldId id="285" r:id="rId21"/>
    <p:sldId id="291" r:id="rId22"/>
    <p:sldId id="297" r:id="rId23"/>
    <p:sldId id="290" r:id="rId24"/>
    <p:sldId id="280" r:id="rId25"/>
    <p:sldId id="289" r:id="rId26"/>
    <p:sldId id="306" r:id="rId27"/>
    <p:sldId id="354" r:id="rId28"/>
    <p:sldId id="368" r:id="rId29"/>
    <p:sldId id="369" r:id="rId30"/>
    <p:sldId id="370" r:id="rId31"/>
    <p:sldId id="371" r:id="rId32"/>
    <p:sldId id="372" r:id="rId33"/>
    <p:sldId id="373" r:id="rId34"/>
    <p:sldId id="374" r:id="rId35"/>
    <p:sldId id="375" r:id="rId36"/>
    <p:sldId id="376" r:id="rId37"/>
    <p:sldId id="377" r:id="rId38"/>
    <p:sldId id="303" r:id="rId3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6444" autoAdjust="0"/>
  </p:normalViewPr>
  <p:slideViewPr>
    <p:cSldViewPr snapToGrid="0">
      <p:cViewPr varScale="1">
        <p:scale>
          <a:sx n="75" d="100"/>
          <a:sy n="75" d="100"/>
        </p:scale>
        <p:origin x="704" y="80"/>
      </p:cViewPr>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72C6AD7-4BA0-4BE6-BCB5-903E4943200B}" type="datetimeFigureOut">
              <a:rPr lang="zh-CN" altLang="en-US" smtClean="0"/>
              <a:t>2019/10/18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F83F26-B56A-4E51-8210-7C9262257ED5}" type="slidenum">
              <a:rPr lang="zh-CN" altLang="en-US" smtClean="0"/>
              <a:t>‹#›</a:t>
            </a:fld>
            <a:endParaRPr lang="zh-CN" altLang="en-US"/>
          </a:p>
        </p:txBody>
      </p:sp>
    </p:spTree>
    <p:extLst>
      <p:ext uri="{BB962C8B-B14F-4D97-AF65-F5344CB8AC3E}">
        <p14:creationId xmlns:p14="http://schemas.microsoft.com/office/powerpoint/2010/main" val="39897309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cs typeface="+mn-cs"/>
              </a:rPr>
              <a:t>bachelor </a:t>
            </a:r>
            <a:r>
              <a:rPr lang="zh-CN" altLang="zh-CN" sz="1200" kern="1200" dirty="0">
                <a:solidFill>
                  <a:schemeClr val="tx1"/>
                </a:solidFill>
                <a:effectLst/>
                <a:latin typeface="+mn-lt"/>
                <a:ea typeface="+mn-ea"/>
                <a:cs typeface="+mn-cs"/>
              </a:rPr>
              <a:t>学士</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单身汉</a:t>
            </a:r>
            <a:r>
              <a:rPr lang="en-US" altLang="zh-CN" sz="1200" kern="1200" dirty="0">
                <a:solidFill>
                  <a:schemeClr val="tx1"/>
                </a:solidFill>
                <a:effectLst/>
                <a:latin typeface="+mn-lt"/>
                <a:ea typeface="+mn-ea"/>
                <a:cs typeface="+mn-cs"/>
              </a:rPr>
              <a:t> master </a:t>
            </a:r>
            <a:r>
              <a:rPr lang="zh-CN" altLang="zh-CN" sz="1200" kern="1200" dirty="0">
                <a:solidFill>
                  <a:schemeClr val="tx1"/>
                </a:solidFill>
                <a:effectLst/>
                <a:latin typeface="+mn-lt"/>
                <a:ea typeface="+mn-ea"/>
                <a:cs typeface="+mn-cs"/>
              </a:rPr>
              <a:t>硕士</a:t>
            </a:r>
            <a:r>
              <a:rPr lang="en-US" altLang="zh-CN" sz="1200" kern="1200" dirty="0">
                <a:solidFill>
                  <a:schemeClr val="tx1"/>
                </a:solidFill>
                <a:effectLst/>
                <a:latin typeface="+mn-lt"/>
                <a:ea typeface="+mn-ea"/>
                <a:cs typeface="+mn-cs"/>
              </a:rPr>
              <a:t> doctor </a:t>
            </a:r>
            <a:r>
              <a:rPr lang="zh-CN" altLang="zh-CN" sz="1200" kern="1200" dirty="0">
                <a:solidFill>
                  <a:schemeClr val="tx1"/>
                </a:solidFill>
                <a:effectLst/>
                <a:latin typeface="+mn-lt"/>
                <a:ea typeface="+mn-ea"/>
                <a:cs typeface="+mn-cs"/>
              </a:rPr>
              <a:t>博士</a:t>
            </a:r>
          </a:p>
          <a:p>
            <a:r>
              <a:rPr lang="en-US" altLang="zh-CN" sz="1200" kern="1200" dirty="0">
                <a:solidFill>
                  <a:schemeClr val="tx1"/>
                </a:solidFill>
                <a:effectLst/>
                <a:latin typeface="+mn-lt"/>
                <a:ea typeface="+mn-ea"/>
                <a:cs typeface="+mn-cs"/>
              </a:rPr>
              <a:t>Astronomer </a:t>
            </a:r>
            <a:r>
              <a:rPr lang="zh-CN" altLang="zh-CN" sz="1200" kern="1200" dirty="0">
                <a:solidFill>
                  <a:schemeClr val="tx1"/>
                </a:solidFill>
                <a:effectLst/>
                <a:latin typeface="+mn-lt"/>
                <a:ea typeface="+mn-ea"/>
                <a:cs typeface="+mn-cs"/>
              </a:rPr>
              <a:t>天文学家</a:t>
            </a:r>
            <a:r>
              <a:rPr lang="en-US" altLang="zh-CN" sz="1200" kern="1200" dirty="0">
                <a:solidFill>
                  <a:schemeClr val="tx1"/>
                </a:solidFill>
                <a:effectLst/>
                <a:latin typeface="+mn-lt"/>
                <a:ea typeface="+mn-ea"/>
                <a:cs typeface="+mn-cs"/>
              </a:rPr>
              <a:t> astronaut </a:t>
            </a:r>
            <a:r>
              <a:rPr lang="zh-CN" altLang="zh-CN" sz="1200" kern="1200" dirty="0">
                <a:solidFill>
                  <a:schemeClr val="tx1"/>
                </a:solidFill>
                <a:effectLst/>
                <a:latin typeface="+mn-lt"/>
                <a:ea typeface="+mn-ea"/>
                <a:cs typeface="+mn-cs"/>
              </a:rPr>
              <a:t>宇航员</a:t>
            </a:r>
            <a:r>
              <a:rPr lang="en-US" altLang="zh-CN" sz="1200" kern="1200" dirty="0">
                <a:solidFill>
                  <a:schemeClr val="tx1"/>
                </a:solidFill>
                <a:effectLst/>
                <a:latin typeface="+mn-lt"/>
                <a:ea typeface="+mn-ea"/>
                <a:cs typeface="+mn-cs"/>
              </a:rPr>
              <a:t> astrology </a:t>
            </a:r>
            <a:r>
              <a:rPr lang="zh-CN" altLang="zh-CN" sz="1200" kern="1200" dirty="0">
                <a:solidFill>
                  <a:schemeClr val="tx1"/>
                </a:solidFill>
                <a:effectLst/>
                <a:latin typeface="+mn-lt"/>
                <a:ea typeface="+mn-ea"/>
                <a:cs typeface="+mn-cs"/>
              </a:rPr>
              <a:t>占星术</a:t>
            </a:r>
            <a:r>
              <a:rPr lang="en-US" altLang="zh-CN" sz="1200" kern="1200" dirty="0">
                <a:solidFill>
                  <a:schemeClr val="tx1"/>
                </a:solidFill>
                <a:effectLst/>
                <a:latin typeface="+mn-lt"/>
                <a:ea typeface="+mn-ea"/>
                <a:cs typeface="+mn-cs"/>
              </a:rPr>
              <a:t> astronomy </a:t>
            </a:r>
            <a:r>
              <a:rPr lang="zh-CN" altLang="zh-CN" sz="1200" kern="1200" dirty="0">
                <a:solidFill>
                  <a:schemeClr val="tx1"/>
                </a:solidFill>
                <a:effectLst/>
                <a:latin typeface="+mn-lt"/>
                <a:ea typeface="+mn-ea"/>
                <a:cs typeface="+mn-cs"/>
              </a:rPr>
              <a:t>天文学</a:t>
            </a:r>
          </a:p>
          <a:p>
            <a:r>
              <a:rPr lang="zh-CN" altLang="zh-CN" sz="1200" kern="1200" dirty="0">
                <a:solidFill>
                  <a:schemeClr val="tx1"/>
                </a:solidFill>
                <a:effectLst/>
                <a:latin typeface="+mn-lt"/>
                <a:ea typeface="+mn-ea"/>
                <a:cs typeface="+mn-cs"/>
              </a:rPr>
              <a:t>荷马史诗 陀思妥耶夫斯基《罪与罚》</a:t>
            </a:r>
          </a:p>
          <a:p>
            <a:pPr lvl="0"/>
            <a:r>
              <a:rPr lang="en-US" altLang="zh-CN" sz="1200" kern="1200" dirty="0">
                <a:solidFill>
                  <a:schemeClr val="tx1"/>
                </a:solidFill>
                <a:effectLst/>
                <a:latin typeface="+mn-lt"/>
                <a:ea typeface="+mn-ea"/>
                <a:cs typeface="+mn-cs"/>
              </a:rPr>
              <a:t>Calculate </a:t>
            </a:r>
            <a:r>
              <a:rPr lang="zh-CN" altLang="zh-CN" sz="1200" kern="1200" dirty="0">
                <a:solidFill>
                  <a:schemeClr val="tx1"/>
                </a:solidFill>
                <a:effectLst/>
                <a:latin typeface="+mn-lt"/>
                <a:ea typeface="+mn-ea"/>
                <a:cs typeface="+mn-cs"/>
              </a:rPr>
              <a:t>计算</a:t>
            </a:r>
            <a:r>
              <a:rPr lang="en-US" altLang="zh-CN" sz="1200" kern="1200" dirty="0">
                <a:solidFill>
                  <a:schemeClr val="tx1"/>
                </a:solidFill>
                <a:effectLst/>
                <a:latin typeface="+mn-lt"/>
                <a:ea typeface="+mn-ea"/>
                <a:cs typeface="+mn-cs"/>
              </a:rPr>
              <a:t> calculator </a:t>
            </a:r>
            <a:r>
              <a:rPr lang="zh-CN" altLang="zh-CN" sz="1200" kern="1200" dirty="0">
                <a:solidFill>
                  <a:schemeClr val="tx1"/>
                </a:solidFill>
                <a:effectLst/>
                <a:latin typeface="+mn-lt"/>
                <a:ea typeface="+mn-ea"/>
                <a:cs typeface="+mn-cs"/>
              </a:rPr>
              <a:t>计算器</a:t>
            </a:r>
            <a:r>
              <a:rPr lang="en-US" altLang="zh-CN" sz="1200" kern="1200" dirty="0">
                <a:solidFill>
                  <a:schemeClr val="tx1"/>
                </a:solidFill>
                <a:effectLst/>
                <a:latin typeface="+mn-lt"/>
                <a:ea typeface="+mn-ea"/>
                <a:cs typeface="+mn-cs"/>
              </a:rPr>
              <a:t> calculation </a:t>
            </a:r>
            <a:r>
              <a:rPr lang="zh-CN" altLang="zh-CN" sz="1200" kern="1200" dirty="0">
                <a:solidFill>
                  <a:schemeClr val="tx1"/>
                </a:solidFill>
                <a:effectLst/>
                <a:latin typeface="+mn-lt"/>
                <a:ea typeface="+mn-ea"/>
                <a:cs typeface="+mn-cs"/>
              </a:rPr>
              <a:t>计算（</a:t>
            </a:r>
            <a:r>
              <a:rPr lang="en-US" altLang="zh-CN" sz="1200" kern="1200" dirty="0">
                <a:solidFill>
                  <a:schemeClr val="tx1"/>
                </a:solidFill>
                <a:effectLst/>
                <a:latin typeface="+mn-lt"/>
                <a:ea typeface="+mn-ea"/>
                <a:cs typeface="+mn-cs"/>
              </a:rPr>
              <a:t>n</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宾语从句</a:t>
            </a:r>
            <a:r>
              <a:rPr lang="en-US" altLang="zh-CN" sz="1200" kern="1200" dirty="0">
                <a:solidFill>
                  <a:schemeClr val="tx1"/>
                </a:solidFill>
                <a:effectLst/>
                <a:latin typeface="+mn-lt"/>
                <a:ea typeface="+mn-ea"/>
                <a:cs typeface="+mn-cs"/>
              </a:rPr>
              <a:t> what could be done</a:t>
            </a:r>
            <a:endParaRPr lang="zh-CN" altLang="zh-CN" sz="1200" kern="1200" dirty="0">
              <a:solidFill>
                <a:schemeClr val="tx1"/>
              </a:solidFill>
              <a:effectLst/>
              <a:latin typeface="+mn-lt"/>
              <a:ea typeface="+mn-ea"/>
              <a:cs typeface="+mn-cs"/>
            </a:endParaRPr>
          </a:p>
          <a:p>
            <a:pPr lvl="0"/>
            <a:r>
              <a:rPr lang="zh-CN" altLang="zh-CN" sz="1200" kern="1200" dirty="0">
                <a:solidFill>
                  <a:schemeClr val="tx1"/>
                </a:solidFill>
                <a:effectLst/>
                <a:latin typeface="+mn-lt"/>
                <a:ea typeface="+mn-ea"/>
                <a:cs typeface="+mn-cs"/>
              </a:rPr>
              <a:t>插入语</a:t>
            </a:r>
            <a:r>
              <a:rPr lang="en-US" altLang="zh-CN" sz="1200" kern="1200" dirty="0">
                <a:solidFill>
                  <a:schemeClr val="tx1"/>
                </a:solidFill>
                <a:effectLst/>
                <a:latin typeface="+mn-lt"/>
                <a:ea typeface="+mn-ea"/>
                <a:cs typeface="+mn-cs"/>
              </a:rPr>
              <a:t> I am told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Typical </a:t>
            </a:r>
            <a:r>
              <a:rPr lang="zh-CN" altLang="zh-CN" sz="1200" kern="1200" dirty="0">
                <a:solidFill>
                  <a:schemeClr val="tx1"/>
                </a:solidFill>
                <a:effectLst/>
                <a:latin typeface="+mn-lt"/>
                <a:ea typeface="+mn-ea"/>
                <a:cs typeface="+mn-cs"/>
              </a:rPr>
              <a:t>典型的，有代表性的，</a:t>
            </a:r>
            <a:r>
              <a:rPr lang="en-US" altLang="zh-CN" sz="1200" kern="1200" dirty="0">
                <a:solidFill>
                  <a:schemeClr val="tx1"/>
                </a:solidFill>
                <a:effectLst/>
                <a:latin typeface="+mn-lt"/>
                <a:ea typeface="+mn-ea"/>
                <a:cs typeface="+mn-cs"/>
              </a:rPr>
              <a:t>type </a:t>
            </a:r>
            <a:r>
              <a:rPr lang="zh-CN" altLang="zh-CN" sz="1200" kern="1200" dirty="0">
                <a:solidFill>
                  <a:schemeClr val="tx1"/>
                </a:solidFill>
                <a:effectLst/>
                <a:latin typeface="+mn-lt"/>
                <a:ea typeface="+mn-ea"/>
                <a:cs typeface="+mn-cs"/>
              </a:rPr>
              <a:t>种类，打字，特点</a:t>
            </a:r>
          </a:p>
          <a:p>
            <a:r>
              <a:rPr lang="en-US" altLang="zh-CN" sz="1200" kern="1200" dirty="0">
                <a:solidFill>
                  <a:schemeClr val="tx1"/>
                </a:solidFill>
                <a:effectLst/>
                <a:latin typeface="+mn-lt"/>
                <a:ea typeface="+mn-ea"/>
                <a:cs typeface="+mn-cs"/>
              </a:rPr>
              <a:t>Undergraduate </a:t>
            </a:r>
            <a:r>
              <a:rPr lang="zh-CN" altLang="zh-CN" sz="1200" kern="1200" dirty="0">
                <a:solidFill>
                  <a:schemeClr val="tx1"/>
                </a:solidFill>
                <a:effectLst/>
                <a:latin typeface="+mn-lt"/>
                <a:ea typeface="+mn-ea"/>
                <a:cs typeface="+mn-cs"/>
              </a:rPr>
              <a:t>（未获得大学学位的）大学生</a:t>
            </a:r>
            <a:r>
              <a:rPr lang="en-US" altLang="zh-CN" sz="1200" kern="1200" dirty="0">
                <a:solidFill>
                  <a:schemeClr val="tx1"/>
                </a:solidFill>
                <a:effectLst/>
                <a:latin typeface="+mn-lt"/>
                <a:ea typeface="+mn-ea"/>
                <a:cs typeface="+mn-cs"/>
              </a:rPr>
              <a:t> graduate </a:t>
            </a:r>
            <a:r>
              <a:rPr lang="zh-CN" altLang="zh-CN" sz="1200" kern="1200" dirty="0">
                <a:solidFill>
                  <a:schemeClr val="tx1"/>
                </a:solidFill>
                <a:effectLst/>
                <a:latin typeface="+mn-lt"/>
                <a:ea typeface="+mn-ea"/>
                <a:cs typeface="+mn-cs"/>
              </a:rPr>
              <a:t>毕业生</a:t>
            </a:r>
          </a:p>
          <a:p>
            <a:r>
              <a:rPr lang="en-US" altLang="zh-CN" sz="1200" kern="1200" dirty="0">
                <a:solidFill>
                  <a:schemeClr val="tx1"/>
                </a:solidFill>
                <a:effectLst/>
                <a:latin typeface="+mn-lt"/>
                <a:ea typeface="+mn-ea"/>
                <a:cs typeface="+mn-cs"/>
              </a:rPr>
              <a:t>Spend </a:t>
            </a:r>
            <a:r>
              <a:rPr lang="zh-CN" altLang="zh-CN" sz="1200" kern="1200" dirty="0">
                <a:solidFill>
                  <a:schemeClr val="tx1"/>
                </a:solidFill>
                <a:effectLst/>
                <a:latin typeface="+mn-lt"/>
                <a:ea typeface="+mn-ea"/>
                <a:cs typeface="+mn-cs"/>
              </a:rPr>
              <a:t>花费</a:t>
            </a:r>
            <a:r>
              <a:rPr lang="en-US" altLang="zh-CN" sz="1200" kern="1200" dirty="0">
                <a:solidFill>
                  <a:schemeClr val="tx1"/>
                </a:solidFill>
                <a:effectLst/>
                <a:latin typeface="+mn-lt"/>
                <a:ea typeface="+mn-ea"/>
                <a:cs typeface="+mn-cs"/>
              </a:rPr>
              <a:t> spend time on </a:t>
            </a:r>
            <a:r>
              <a:rPr lang="en-US" altLang="zh-CN" sz="1200" kern="1200" dirty="0" err="1">
                <a:solidFill>
                  <a:schemeClr val="tx1"/>
                </a:solidFill>
                <a:effectLst/>
                <a:latin typeface="+mn-lt"/>
                <a:ea typeface="+mn-ea"/>
                <a:cs typeface="+mn-cs"/>
              </a:rPr>
              <a:t>sth</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in</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doing </a:t>
            </a:r>
            <a:r>
              <a:rPr lang="en-US" altLang="zh-CN" sz="1200" kern="1200" dirty="0" err="1">
                <a:solidFill>
                  <a:schemeClr val="tx1"/>
                </a:solidFill>
                <a:effectLst/>
                <a:latin typeface="+mn-lt"/>
                <a:ea typeface="+mn-ea"/>
                <a:cs typeface="+mn-cs"/>
              </a:rPr>
              <a:t>sth</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③ astronomer </a:t>
            </a:r>
            <a:r>
              <a:rPr lang="zh-CN" altLang="zh-CN" sz="1200" kern="1200" dirty="0">
                <a:solidFill>
                  <a:schemeClr val="tx1"/>
                </a:solidFill>
                <a:effectLst/>
                <a:latin typeface="+mn-lt"/>
                <a:ea typeface="+mn-ea"/>
                <a:cs typeface="+mn-cs"/>
              </a:rPr>
              <a:t>天文</a:t>
            </a:r>
            <a:r>
              <a:rPr lang="en-US" altLang="zh-CN" sz="1200" kern="1200" dirty="0">
                <a:solidFill>
                  <a:schemeClr val="tx1"/>
                </a:solidFill>
                <a:effectLst/>
                <a:latin typeface="+mn-lt"/>
                <a:ea typeface="+mn-ea"/>
                <a:cs typeface="+mn-cs"/>
              </a:rPr>
              <a:t> engineer </a:t>
            </a:r>
            <a:r>
              <a:rPr lang="zh-CN" altLang="zh-CN" sz="1200" kern="1200" dirty="0">
                <a:solidFill>
                  <a:schemeClr val="tx1"/>
                </a:solidFill>
                <a:effectLst/>
                <a:latin typeface="+mn-lt"/>
                <a:ea typeface="+mn-ea"/>
                <a:cs typeface="+mn-cs"/>
              </a:rPr>
              <a:t>工程师，</a:t>
            </a:r>
            <a:r>
              <a:rPr lang="en-US" altLang="zh-CN" sz="1200" kern="1200" dirty="0">
                <a:solidFill>
                  <a:schemeClr val="tx1"/>
                </a:solidFill>
                <a:effectLst/>
                <a:latin typeface="+mn-lt"/>
                <a:ea typeface="+mn-ea"/>
                <a:cs typeface="+mn-cs"/>
              </a:rPr>
              <a:t>engine </a:t>
            </a:r>
            <a:r>
              <a:rPr lang="zh-CN" altLang="zh-CN" sz="1200" kern="1200" dirty="0">
                <a:solidFill>
                  <a:schemeClr val="tx1"/>
                </a:solidFill>
                <a:effectLst/>
                <a:latin typeface="+mn-lt"/>
                <a:ea typeface="+mn-ea"/>
                <a:cs typeface="+mn-cs"/>
              </a:rPr>
              <a:t>引擎</a:t>
            </a:r>
          </a:p>
          <a:p>
            <a:r>
              <a:rPr lang="en-US" altLang="zh-CN" sz="1200" kern="1200" dirty="0">
                <a:solidFill>
                  <a:schemeClr val="tx1"/>
                </a:solidFill>
                <a:effectLst/>
                <a:latin typeface="+mn-lt"/>
                <a:ea typeface="+mn-ea"/>
                <a:cs typeface="+mn-cs"/>
              </a:rPr>
              <a:t>④fluently </a:t>
            </a:r>
            <a:r>
              <a:rPr lang="zh-CN" altLang="zh-CN" sz="1200" kern="1200" dirty="0">
                <a:solidFill>
                  <a:schemeClr val="tx1"/>
                </a:solidFill>
                <a:effectLst/>
                <a:latin typeface="+mn-lt"/>
                <a:ea typeface="+mn-ea"/>
                <a:cs typeface="+mn-cs"/>
              </a:rPr>
              <a:t>流利地</a:t>
            </a:r>
          </a:p>
          <a:p>
            <a:r>
              <a:rPr lang="zh-CN" altLang="zh-CN" sz="1200" kern="1200" dirty="0">
                <a:solidFill>
                  <a:schemeClr val="tx1"/>
                </a:solidFill>
                <a:effectLst/>
                <a:latin typeface="+mn-lt"/>
                <a:ea typeface="+mn-ea"/>
                <a:cs typeface="+mn-cs"/>
              </a:rPr>
              <a:t>⑤</a:t>
            </a:r>
            <a:r>
              <a:rPr lang="en-US" altLang="zh-CN" sz="1200" kern="1200" dirty="0">
                <a:solidFill>
                  <a:schemeClr val="tx1"/>
                </a:solidFill>
                <a:effectLst/>
                <a:latin typeface="+mn-lt"/>
                <a:ea typeface="+mn-ea"/>
                <a:cs typeface="+mn-cs"/>
              </a:rPr>
              <a:t> appeal to </a:t>
            </a:r>
            <a:r>
              <a:rPr lang="zh-CN" altLang="zh-CN" sz="1200" kern="1200" dirty="0">
                <a:solidFill>
                  <a:schemeClr val="tx1"/>
                </a:solidFill>
                <a:effectLst/>
                <a:latin typeface="+mn-lt"/>
                <a:ea typeface="+mn-ea"/>
                <a:cs typeface="+mn-cs"/>
              </a:rPr>
              <a:t>对。。。有吸引力</a:t>
            </a:r>
            <a:r>
              <a:rPr lang="en-US" altLang="zh-CN" sz="1200" kern="1200" dirty="0">
                <a:solidFill>
                  <a:schemeClr val="tx1"/>
                </a:solidFill>
                <a:effectLst/>
                <a:latin typeface="+mn-lt"/>
                <a:ea typeface="+mn-ea"/>
                <a:cs typeface="+mn-cs"/>
              </a:rPr>
              <a:t> appeal </a:t>
            </a:r>
            <a:r>
              <a:rPr lang="zh-CN" altLang="zh-CN" sz="1200" kern="1200" dirty="0">
                <a:solidFill>
                  <a:schemeClr val="tx1"/>
                </a:solidFill>
                <a:effectLst/>
                <a:latin typeface="+mn-lt"/>
                <a:ea typeface="+mn-ea"/>
                <a:cs typeface="+mn-cs"/>
              </a:rPr>
              <a:t>要求，有吸引力</a:t>
            </a:r>
            <a:r>
              <a:rPr lang="en-US" altLang="zh-CN" sz="1200" kern="1200" dirty="0">
                <a:solidFill>
                  <a:schemeClr val="tx1"/>
                </a:solidFill>
                <a:effectLst/>
                <a:latin typeface="+mn-lt"/>
                <a:ea typeface="+mn-ea"/>
                <a:cs typeface="+mn-cs"/>
              </a:rPr>
              <a:t> appealing appealed</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Original </a:t>
            </a:r>
            <a:r>
              <a:rPr lang="zh-CN" altLang="zh-CN" sz="1200" kern="1200" dirty="0">
                <a:solidFill>
                  <a:schemeClr val="tx1"/>
                </a:solidFill>
                <a:effectLst/>
                <a:latin typeface="+mn-lt"/>
                <a:ea typeface="+mn-ea"/>
                <a:cs typeface="+mn-cs"/>
              </a:rPr>
              <a:t>原始的，最初的</a:t>
            </a:r>
            <a:r>
              <a:rPr lang="en-US" altLang="zh-CN" sz="1200" kern="1200" dirty="0">
                <a:solidFill>
                  <a:schemeClr val="tx1"/>
                </a:solidFill>
                <a:effectLst/>
                <a:latin typeface="+mn-lt"/>
                <a:ea typeface="+mn-ea"/>
                <a:cs typeface="+mn-cs"/>
              </a:rPr>
              <a:t> origin </a:t>
            </a:r>
            <a:r>
              <a:rPr lang="zh-CN" altLang="zh-CN" sz="1200" kern="1200" dirty="0">
                <a:solidFill>
                  <a:schemeClr val="tx1"/>
                </a:solidFill>
                <a:effectLst/>
                <a:latin typeface="+mn-lt"/>
                <a:ea typeface="+mn-ea"/>
                <a:cs typeface="+mn-cs"/>
              </a:rPr>
              <a:t>起源，由来，来历</a:t>
            </a:r>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04B47E-0834-41AF-B9D3-04880596DA05}"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5522978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cs typeface="+mn-cs"/>
              </a:rPr>
              <a:t>bachelor </a:t>
            </a:r>
            <a:r>
              <a:rPr lang="zh-CN" altLang="zh-CN" sz="1200" kern="1200" dirty="0">
                <a:solidFill>
                  <a:schemeClr val="tx1"/>
                </a:solidFill>
                <a:effectLst/>
                <a:latin typeface="+mn-lt"/>
                <a:ea typeface="+mn-ea"/>
                <a:cs typeface="+mn-cs"/>
              </a:rPr>
              <a:t>学士</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单身汉</a:t>
            </a:r>
            <a:r>
              <a:rPr lang="en-US" altLang="zh-CN" sz="1200" kern="1200" dirty="0">
                <a:solidFill>
                  <a:schemeClr val="tx1"/>
                </a:solidFill>
                <a:effectLst/>
                <a:latin typeface="+mn-lt"/>
                <a:ea typeface="+mn-ea"/>
                <a:cs typeface="+mn-cs"/>
              </a:rPr>
              <a:t> master </a:t>
            </a:r>
            <a:r>
              <a:rPr lang="zh-CN" altLang="zh-CN" sz="1200" kern="1200" dirty="0">
                <a:solidFill>
                  <a:schemeClr val="tx1"/>
                </a:solidFill>
                <a:effectLst/>
                <a:latin typeface="+mn-lt"/>
                <a:ea typeface="+mn-ea"/>
                <a:cs typeface="+mn-cs"/>
              </a:rPr>
              <a:t>硕士</a:t>
            </a:r>
            <a:r>
              <a:rPr lang="en-US" altLang="zh-CN" sz="1200" kern="1200" dirty="0">
                <a:solidFill>
                  <a:schemeClr val="tx1"/>
                </a:solidFill>
                <a:effectLst/>
                <a:latin typeface="+mn-lt"/>
                <a:ea typeface="+mn-ea"/>
                <a:cs typeface="+mn-cs"/>
              </a:rPr>
              <a:t> doctor </a:t>
            </a:r>
            <a:r>
              <a:rPr lang="zh-CN" altLang="zh-CN" sz="1200" kern="1200" dirty="0">
                <a:solidFill>
                  <a:schemeClr val="tx1"/>
                </a:solidFill>
                <a:effectLst/>
                <a:latin typeface="+mn-lt"/>
                <a:ea typeface="+mn-ea"/>
                <a:cs typeface="+mn-cs"/>
              </a:rPr>
              <a:t>博士</a:t>
            </a:r>
          </a:p>
          <a:p>
            <a:r>
              <a:rPr lang="en-US" altLang="zh-CN" sz="1200" kern="1200" dirty="0">
                <a:solidFill>
                  <a:schemeClr val="tx1"/>
                </a:solidFill>
                <a:effectLst/>
                <a:latin typeface="+mn-lt"/>
                <a:ea typeface="+mn-ea"/>
                <a:cs typeface="+mn-cs"/>
              </a:rPr>
              <a:t>Astronomer </a:t>
            </a:r>
            <a:r>
              <a:rPr lang="zh-CN" altLang="zh-CN" sz="1200" kern="1200" dirty="0">
                <a:solidFill>
                  <a:schemeClr val="tx1"/>
                </a:solidFill>
                <a:effectLst/>
                <a:latin typeface="+mn-lt"/>
                <a:ea typeface="+mn-ea"/>
                <a:cs typeface="+mn-cs"/>
              </a:rPr>
              <a:t>天文学家</a:t>
            </a:r>
            <a:r>
              <a:rPr lang="en-US" altLang="zh-CN" sz="1200" kern="1200" dirty="0">
                <a:solidFill>
                  <a:schemeClr val="tx1"/>
                </a:solidFill>
                <a:effectLst/>
                <a:latin typeface="+mn-lt"/>
                <a:ea typeface="+mn-ea"/>
                <a:cs typeface="+mn-cs"/>
              </a:rPr>
              <a:t> astronaut </a:t>
            </a:r>
            <a:r>
              <a:rPr lang="zh-CN" altLang="zh-CN" sz="1200" kern="1200" dirty="0">
                <a:solidFill>
                  <a:schemeClr val="tx1"/>
                </a:solidFill>
                <a:effectLst/>
                <a:latin typeface="+mn-lt"/>
                <a:ea typeface="+mn-ea"/>
                <a:cs typeface="+mn-cs"/>
              </a:rPr>
              <a:t>宇航员</a:t>
            </a:r>
            <a:r>
              <a:rPr lang="en-US" altLang="zh-CN" sz="1200" kern="1200" dirty="0">
                <a:solidFill>
                  <a:schemeClr val="tx1"/>
                </a:solidFill>
                <a:effectLst/>
                <a:latin typeface="+mn-lt"/>
                <a:ea typeface="+mn-ea"/>
                <a:cs typeface="+mn-cs"/>
              </a:rPr>
              <a:t> astrology </a:t>
            </a:r>
            <a:r>
              <a:rPr lang="zh-CN" altLang="zh-CN" sz="1200" kern="1200" dirty="0">
                <a:solidFill>
                  <a:schemeClr val="tx1"/>
                </a:solidFill>
                <a:effectLst/>
                <a:latin typeface="+mn-lt"/>
                <a:ea typeface="+mn-ea"/>
                <a:cs typeface="+mn-cs"/>
              </a:rPr>
              <a:t>占星术</a:t>
            </a:r>
            <a:r>
              <a:rPr lang="en-US" altLang="zh-CN" sz="1200" kern="1200" dirty="0">
                <a:solidFill>
                  <a:schemeClr val="tx1"/>
                </a:solidFill>
                <a:effectLst/>
                <a:latin typeface="+mn-lt"/>
                <a:ea typeface="+mn-ea"/>
                <a:cs typeface="+mn-cs"/>
              </a:rPr>
              <a:t> astronomy </a:t>
            </a:r>
            <a:r>
              <a:rPr lang="zh-CN" altLang="zh-CN" sz="1200" kern="1200" dirty="0">
                <a:solidFill>
                  <a:schemeClr val="tx1"/>
                </a:solidFill>
                <a:effectLst/>
                <a:latin typeface="+mn-lt"/>
                <a:ea typeface="+mn-ea"/>
                <a:cs typeface="+mn-cs"/>
              </a:rPr>
              <a:t>天文学</a:t>
            </a:r>
          </a:p>
          <a:p>
            <a:r>
              <a:rPr lang="zh-CN" altLang="zh-CN" sz="1200" kern="1200" dirty="0">
                <a:solidFill>
                  <a:schemeClr val="tx1"/>
                </a:solidFill>
                <a:effectLst/>
                <a:latin typeface="+mn-lt"/>
                <a:ea typeface="+mn-ea"/>
                <a:cs typeface="+mn-cs"/>
              </a:rPr>
              <a:t>荷马史诗 陀思妥耶夫斯基《罪与罚》</a:t>
            </a:r>
          </a:p>
          <a:p>
            <a:pPr lvl="0"/>
            <a:r>
              <a:rPr lang="en-US" altLang="zh-CN" sz="1200" kern="1200" dirty="0">
                <a:solidFill>
                  <a:schemeClr val="tx1"/>
                </a:solidFill>
                <a:effectLst/>
                <a:latin typeface="+mn-lt"/>
                <a:ea typeface="+mn-ea"/>
                <a:cs typeface="+mn-cs"/>
              </a:rPr>
              <a:t>Calculate </a:t>
            </a:r>
            <a:r>
              <a:rPr lang="zh-CN" altLang="zh-CN" sz="1200" kern="1200" dirty="0">
                <a:solidFill>
                  <a:schemeClr val="tx1"/>
                </a:solidFill>
                <a:effectLst/>
                <a:latin typeface="+mn-lt"/>
                <a:ea typeface="+mn-ea"/>
                <a:cs typeface="+mn-cs"/>
              </a:rPr>
              <a:t>计算</a:t>
            </a:r>
            <a:r>
              <a:rPr lang="en-US" altLang="zh-CN" sz="1200" kern="1200" dirty="0">
                <a:solidFill>
                  <a:schemeClr val="tx1"/>
                </a:solidFill>
                <a:effectLst/>
                <a:latin typeface="+mn-lt"/>
                <a:ea typeface="+mn-ea"/>
                <a:cs typeface="+mn-cs"/>
              </a:rPr>
              <a:t> calculator </a:t>
            </a:r>
            <a:r>
              <a:rPr lang="zh-CN" altLang="zh-CN" sz="1200" kern="1200" dirty="0">
                <a:solidFill>
                  <a:schemeClr val="tx1"/>
                </a:solidFill>
                <a:effectLst/>
                <a:latin typeface="+mn-lt"/>
                <a:ea typeface="+mn-ea"/>
                <a:cs typeface="+mn-cs"/>
              </a:rPr>
              <a:t>计算器</a:t>
            </a:r>
            <a:r>
              <a:rPr lang="en-US" altLang="zh-CN" sz="1200" kern="1200" dirty="0">
                <a:solidFill>
                  <a:schemeClr val="tx1"/>
                </a:solidFill>
                <a:effectLst/>
                <a:latin typeface="+mn-lt"/>
                <a:ea typeface="+mn-ea"/>
                <a:cs typeface="+mn-cs"/>
              </a:rPr>
              <a:t> calculation </a:t>
            </a:r>
            <a:r>
              <a:rPr lang="zh-CN" altLang="zh-CN" sz="1200" kern="1200" dirty="0">
                <a:solidFill>
                  <a:schemeClr val="tx1"/>
                </a:solidFill>
                <a:effectLst/>
                <a:latin typeface="+mn-lt"/>
                <a:ea typeface="+mn-ea"/>
                <a:cs typeface="+mn-cs"/>
              </a:rPr>
              <a:t>计算（</a:t>
            </a:r>
            <a:r>
              <a:rPr lang="en-US" altLang="zh-CN" sz="1200" kern="1200" dirty="0">
                <a:solidFill>
                  <a:schemeClr val="tx1"/>
                </a:solidFill>
                <a:effectLst/>
                <a:latin typeface="+mn-lt"/>
                <a:ea typeface="+mn-ea"/>
                <a:cs typeface="+mn-cs"/>
              </a:rPr>
              <a:t>n</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宾语从句</a:t>
            </a:r>
            <a:r>
              <a:rPr lang="en-US" altLang="zh-CN" sz="1200" kern="1200" dirty="0">
                <a:solidFill>
                  <a:schemeClr val="tx1"/>
                </a:solidFill>
                <a:effectLst/>
                <a:latin typeface="+mn-lt"/>
                <a:ea typeface="+mn-ea"/>
                <a:cs typeface="+mn-cs"/>
              </a:rPr>
              <a:t> what could be done</a:t>
            </a:r>
            <a:endParaRPr lang="zh-CN" altLang="zh-CN" sz="1200" kern="1200" dirty="0">
              <a:solidFill>
                <a:schemeClr val="tx1"/>
              </a:solidFill>
              <a:effectLst/>
              <a:latin typeface="+mn-lt"/>
              <a:ea typeface="+mn-ea"/>
              <a:cs typeface="+mn-cs"/>
            </a:endParaRPr>
          </a:p>
          <a:p>
            <a:pPr lvl="0"/>
            <a:r>
              <a:rPr lang="zh-CN" altLang="zh-CN" sz="1200" kern="1200" dirty="0">
                <a:solidFill>
                  <a:schemeClr val="tx1"/>
                </a:solidFill>
                <a:effectLst/>
                <a:latin typeface="+mn-lt"/>
                <a:ea typeface="+mn-ea"/>
                <a:cs typeface="+mn-cs"/>
              </a:rPr>
              <a:t>插入语</a:t>
            </a:r>
            <a:r>
              <a:rPr lang="en-US" altLang="zh-CN" sz="1200" kern="1200" dirty="0">
                <a:solidFill>
                  <a:schemeClr val="tx1"/>
                </a:solidFill>
                <a:effectLst/>
                <a:latin typeface="+mn-lt"/>
                <a:ea typeface="+mn-ea"/>
                <a:cs typeface="+mn-cs"/>
              </a:rPr>
              <a:t> I am told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Typical </a:t>
            </a:r>
            <a:r>
              <a:rPr lang="zh-CN" altLang="zh-CN" sz="1200" kern="1200" dirty="0">
                <a:solidFill>
                  <a:schemeClr val="tx1"/>
                </a:solidFill>
                <a:effectLst/>
                <a:latin typeface="+mn-lt"/>
                <a:ea typeface="+mn-ea"/>
                <a:cs typeface="+mn-cs"/>
              </a:rPr>
              <a:t>典型的，有代表性的，</a:t>
            </a:r>
            <a:r>
              <a:rPr lang="en-US" altLang="zh-CN" sz="1200" kern="1200" dirty="0">
                <a:solidFill>
                  <a:schemeClr val="tx1"/>
                </a:solidFill>
                <a:effectLst/>
                <a:latin typeface="+mn-lt"/>
                <a:ea typeface="+mn-ea"/>
                <a:cs typeface="+mn-cs"/>
              </a:rPr>
              <a:t>type </a:t>
            </a:r>
            <a:r>
              <a:rPr lang="zh-CN" altLang="zh-CN" sz="1200" kern="1200" dirty="0">
                <a:solidFill>
                  <a:schemeClr val="tx1"/>
                </a:solidFill>
                <a:effectLst/>
                <a:latin typeface="+mn-lt"/>
                <a:ea typeface="+mn-ea"/>
                <a:cs typeface="+mn-cs"/>
              </a:rPr>
              <a:t>种类，打字，特点</a:t>
            </a:r>
          </a:p>
          <a:p>
            <a:r>
              <a:rPr lang="en-US" altLang="zh-CN" sz="1200" kern="1200" dirty="0">
                <a:solidFill>
                  <a:schemeClr val="tx1"/>
                </a:solidFill>
                <a:effectLst/>
                <a:latin typeface="+mn-lt"/>
                <a:ea typeface="+mn-ea"/>
                <a:cs typeface="+mn-cs"/>
              </a:rPr>
              <a:t>Undergraduate </a:t>
            </a:r>
            <a:r>
              <a:rPr lang="zh-CN" altLang="zh-CN" sz="1200" kern="1200" dirty="0">
                <a:solidFill>
                  <a:schemeClr val="tx1"/>
                </a:solidFill>
                <a:effectLst/>
                <a:latin typeface="+mn-lt"/>
                <a:ea typeface="+mn-ea"/>
                <a:cs typeface="+mn-cs"/>
              </a:rPr>
              <a:t>（未获得大学学位的）大学生</a:t>
            </a:r>
            <a:r>
              <a:rPr lang="en-US" altLang="zh-CN" sz="1200" kern="1200" dirty="0">
                <a:solidFill>
                  <a:schemeClr val="tx1"/>
                </a:solidFill>
                <a:effectLst/>
                <a:latin typeface="+mn-lt"/>
                <a:ea typeface="+mn-ea"/>
                <a:cs typeface="+mn-cs"/>
              </a:rPr>
              <a:t> graduate </a:t>
            </a:r>
            <a:r>
              <a:rPr lang="zh-CN" altLang="zh-CN" sz="1200" kern="1200" dirty="0">
                <a:solidFill>
                  <a:schemeClr val="tx1"/>
                </a:solidFill>
                <a:effectLst/>
                <a:latin typeface="+mn-lt"/>
                <a:ea typeface="+mn-ea"/>
                <a:cs typeface="+mn-cs"/>
              </a:rPr>
              <a:t>毕业生</a:t>
            </a:r>
          </a:p>
          <a:p>
            <a:r>
              <a:rPr lang="en-US" altLang="zh-CN" sz="1200" kern="1200" dirty="0">
                <a:solidFill>
                  <a:schemeClr val="tx1"/>
                </a:solidFill>
                <a:effectLst/>
                <a:latin typeface="+mn-lt"/>
                <a:ea typeface="+mn-ea"/>
                <a:cs typeface="+mn-cs"/>
              </a:rPr>
              <a:t>Spend </a:t>
            </a:r>
            <a:r>
              <a:rPr lang="zh-CN" altLang="zh-CN" sz="1200" kern="1200" dirty="0">
                <a:solidFill>
                  <a:schemeClr val="tx1"/>
                </a:solidFill>
                <a:effectLst/>
                <a:latin typeface="+mn-lt"/>
                <a:ea typeface="+mn-ea"/>
                <a:cs typeface="+mn-cs"/>
              </a:rPr>
              <a:t>花费</a:t>
            </a:r>
            <a:r>
              <a:rPr lang="en-US" altLang="zh-CN" sz="1200" kern="1200" dirty="0">
                <a:solidFill>
                  <a:schemeClr val="tx1"/>
                </a:solidFill>
                <a:effectLst/>
                <a:latin typeface="+mn-lt"/>
                <a:ea typeface="+mn-ea"/>
                <a:cs typeface="+mn-cs"/>
              </a:rPr>
              <a:t> spend time on </a:t>
            </a:r>
            <a:r>
              <a:rPr lang="en-US" altLang="zh-CN" sz="1200" kern="1200" dirty="0" err="1">
                <a:solidFill>
                  <a:schemeClr val="tx1"/>
                </a:solidFill>
                <a:effectLst/>
                <a:latin typeface="+mn-lt"/>
                <a:ea typeface="+mn-ea"/>
                <a:cs typeface="+mn-cs"/>
              </a:rPr>
              <a:t>sth</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in</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doing </a:t>
            </a:r>
            <a:r>
              <a:rPr lang="en-US" altLang="zh-CN" sz="1200" kern="1200" dirty="0" err="1">
                <a:solidFill>
                  <a:schemeClr val="tx1"/>
                </a:solidFill>
                <a:effectLst/>
                <a:latin typeface="+mn-lt"/>
                <a:ea typeface="+mn-ea"/>
                <a:cs typeface="+mn-cs"/>
              </a:rPr>
              <a:t>sth</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③ astronomer </a:t>
            </a:r>
            <a:r>
              <a:rPr lang="zh-CN" altLang="zh-CN" sz="1200" kern="1200" dirty="0">
                <a:solidFill>
                  <a:schemeClr val="tx1"/>
                </a:solidFill>
                <a:effectLst/>
                <a:latin typeface="+mn-lt"/>
                <a:ea typeface="+mn-ea"/>
                <a:cs typeface="+mn-cs"/>
              </a:rPr>
              <a:t>天文</a:t>
            </a:r>
            <a:r>
              <a:rPr lang="en-US" altLang="zh-CN" sz="1200" kern="1200" dirty="0">
                <a:solidFill>
                  <a:schemeClr val="tx1"/>
                </a:solidFill>
                <a:effectLst/>
                <a:latin typeface="+mn-lt"/>
                <a:ea typeface="+mn-ea"/>
                <a:cs typeface="+mn-cs"/>
              </a:rPr>
              <a:t> engineer </a:t>
            </a:r>
            <a:r>
              <a:rPr lang="zh-CN" altLang="zh-CN" sz="1200" kern="1200" dirty="0">
                <a:solidFill>
                  <a:schemeClr val="tx1"/>
                </a:solidFill>
                <a:effectLst/>
                <a:latin typeface="+mn-lt"/>
                <a:ea typeface="+mn-ea"/>
                <a:cs typeface="+mn-cs"/>
              </a:rPr>
              <a:t>工程师，</a:t>
            </a:r>
            <a:r>
              <a:rPr lang="en-US" altLang="zh-CN" sz="1200" kern="1200" dirty="0">
                <a:solidFill>
                  <a:schemeClr val="tx1"/>
                </a:solidFill>
                <a:effectLst/>
                <a:latin typeface="+mn-lt"/>
                <a:ea typeface="+mn-ea"/>
                <a:cs typeface="+mn-cs"/>
              </a:rPr>
              <a:t>engine </a:t>
            </a:r>
            <a:r>
              <a:rPr lang="zh-CN" altLang="zh-CN" sz="1200" kern="1200" dirty="0">
                <a:solidFill>
                  <a:schemeClr val="tx1"/>
                </a:solidFill>
                <a:effectLst/>
                <a:latin typeface="+mn-lt"/>
                <a:ea typeface="+mn-ea"/>
                <a:cs typeface="+mn-cs"/>
              </a:rPr>
              <a:t>引擎</a:t>
            </a:r>
          </a:p>
          <a:p>
            <a:r>
              <a:rPr lang="en-US" altLang="zh-CN" sz="1200" kern="1200" dirty="0">
                <a:solidFill>
                  <a:schemeClr val="tx1"/>
                </a:solidFill>
                <a:effectLst/>
                <a:latin typeface="+mn-lt"/>
                <a:ea typeface="+mn-ea"/>
                <a:cs typeface="+mn-cs"/>
              </a:rPr>
              <a:t>④fluently </a:t>
            </a:r>
            <a:r>
              <a:rPr lang="zh-CN" altLang="zh-CN" sz="1200" kern="1200" dirty="0">
                <a:solidFill>
                  <a:schemeClr val="tx1"/>
                </a:solidFill>
                <a:effectLst/>
                <a:latin typeface="+mn-lt"/>
                <a:ea typeface="+mn-ea"/>
                <a:cs typeface="+mn-cs"/>
              </a:rPr>
              <a:t>流利地</a:t>
            </a:r>
          </a:p>
          <a:p>
            <a:r>
              <a:rPr lang="zh-CN" altLang="zh-CN" sz="1200" kern="1200" dirty="0">
                <a:solidFill>
                  <a:schemeClr val="tx1"/>
                </a:solidFill>
                <a:effectLst/>
                <a:latin typeface="+mn-lt"/>
                <a:ea typeface="+mn-ea"/>
                <a:cs typeface="+mn-cs"/>
              </a:rPr>
              <a:t>⑤</a:t>
            </a:r>
            <a:r>
              <a:rPr lang="en-US" altLang="zh-CN" sz="1200" kern="1200" dirty="0">
                <a:solidFill>
                  <a:schemeClr val="tx1"/>
                </a:solidFill>
                <a:effectLst/>
                <a:latin typeface="+mn-lt"/>
                <a:ea typeface="+mn-ea"/>
                <a:cs typeface="+mn-cs"/>
              </a:rPr>
              <a:t> appeal to </a:t>
            </a:r>
            <a:r>
              <a:rPr lang="zh-CN" altLang="zh-CN" sz="1200" kern="1200" dirty="0">
                <a:solidFill>
                  <a:schemeClr val="tx1"/>
                </a:solidFill>
                <a:effectLst/>
                <a:latin typeface="+mn-lt"/>
                <a:ea typeface="+mn-ea"/>
                <a:cs typeface="+mn-cs"/>
              </a:rPr>
              <a:t>对。。。有吸引力</a:t>
            </a:r>
            <a:r>
              <a:rPr lang="en-US" altLang="zh-CN" sz="1200" kern="1200" dirty="0">
                <a:solidFill>
                  <a:schemeClr val="tx1"/>
                </a:solidFill>
                <a:effectLst/>
                <a:latin typeface="+mn-lt"/>
                <a:ea typeface="+mn-ea"/>
                <a:cs typeface="+mn-cs"/>
              </a:rPr>
              <a:t> appeal </a:t>
            </a:r>
            <a:r>
              <a:rPr lang="zh-CN" altLang="zh-CN" sz="1200" kern="1200" dirty="0">
                <a:solidFill>
                  <a:schemeClr val="tx1"/>
                </a:solidFill>
                <a:effectLst/>
                <a:latin typeface="+mn-lt"/>
                <a:ea typeface="+mn-ea"/>
                <a:cs typeface="+mn-cs"/>
              </a:rPr>
              <a:t>要求，有吸引力</a:t>
            </a:r>
            <a:r>
              <a:rPr lang="en-US" altLang="zh-CN" sz="1200" kern="1200" dirty="0">
                <a:solidFill>
                  <a:schemeClr val="tx1"/>
                </a:solidFill>
                <a:effectLst/>
                <a:latin typeface="+mn-lt"/>
                <a:ea typeface="+mn-ea"/>
                <a:cs typeface="+mn-cs"/>
              </a:rPr>
              <a:t> appealing appealed</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Original </a:t>
            </a:r>
            <a:r>
              <a:rPr lang="zh-CN" altLang="zh-CN" sz="1200" kern="1200" dirty="0">
                <a:solidFill>
                  <a:schemeClr val="tx1"/>
                </a:solidFill>
                <a:effectLst/>
                <a:latin typeface="+mn-lt"/>
                <a:ea typeface="+mn-ea"/>
                <a:cs typeface="+mn-cs"/>
              </a:rPr>
              <a:t>原始的，最初的</a:t>
            </a:r>
            <a:r>
              <a:rPr lang="en-US" altLang="zh-CN" sz="1200" kern="1200" dirty="0">
                <a:solidFill>
                  <a:schemeClr val="tx1"/>
                </a:solidFill>
                <a:effectLst/>
                <a:latin typeface="+mn-lt"/>
                <a:ea typeface="+mn-ea"/>
                <a:cs typeface="+mn-cs"/>
              </a:rPr>
              <a:t> origin </a:t>
            </a:r>
            <a:r>
              <a:rPr lang="zh-CN" altLang="zh-CN" sz="1200" kern="1200" dirty="0">
                <a:solidFill>
                  <a:schemeClr val="tx1"/>
                </a:solidFill>
                <a:effectLst/>
                <a:latin typeface="+mn-lt"/>
                <a:ea typeface="+mn-ea"/>
                <a:cs typeface="+mn-cs"/>
              </a:rPr>
              <a:t>起源，由来，来历</a:t>
            </a:r>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04B47E-0834-41AF-B9D3-04880596DA05}"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7120694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cs typeface="+mn-cs"/>
              </a:rPr>
              <a:t>bachelor </a:t>
            </a:r>
            <a:r>
              <a:rPr lang="zh-CN" altLang="zh-CN" sz="1200" kern="1200" dirty="0">
                <a:solidFill>
                  <a:schemeClr val="tx1"/>
                </a:solidFill>
                <a:effectLst/>
                <a:latin typeface="+mn-lt"/>
                <a:ea typeface="+mn-ea"/>
                <a:cs typeface="+mn-cs"/>
              </a:rPr>
              <a:t>学士</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单身汉</a:t>
            </a:r>
            <a:r>
              <a:rPr lang="en-US" altLang="zh-CN" sz="1200" kern="1200" dirty="0">
                <a:solidFill>
                  <a:schemeClr val="tx1"/>
                </a:solidFill>
                <a:effectLst/>
                <a:latin typeface="+mn-lt"/>
                <a:ea typeface="+mn-ea"/>
                <a:cs typeface="+mn-cs"/>
              </a:rPr>
              <a:t> master </a:t>
            </a:r>
            <a:r>
              <a:rPr lang="zh-CN" altLang="zh-CN" sz="1200" kern="1200" dirty="0">
                <a:solidFill>
                  <a:schemeClr val="tx1"/>
                </a:solidFill>
                <a:effectLst/>
                <a:latin typeface="+mn-lt"/>
                <a:ea typeface="+mn-ea"/>
                <a:cs typeface="+mn-cs"/>
              </a:rPr>
              <a:t>硕士</a:t>
            </a:r>
            <a:r>
              <a:rPr lang="en-US" altLang="zh-CN" sz="1200" kern="1200" dirty="0">
                <a:solidFill>
                  <a:schemeClr val="tx1"/>
                </a:solidFill>
                <a:effectLst/>
                <a:latin typeface="+mn-lt"/>
                <a:ea typeface="+mn-ea"/>
                <a:cs typeface="+mn-cs"/>
              </a:rPr>
              <a:t> doctor </a:t>
            </a:r>
            <a:r>
              <a:rPr lang="zh-CN" altLang="zh-CN" sz="1200" kern="1200" dirty="0">
                <a:solidFill>
                  <a:schemeClr val="tx1"/>
                </a:solidFill>
                <a:effectLst/>
                <a:latin typeface="+mn-lt"/>
                <a:ea typeface="+mn-ea"/>
                <a:cs typeface="+mn-cs"/>
              </a:rPr>
              <a:t>博士</a:t>
            </a:r>
          </a:p>
          <a:p>
            <a:r>
              <a:rPr lang="en-US" altLang="zh-CN" sz="1200" kern="1200" dirty="0">
                <a:solidFill>
                  <a:schemeClr val="tx1"/>
                </a:solidFill>
                <a:effectLst/>
                <a:latin typeface="+mn-lt"/>
                <a:ea typeface="+mn-ea"/>
                <a:cs typeface="+mn-cs"/>
              </a:rPr>
              <a:t>Astronomer </a:t>
            </a:r>
            <a:r>
              <a:rPr lang="zh-CN" altLang="zh-CN" sz="1200" kern="1200" dirty="0">
                <a:solidFill>
                  <a:schemeClr val="tx1"/>
                </a:solidFill>
                <a:effectLst/>
                <a:latin typeface="+mn-lt"/>
                <a:ea typeface="+mn-ea"/>
                <a:cs typeface="+mn-cs"/>
              </a:rPr>
              <a:t>天文学家</a:t>
            </a:r>
            <a:r>
              <a:rPr lang="en-US" altLang="zh-CN" sz="1200" kern="1200" dirty="0">
                <a:solidFill>
                  <a:schemeClr val="tx1"/>
                </a:solidFill>
                <a:effectLst/>
                <a:latin typeface="+mn-lt"/>
                <a:ea typeface="+mn-ea"/>
                <a:cs typeface="+mn-cs"/>
              </a:rPr>
              <a:t> astronaut </a:t>
            </a:r>
            <a:r>
              <a:rPr lang="zh-CN" altLang="zh-CN" sz="1200" kern="1200" dirty="0">
                <a:solidFill>
                  <a:schemeClr val="tx1"/>
                </a:solidFill>
                <a:effectLst/>
                <a:latin typeface="+mn-lt"/>
                <a:ea typeface="+mn-ea"/>
                <a:cs typeface="+mn-cs"/>
              </a:rPr>
              <a:t>宇航员</a:t>
            </a:r>
            <a:r>
              <a:rPr lang="en-US" altLang="zh-CN" sz="1200" kern="1200" dirty="0">
                <a:solidFill>
                  <a:schemeClr val="tx1"/>
                </a:solidFill>
                <a:effectLst/>
                <a:latin typeface="+mn-lt"/>
                <a:ea typeface="+mn-ea"/>
                <a:cs typeface="+mn-cs"/>
              </a:rPr>
              <a:t> astrology </a:t>
            </a:r>
            <a:r>
              <a:rPr lang="zh-CN" altLang="zh-CN" sz="1200" kern="1200" dirty="0">
                <a:solidFill>
                  <a:schemeClr val="tx1"/>
                </a:solidFill>
                <a:effectLst/>
                <a:latin typeface="+mn-lt"/>
                <a:ea typeface="+mn-ea"/>
                <a:cs typeface="+mn-cs"/>
              </a:rPr>
              <a:t>占星术</a:t>
            </a:r>
            <a:r>
              <a:rPr lang="en-US" altLang="zh-CN" sz="1200" kern="1200" dirty="0">
                <a:solidFill>
                  <a:schemeClr val="tx1"/>
                </a:solidFill>
                <a:effectLst/>
                <a:latin typeface="+mn-lt"/>
                <a:ea typeface="+mn-ea"/>
                <a:cs typeface="+mn-cs"/>
              </a:rPr>
              <a:t> astronomy </a:t>
            </a:r>
            <a:r>
              <a:rPr lang="zh-CN" altLang="zh-CN" sz="1200" kern="1200" dirty="0">
                <a:solidFill>
                  <a:schemeClr val="tx1"/>
                </a:solidFill>
                <a:effectLst/>
                <a:latin typeface="+mn-lt"/>
                <a:ea typeface="+mn-ea"/>
                <a:cs typeface="+mn-cs"/>
              </a:rPr>
              <a:t>天文学</a:t>
            </a:r>
          </a:p>
          <a:p>
            <a:r>
              <a:rPr lang="zh-CN" altLang="zh-CN" sz="1200" kern="1200" dirty="0">
                <a:solidFill>
                  <a:schemeClr val="tx1"/>
                </a:solidFill>
                <a:effectLst/>
                <a:latin typeface="+mn-lt"/>
                <a:ea typeface="+mn-ea"/>
                <a:cs typeface="+mn-cs"/>
              </a:rPr>
              <a:t>荷马史诗 陀思妥耶夫斯基《罪与罚》</a:t>
            </a:r>
          </a:p>
          <a:p>
            <a:pPr lvl="0"/>
            <a:r>
              <a:rPr lang="en-US" altLang="zh-CN" sz="1200" kern="1200" dirty="0">
                <a:solidFill>
                  <a:schemeClr val="tx1"/>
                </a:solidFill>
                <a:effectLst/>
                <a:latin typeface="+mn-lt"/>
                <a:ea typeface="+mn-ea"/>
                <a:cs typeface="+mn-cs"/>
              </a:rPr>
              <a:t>Calculate </a:t>
            </a:r>
            <a:r>
              <a:rPr lang="zh-CN" altLang="zh-CN" sz="1200" kern="1200" dirty="0">
                <a:solidFill>
                  <a:schemeClr val="tx1"/>
                </a:solidFill>
                <a:effectLst/>
                <a:latin typeface="+mn-lt"/>
                <a:ea typeface="+mn-ea"/>
                <a:cs typeface="+mn-cs"/>
              </a:rPr>
              <a:t>计算</a:t>
            </a:r>
            <a:r>
              <a:rPr lang="en-US" altLang="zh-CN" sz="1200" kern="1200" dirty="0">
                <a:solidFill>
                  <a:schemeClr val="tx1"/>
                </a:solidFill>
                <a:effectLst/>
                <a:latin typeface="+mn-lt"/>
                <a:ea typeface="+mn-ea"/>
                <a:cs typeface="+mn-cs"/>
              </a:rPr>
              <a:t> calculator </a:t>
            </a:r>
            <a:r>
              <a:rPr lang="zh-CN" altLang="zh-CN" sz="1200" kern="1200" dirty="0">
                <a:solidFill>
                  <a:schemeClr val="tx1"/>
                </a:solidFill>
                <a:effectLst/>
                <a:latin typeface="+mn-lt"/>
                <a:ea typeface="+mn-ea"/>
                <a:cs typeface="+mn-cs"/>
              </a:rPr>
              <a:t>计算器</a:t>
            </a:r>
            <a:r>
              <a:rPr lang="en-US" altLang="zh-CN" sz="1200" kern="1200" dirty="0">
                <a:solidFill>
                  <a:schemeClr val="tx1"/>
                </a:solidFill>
                <a:effectLst/>
                <a:latin typeface="+mn-lt"/>
                <a:ea typeface="+mn-ea"/>
                <a:cs typeface="+mn-cs"/>
              </a:rPr>
              <a:t> calculation </a:t>
            </a:r>
            <a:r>
              <a:rPr lang="zh-CN" altLang="zh-CN" sz="1200" kern="1200" dirty="0">
                <a:solidFill>
                  <a:schemeClr val="tx1"/>
                </a:solidFill>
                <a:effectLst/>
                <a:latin typeface="+mn-lt"/>
                <a:ea typeface="+mn-ea"/>
                <a:cs typeface="+mn-cs"/>
              </a:rPr>
              <a:t>计算（</a:t>
            </a:r>
            <a:r>
              <a:rPr lang="en-US" altLang="zh-CN" sz="1200" kern="1200" dirty="0">
                <a:solidFill>
                  <a:schemeClr val="tx1"/>
                </a:solidFill>
                <a:effectLst/>
                <a:latin typeface="+mn-lt"/>
                <a:ea typeface="+mn-ea"/>
                <a:cs typeface="+mn-cs"/>
              </a:rPr>
              <a:t>n</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宾语从句</a:t>
            </a:r>
            <a:r>
              <a:rPr lang="en-US" altLang="zh-CN" sz="1200" kern="1200" dirty="0">
                <a:solidFill>
                  <a:schemeClr val="tx1"/>
                </a:solidFill>
                <a:effectLst/>
                <a:latin typeface="+mn-lt"/>
                <a:ea typeface="+mn-ea"/>
                <a:cs typeface="+mn-cs"/>
              </a:rPr>
              <a:t> what could be done</a:t>
            </a:r>
            <a:endParaRPr lang="zh-CN" altLang="zh-CN" sz="1200" kern="1200" dirty="0">
              <a:solidFill>
                <a:schemeClr val="tx1"/>
              </a:solidFill>
              <a:effectLst/>
              <a:latin typeface="+mn-lt"/>
              <a:ea typeface="+mn-ea"/>
              <a:cs typeface="+mn-cs"/>
            </a:endParaRPr>
          </a:p>
          <a:p>
            <a:pPr lvl="0"/>
            <a:r>
              <a:rPr lang="zh-CN" altLang="zh-CN" sz="1200" kern="1200" dirty="0">
                <a:solidFill>
                  <a:schemeClr val="tx1"/>
                </a:solidFill>
                <a:effectLst/>
                <a:latin typeface="+mn-lt"/>
                <a:ea typeface="+mn-ea"/>
                <a:cs typeface="+mn-cs"/>
              </a:rPr>
              <a:t>插入语</a:t>
            </a:r>
            <a:r>
              <a:rPr lang="en-US" altLang="zh-CN" sz="1200" kern="1200" dirty="0">
                <a:solidFill>
                  <a:schemeClr val="tx1"/>
                </a:solidFill>
                <a:effectLst/>
                <a:latin typeface="+mn-lt"/>
                <a:ea typeface="+mn-ea"/>
                <a:cs typeface="+mn-cs"/>
              </a:rPr>
              <a:t> I am told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Typical </a:t>
            </a:r>
            <a:r>
              <a:rPr lang="zh-CN" altLang="zh-CN" sz="1200" kern="1200" dirty="0">
                <a:solidFill>
                  <a:schemeClr val="tx1"/>
                </a:solidFill>
                <a:effectLst/>
                <a:latin typeface="+mn-lt"/>
                <a:ea typeface="+mn-ea"/>
                <a:cs typeface="+mn-cs"/>
              </a:rPr>
              <a:t>典型的，有代表性的，</a:t>
            </a:r>
            <a:r>
              <a:rPr lang="en-US" altLang="zh-CN" sz="1200" kern="1200" dirty="0">
                <a:solidFill>
                  <a:schemeClr val="tx1"/>
                </a:solidFill>
                <a:effectLst/>
                <a:latin typeface="+mn-lt"/>
                <a:ea typeface="+mn-ea"/>
                <a:cs typeface="+mn-cs"/>
              </a:rPr>
              <a:t>type </a:t>
            </a:r>
            <a:r>
              <a:rPr lang="zh-CN" altLang="zh-CN" sz="1200" kern="1200" dirty="0">
                <a:solidFill>
                  <a:schemeClr val="tx1"/>
                </a:solidFill>
                <a:effectLst/>
                <a:latin typeface="+mn-lt"/>
                <a:ea typeface="+mn-ea"/>
                <a:cs typeface="+mn-cs"/>
              </a:rPr>
              <a:t>种类，打字，特点</a:t>
            </a:r>
          </a:p>
          <a:p>
            <a:r>
              <a:rPr lang="en-US" altLang="zh-CN" sz="1200" kern="1200" dirty="0">
                <a:solidFill>
                  <a:schemeClr val="tx1"/>
                </a:solidFill>
                <a:effectLst/>
                <a:latin typeface="+mn-lt"/>
                <a:ea typeface="+mn-ea"/>
                <a:cs typeface="+mn-cs"/>
              </a:rPr>
              <a:t>Undergraduate </a:t>
            </a:r>
            <a:r>
              <a:rPr lang="zh-CN" altLang="zh-CN" sz="1200" kern="1200" dirty="0">
                <a:solidFill>
                  <a:schemeClr val="tx1"/>
                </a:solidFill>
                <a:effectLst/>
                <a:latin typeface="+mn-lt"/>
                <a:ea typeface="+mn-ea"/>
                <a:cs typeface="+mn-cs"/>
              </a:rPr>
              <a:t>（未获得大学学位的）大学生</a:t>
            </a:r>
            <a:r>
              <a:rPr lang="en-US" altLang="zh-CN" sz="1200" kern="1200" dirty="0">
                <a:solidFill>
                  <a:schemeClr val="tx1"/>
                </a:solidFill>
                <a:effectLst/>
                <a:latin typeface="+mn-lt"/>
                <a:ea typeface="+mn-ea"/>
                <a:cs typeface="+mn-cs"/>
              </a:rPr>
              <a:t> graduate </a:t>
            </a:r>
            <a:r>
              <a:rPr lang="zh-CN" altLang="zh-CN" sz="1200" kern="1200" dirty="0">
                <a:solidFill>
                  <a:schemeClr val="tx1"/>
                </a:solidFill>
                <a:effectLst/>
                <a:latin typeface="+mn-lt"/>
                <a:ea typeface="+mn-ea"/>
                <a:cs typeface="+mn-cs"/>
              </a:rPr>
              <a:t>毕业生</a:t>
            </a:r>
          </a:p>
          <a:p>
            <a:r>
              <a:rPr lang="en-US" altLang="zh-CN" sz="1200" kern="1200" dirty="0">
                <a:solidFill>
                  <a:schemeClr val="tx1"/>
                </a:solidFill>
                <a:effectLst/>
                <a:latin typeface="+mn-lt"/>
                <a:ea typeface="+mn-ea"/>
                <a:cs typeface="+mn-cs"/>
              </a:rPr>
              <a:t>Spend </a:t>
            </a:r>
            <a:r>
              <a:rPr lang="zh-CN" altLang="zh-CN" sz="1200" kern="1200" dirty="0">
                <a:solidFill>
                  <a:schemeClr val="tx1"/>
                </a:solidFill>
                <a:effectLst/>
                <a:latin typeface="+mn-lt"/>
                <a:ea typeface="+mn-ea"/>
                <a:cs typeface="+mn-cs"/>
              </a:rPr>
              <a:t>花费</a:t>
            </a:r>
            <a:r>
              <a:rPr lang="en-US" altLang="zh-CN" sz="1200" kern="1200" dirty="0">
                <a:solidFill>
                  <a:schemeClr val="tx1"/>
                </a:solidFill>
                <a:effectLst/>
                <a:latin typeface="+mn-lt"/>
                <a:ea typeface="+mn-ea"/>
                <a:cs typeface="+mn-cs"/>
              </a:rPr>
              <a:t> spend time on </a:t>
            </a:r>
            <a:r>
              <a:rPr lang="en-US" altLang="zh-CN" sz="1200" kern="1200" dirty="0" err="1">
                <a:solidFill>
                  <a:schemeClr val="tx1"/>
                </a:solidFill>
                <a:effectLst/>
                <a:latin typeface="+mn-lt"/>
                <a:ea typeface="+mn-ea"/>
                <a:cs typeface="+mn-cs"/>
              </a:rPr>
              <a:t>sth</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in</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doing </a:t>
            </a:r>
            <a:r>
              <a:rPr lang="en-US" altLang="zh-CN" sz="1200" kern="1200" dirty="0" err="1">
                <a:solidFill>
                  <a:schemeClr val="tx1"/>
                </a:solidFill>
                <a:effectLst/>
                <a:latin typeface="+mn-lt"/>
                <a:ea typeface="+mn-ea"/>
                <a:cs typeface="+mn-cs"/>
              </a:rPr>
              <a:t>sth</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③ astronomer </a:t>
            </a:r>
            <a:r>
              <a:rPr lang="zh-CN" altLang="zh-CN" sz="1200" kern="1200" dirty="0">
                <a:solidFill>
                  <a:schemeClr val="tx1"/>
                </a:solidFill>
                <a:effectLst/>
                <a:latin typeface="+mn-lt"/>
                <a:ea typeface="+mn-ea"/>
                <a:cs typeface="+mn-cs"/>
              </a:rPr>
              <a:t>天文</a:t>
            </a:r>
            <a:r>
              <a:rPr lang="en-US" altLang="zh-CN" sz="1200" kern="1200" dirty="0">
                <a:solidFill>
                  <a:schemeClr val="tx1"/>
                </a:solidFill>
                <a:effectLst/>
                <a:latin typeface="+mn-lt"/>
                <a:ea typeface="+mn-ea"/>
                <a:cs typeface="+mn-cs"/>
              </a:rPr>
              <a:t> engineer </a:t>
            </a:r>
            <a:r>
              <a:rPr lang="zh-CN" altLang="zh-CN" sz="1200" kern="1200" dirty="0">
                <a:solidFill>
                  <a:schemeClr val="tx1"/>
                </a:solidFill>
                <a:effectLst/>
                <a:latin typeface="+mn-lt"/>
                <a:ea typeface="+mn-ea"/>
                <a:cs typeface="+mn-cs"/>
              </a:rPr>
              <a:t>工程师，</a:t>
            </a:r>
            <a:r>
              <a:rPr lang="en-US" altLang="zh-CN" sz="1200" kern="1200" dirty="0">
                <a:solidFill>
                  <a:schemeClr val="tx1"/>
                </a:solidFill>
                <a:effectLst/>
                <a:latin typeface="+mn-lt"/>
                <a:ea typeface="+mn-ea"/>
                <a:cs typeface="+mn-cs"/>
              </a:rPr>
              <a:t>engine </a:t>
            </a:r>
            <a:r>
              <a:rPr lang="zh-CN" altLang="zh-CN" sz="1200" kern="1200" dirty="0">
                <a:solidFill>
                  <a:schemeClr val="tx1"/>
                </a:solidFill>
                <a:effectLst/>
                <a:latin typeface="+mn-lt"/>
                <a:ea typeface="+mn-ea"/>
                <a:cs typeface="+mn-cs"/>
              </a:rPr>
              <a:t>引擎</a:t>
            </a:r>
          </a:p>
          <a:p>
            <a:r>
              <a:rPr lang="en-US" altLang="zh-CN" sz="1200" kern="1200" dirty="0">
                <a:solidFill>
                  <a:schemeClr val="tx1"/>
                </a:solidFill>
                <a:effectLst/>
                <a:latin typeface="+mn-lt"/>
                <a:ea typeface="+mn-ea"/>
                <a:cs typeface="+mn-cs"/>
              </a:rPr>
              <a:t>④fluently </a:t>
            </a:r>
            <a:r>
              <a:rPr lang="zh-CN" altLang="zh-CN" sz="1200" kern="1200" dirty="0">
                <a:solidFill>
                  <a:schemeClr val="tx1"/>
                </a:solidFill>
                <a:effectLst/>
                <a:latin typeface="+mn-lt"/>
                <a:ea typeface="+mn-ea"/>
                <a:cs typeface="+mn-cs"/>
              </a:rPr>
              <a:t>流利地</a:t>
            </a:r>
          </a:p>
          <a:p>
            <a:r>
              <a:rPr lang="zh-CN" altLang="zh-CN" sz="1200" kern="1200" dirty="0">
                <a:solidFill>
                  <a:schemeClr val="tx1"/>
                </a:solidFill>
                <a:effectLst/>
                <a:latin typeface="+mn-lt"/>
                <a:ea typeface="+mn-ea"/>
                <a:cs typeface="+mn-cs"/>
              </a:rPr>
              <a:t>⑤</a:t>
            </a:r>
            <a:r>
              <a:rPr lang="en-US" altLang="zh-CN" sz="1200" kern="1200" dirty="0">
                <a:solidFill>
                  <a:schemeClr val="tx1"/>
                </a:solidFill>
                <a:effectLst/>
                <a:latin typeface="+mn-lt"/>
                <a:ea typeface="+mn-ea"/>
                <a:cs typeface="+mn-cs"/>
              </a:rPr>
              <a:t> appeal to </a:t>
            </a:r>
            <a:r>
              <a:rPr lang="zh-CN" altLang="zh-CN" sz="1200" kern="1200" dirty="0">
                <a:solidFill>
                  <a:schemeClr val="tx1"/>
                </a:solidFill>
                <a:effectLst/>
                <a:latin typeface="+mn-lt"/>
                <a:ea typeface="+mn-ea"/>
                <a:cs typeface="+mn-cs"/>
              </a:rPr>
              <a:t>对。。。有吸引力</a:t>
            </a:r>
            <a:r>
              <a:rPr lang="en-US" altLang="zh-CN" sz="1200" kern="1200" dirty="0">
                <a:solidFill>
                  <a:schemeClr val="tx1"/>
                </a:solidFill>
                <a:effectLst/>
                <a:latin typeface="+mn-lt"/>
                <a:ea typeface="+mn-ea"/>
                <a:cs typeface="+mn-cs"/>
              </a:rPr>
              <a:t> appeal </a:t>
            </a:r>
            <a:r>
              <a:rPr lang="zh-CN" altLang="zh-CN" sz="1200" kern="1200" dirty="0">
                <a:solidFill>
                  <a:schemeClr val="tx1"/>
                </a:solidFill>
                <a:effectLst/>
                <a:latin typeface="+mn-lt"/>
                <a:ea typeface="+mn-ea"/>
                <a:cs typeface="+mn-cs"/>
              </a:rPr>
              <a:t>要求，有吸引力</a:t>
            </a:r>
            <a:r>
              <a:rPr lang="en-US" altLang="zh-CN" sz="1200" kern="1200" dirty="0">
                <a:solidFill>
                  <a:schemeClr val="tx1"/>
                </a:solidFill>
                <a:effectLst/>
                <a:latin typeface="+mn-lt"/>
                <a:ea typeface="+mn-ea"/>
                <a:cs typeface="+mn-cs"/>
              </a:rPr>
              <a:t> appealing appealed</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Original </a:t>
            </a:r>
            <a:r>
              <a:rPr lang="zh-CN" altLang="zh-CN" sz="1200" kern="1200" dirty="0">
                <a:solidFill>
                  <a:schemeClr val="tx1"/>
                </a:solidFill>
                <a:effectLst/>
                <a:latin typeface="+mn-lt"/>
                <a:ea typeface="+mn-ea"/>
                <a:cs typeface="+mn-cs"/>
              </a:rPr>
              <a:t>原始的，最初的</a:t>
            </a:r>
            <a:r>
              <a:rPr lang="en-US" altLang="zh-CN" sz="1200" kern="1200" dirty="0">
                <a:solidFill>
                  <a:schemeClr val="tx1"/>
                </a:solidFill>
                <a:effectLst/>
                <a:latin typeface="+mn-lt"/>
                <a:ea typeface="+mn-ea"/>
                <a:cs typeface="+mn-cs"/>
              </a:rPr>
              <a:t> origin </a:t>
            </a:r>
            <a:r>
              <a:rPr lang="zh-CN" altLang="zh-CN" sz="1200" kern="1200" dirty="0">
                <a:solidFill>
                  <a:schemeClr val="tx1"/>
                </a:solidFill>
                <a:effectLst/>
                <a:latin typeface="+mn-lt"/>
                <a:ea typeface="+mn-ea"/>
                <a:cs typeface="+mn-cs"/>
              </a:rPr>
              <a:t>起源，由来，来历</a:t>
            </a:r>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04B47E-0834-41AF-B9D3-04880596DA05}"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9937610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Various</a:t>
            </a:r>
            <a:r>
              <a:rPr lang="zh-CN" altLang="en-US" dirty="0"/>
              <a:t>多种多样的</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04B47E-0834-41AF-B9D3-04880596DA05}"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372864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Except </a:t>
            </a:r>
            <a:r>
              <a:rPr lang="zh-CN" altLang="en-US" dirty="0"/>
              <a:t>连词 只是，</a:t>
            </a:r>
            <a:endParaRPr lang="en-US" altLang="zh-CN" dirty="0"/>
          </a:p>
          <a:p>
            <a:r>
              <a:rPr lang="en-US" altLang="zh-CN" dirty="0"/>
              <a:t>Delights</a:t>
            </a:r>
            <a:r>
              <a:rPr lang="zh-CN" altLang="en-US" dirty="0"/>
              <a:t>令人高兴的事</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04B47E-0834-41AF-B9D3-04880596DA05}"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8415693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Civil </a:t>
            </a:r>
            <a:r>
              <a:rPr lang="zh-CN" altLang="en-US" dirty="0"/>
              <a:t>公民的</a:t>
            </a:r>
            <a:endParaRPr lang="en-US" altLang="zh-CN" dirty="0"/>
          </a:p>
          <a:p>
            <a:r>
              <a:rPr lang="en-US" altLang="zh-CN" dirty="0"/>
              <a:t>Civilize </a:t>
            </a:r>
            <a:r>
              <a:rPr lang="zh-CN" altLang="en-US" dirty="0"/>
              <a:t>使文明 使开化</a:t>
            </a:r>
            <a:endParaRPr lang="en-US" altLang="zh-CN" dirty="0"/>
          </a:p>
          <a:p>
            <a:r>
              <a:rPr lang="en-US" altLang="zh-CN" dirty="0"/>
              <a:t>Decivilize </a:t>
            </a:r>
            <a:r>
              <a:rPr lang="zh-CN" altLang="en-US" dirty="0"/>
              <a:t>使丧失文明</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04B47E-0834-41AF-B9D3-04880596DA05}"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4955083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04B47E-0834-41AF-B9D3-04880596DA05}"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1053421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81A311-D968-402C-8367-6813C64036FB}"/>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9B54CC09-4EDD-44A1-9770-E72E98BE712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08874ED7-0E66-471B-B73E-33D959A96582}"/>
              </a:ext>
            </a:extLst>
          </p:cNvPr>
          <p:cNvSpPr>
            <a:spLocks noGrp="1"/>
          </p:cNvSpPr>
          <p:nvPr>
            <p:ph type="dt" sz="half" idx="10"/>
          </p:nvPr>
        </p:nvSpPr>
        <p:spPr/>
        <p:txBody>
          <a:bodyPr/>
          <a:lstStyle/>
          <a:p>
            <a:fld id="{DBF6BF39-997B-4023-B40B-2F422AD2BFEF}" type="datetimeFigureOut">
              <a:rPr lang="zh-CN" altLang="en-US" smtClean="0"/>
              <a:t>2019/10/18</a:t>
            </a:fld>
            <a:endParaRPr lang="zh-CN" altLang="en-US"/>
          </a:p>
        </p:txBody>
      </p:sp>
      <p:sp>
        <p:nvSpPr>
          <p:cNvPr id="5" name="页脚占位符 4">
            <a:extLst>
              <a:ext uri="{FF2B5EF4-FFF2-40B4-BE49-F238E27FC236}">
                <a16:creationId xmlns:a16="http://schemas.microsoft.com/office/drawing/2014/main" id="{D30609EF-1C10-479C-93C7-A8C61C85069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9ADCB5B-B20B-4627-B33E-FC1D78E25BAE}"/>
              </a:ext>
            </a:extLst>
          </p:cNvPr>
          <p:cNvSpPr>
            <a:spLocks noGrp="1"/>
          </p:cNvSpPr>
          <p:nvPr>
            <p:ph type="sldNum" sz="quarter" idx="12"/>
          </p:nvPr>
        </p:nvSpPr>
        <p:spPr/>
        <p:txBody>
          <a:bodyPr/>
          <a:lstStyle/>
          <a:p>
            <a:fld id="{1EB8F245-8298-49EC-9BDD-177D47B468C8}" type="slidenum">
              <a:rPr lang="zh-CN" altLang="en-US" smtClean="0"/>
              <a:t>‹#›</a:t>
            </a:fld>
            <a:endParaRPr lang="zh-CN" altLang="en-US"/>
          </a:p>
        </p:txBody>
      </p:sp>
    </p:spTree>
    <p:extLst>
      <p:ext uri="{BB962C8B-B14F-4D97-AF65-F5344CB8AC3E}">
        <p14:creationId xmlns:p14="http://schemas.microsoft.com/office/powerpoint/2010/main" val="27858174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945586-EDC8-480B-8EFE-52B8F7F7709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53EFB66-5CDD-49CC-958F-A10843B62189}"/>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EB3D4D1-3F0E-46A0-99BD-A8CB68F19407}"/>
              </a:ext>
            </a:extLst>
          </p:cNvPr>
          <p:cNvSpPr>
            <a:spLocks noGrp="1"/>
          </p:cNvSpPr>
          <p:nvPr>
            <p:ph type="dt" sz="half" idx="10"/>
          </p:nvPr>
        </p:nvSpPr>
        <p:spPr/>
        <p:txBody>
          <a:bodyPr/>
          <a:lstStyle/>
          <a:p>
            <a:fld id="{DBF6BF39-997B-4023-B40B-2F422AD2BFEF}" type="datetimeFigureOut">
              <a:rPr lang="zh-CN" altLang="en-US" smtClean="0"/>
              <a:t>2019/10/18</a:t>
            </a:fld>
            <a:endParaRPr lang="zh-CN" altLang="en-US"/>
          </a:p>
        </p:txBody>
      </p:sp>
      <p:sp>
        <p:nvSpPr>
          <p:cNvPr id="5" name="页脚占位符 4">
            <a:extLst>
              <a:ext uri="{FF2B5EF4-FFF2-40B4-BE49-F238E27FC236}">
                <a16:creationId xmlns:a16="http://schemas.microsoft.com/office/drawing/2014/main" id="{267DD7AD-EF5C-4B7D-ACAE-3D8A9C696C3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27FD91A-904D-4ADC-8CDC-1C94F8DE52FF}"/>
              </a:ext>
            </a:extLst>
          </p:cNvPr>
          <p:cNvSpPr>
            <a:spLocks noGrp="1"/>
          </p:cNvSpPr>
          <p:nvPr>
            <p:ph type="sldNum" sz="quarter" idx="12"/>
          </p:nvPr>
        </p:nvSpPr>
        <p:spPr/>
        <p:txBody>
          <a:bodyPr/>
          <a:lstStyle/>
          <a:p>
            <a:fld id="{1EB8F245-8298-49EC-9BDD-177D47B468C8}" type="slidenum">
              <a:rPr lang="zh-CN" altLang="en-US" smtClean="0"/>
              <a:t>‹#›</a:t>
            </a:fld>
            <a:endParaRPr lang="zh-CN" altLang="en-US"/>
          </a:p>
        </p:txBody>
      </p:sp>
    </p:spTree>
    <p:extLst>
      <p:ext uri="{BB962C8B-B14F-4D97-AF65-F5344CB8AC3E}">
        <p14:creationId xmlns:p14="http://schemas.microsoft.com/office/powerpoint/2010/main" val="4626012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FD6B9E-6B07-4F09-98FC-FFCBDF00170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6B03B540-C746-4CF8-BA84-0D8C64C4953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D8A080F6-5CB4-43D4-AAFC-979B91A058A9}"/>
              </a:ext>
            </a:extLst>
          </p:cNvPr>
          <p:cNvSpPr>
            <a:spLocks noGrp="1"/>
          </p:cNvSpPr>
          <p:nvPr>
            <p:ph type="dt" sz="half" idx="10"/>
          </p:nvPr>
        </p:nvSpPr>
        <p:spPr/>
        <p:txBody>
          <a:bodyPr/>
          <a:lstStyle/>
          <a:p>
            <a:fld id="{DBF6BF39-997B-4023-B40B-2F422AD2BFEF}" type="datetimeFigureOut">
              <a:rPr lang="zh-CN" altLang="en-US" smtClean="0"/>
              <a:t>2019/10/18</a:t>
            </a:fld>
            <a:endParaRPr lang="zh-CN" altLang="en-US"/>
          </a:p>
        </p:txBody>
      </p:sp>
      <p:sp>
        <p:nvSpPr>
          <p:cNvPr id="5" name="页脚占位符 4">
            <a:extLst>
              <a:ext uri="{FF2B5EF4-FFF2-40B4-BE49-F238E27FC236}">
                <a16:creationId xmlns:a16="http://schemas.microsoft.com/office/drawing/2014/main" id="{F9778B85-1EA1-4094-8D64-3E99B569FCA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E405F1D-C43B-4400-8ED1-B262F339D066}"/>
              </a:ext>
            </a:extLst>
          </p:cNvPr>
          <p:cNvSpPr>
            <a:spLocks noGrp="1"/>
          </p:cNvSpPr>
          <p:nvPr>
            <p:ph type="sldNum" sz="quarter" idx="12"/>
          </p:nvPr>
        </p:nvSpPr>
        <p:spPr/>
        <p:txBody>
          <a:bodyPr/>
          <a:lstStyle/>
          <a:p>
            <a:fld id="{1EB8F245-8298-49EC-9BDD-177D47B468C8}" type="slidenum">
              <a:rPr lang="zh-CN" altLang="en-US" smtClean="0"/>
              <a:t>‹#›</a:t>
            </a:fld>
            <a:endParaRPr lang="zh-CN" altLang="en-US"/>
          </a:p>
        </p:txBody>
      </p:sp>
    </p:spTree>
    <p:extLst>
      <p:ext uri="{BB962C8B-B14F-4D97-AF65-F5344CB8AC3E}">
        <p14:creationId xmlns:p14="http://schemas.microsoft.com/office/powerpoint/2010/main" val="36409855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49CD65-09A0-4BDD-AF73-83E979D7A76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E0F84F1-A8A2-4474-97BB-2B68A430F4BD}"/>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44C6F730-BEB9-4630-8CBE-2B5F3182FCAF}"/>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DF538B2A-78B9-43EC-9055-A3AFC3093F7A}"/>
              </a:ext>
            </a:extLst>
          </p:cNvPr>
          <p:cNvSpPr>
            <a:spLocks noGrp="1"/>
          </p:cNvSpPr>
          <p:nvPr>
            <p:ph type="dt" sz="half" idx="10"/>
          </p:nvPr>
        </p:nvSpPr>
        <p:spPr/>
        <p:txBody>
          <a:bodyPr/>
          <a:lstStyle/>
          <a:p>
            <a:fld id="{DBF6BF39-997B-4023-B40B-2F422AD2BFEF}" type="datetimeFigureOut">
              <a:rPr lang="zh-CN" altLang="en-US" smtClean="0"/>
              <a:t>2019/10/18</a:t>
            </a:fld>
            <a:endParaRPr lang="zh-CN" altLang="en-US"/>
          </a:p>
        </p:txBody>
      </p:sp>
      <p:sp>
        <p:nvSpPr>
          <p:cNvPr id="6" name="页脚占位符 5">
            <a:extLst>
              <a:ext uri="{FF2B5EF4-FFF2-40B4-BE49-F238E27FC236}">
                <a16:creationId xmlns:a16="http://schemas.microsoft.com/office/drawing/2014/main" id="{F8CB2D7A-9215-4553-8C5C-FE0EC12CF24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07290EE-4A22-4ACB-A753-07C5AE7C27C2}"/>
              </a:ext>
            </a:extLst>
          </p:cNvPr>
          <p:cNvSpPr>
            <a:spLocks noGrp="1"/>
          </p:cNvSpPr>
          <p:nvPr>
            <p:ph type="sldNum" sz="quarter" idx="12"/>
          </p:nvPr>
        </p:nvSpPr>
        <p:spPr/>
        <p:txBody>
          <a:bodyPr/>
          <a:lstStyle/>
          <a:p>
            <a:fld id="{1EB8F245-8298-49EC-9BDD-177D47B468C8}" type="slidenum">
              <a:rPr lang="zh-CN" altLang="en-US" smtClean="0"/>
              <a:t>‹#›</a:t>
            </a:fld>
            <a:endParaRPr lang="zh-CN" altLang="en-US"/>
          </a:p>
        </p:txBody>
      </p:sp>
    </p:spTree>
    <p:extLst>
      <p:ext uri="{BB962C8B-B14F-4D97-AF65-F5344CB8AC3E}">
        <p14:creationId xmlns:p14="http://schemas.microsoft.com/office/powerpoint/2010/main" val="29245617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3DED7D-8448-41BB-94B7-45BBCFA2F9A0}"/>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FFA3B76-EDBD-4B60-A0C7-D575C54D657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DEFFD0DA-BF3C-498A-A59E-B87BB783A89B}"/>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2BCA33E7-A752-49BB-9301-A5D2677BEF9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F618D6F0-82AF-412D-984D-2A40CC958805}"/>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0C1A13D6-FE83-4326-8678-C662EE3419F9}"/>
              </a:ext>
            </a:extLst>
          </p:cNvPr>
          <p:cNvSpPr>
            <a:spLocks noGrp="1"/>
          </p:cNvSpPr>
          <p:nvPr>
            <p:ph type="dt" sz="half" idx="10"/>
          </p:nvPr>
        </p:nvSpPr>
        <p:spPr/>
        <p:txBody>
          <a:bodyPr/>
          <a:lstStyle/>
          <a:p>
            <a:fld id="{DBF6BF39-997B-4023-B40B-2F422AD2BFEF}" type="datetimeFigureOut">
              <a:rPr lang="zh-CN" altLang="en-US" smtClean="0"/>
              <a:t>2019/10/18</a:t>
            </a:fld>
            <a:endParaRPr lang="zh-CN" altLang="en-US"/>
          </a:p>
        </p:txBody>
      </p:sp>
      <p:sp>
        <p:nvSpPr>
          <p:cNvPr id="8" name="页脚占位符 7">
            <a:extLst>
              <a:ext uri="{FF2B5EF4-FFF2-40B4-BE49-F238E27FC236}">
                <a16:creationId xmlns:a16="http://schemas.microsoft.com/office/drawing/2014/main" id="{884059B6-DAB1-4A93-B074-70DA39A43586}"/>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C9B69204-DE38-4977-963D-F98A5812D211}"/>
              </a:ext>
            </a:extLst>
          </p:cNvPr>
          <p:cNvSpPr>
            <a:spLocks noGrp="1"/>
          </p:cNvSpPr>
          <p:nvPr>
            <p:ph type="sldNum" sz="quarter" idx="12"/>
          </p:nvPr>
        </p:nvSpPr>
        <p:spPr/>
        <p:txBody>
          <a:bodyPr/>
          <a:lstStyle/>
          <a:p>
            <a:fld id="{1EB8F245-8298-49EC-9BDD-177D47B468C8}" type="slidenum">
              <a:rPr lang="zh-CN" altLang="en-US" smtClean="0"/>
              <a:t>‹#›</a:t>
            </a:fld>
            <a:endParaRPr lang="zh-CN" altLang="en-US"/>
          </a:p>
        </p:txBody>
      </p:sp>
    </p:spTree>
    <p:extLst>
      <p:ext uri="{BB962C8B-B14F-4D97-AF65-F5344CB8AC3E}">
        <p14:creationId xmlns:p14="http://schemas.microsoft.com/office/powerpoint/2010/main" val="5332097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3597E8-D929-4F20-A8F4-CABDA5F0E7D1}"/>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01259F8F-D9C2-4132-899F-9222EBDC7104}"/>
              </a:ext>
            </a:extLst>
          </p:cNvPr>
          <p:cNvSpPr>
            <a:spLocks noGrp="1"/>
          </p:cNvSpPr>
          <p:nvPr>
            <p:ph type="dt" sz="half" idx="10"/>
          </p:nvPr>
        </p:nvSpPr>
        <p:spPr/>
        <p:txBody>
          <a:bodyPr/>
          <a:lstStyle/>
          <a:p>
            <a:fld id="{DBF6BF39-997B-4023-B40B-2F422AD2BFEF}" type="datetimeFigureOut">
              <a:rPr lang="zh-CN" altLang="en-US" smtClean="0"/>
              <a:t>2019/10/18</a:t>
            </a:fld>
            <a:endParaRPr lang="zh-CN" altLang="en-US"/>
          </a:p>
        </p:txBody>
      </p:sp>
      <p:sp>
        <p:nvSpPr>
          <p:cNvPr id="4" name="页脚占位符 3">
            <a:extLst>
              <a:ext uri="{FF2B5EF4-FFF2-40B4-BE49-F238E27FC236}">
                <a16:creationId xmlns:a16="http://schemas.microsoft.com/office/drawing/2014/main" id="{18F813AA-0B5F-468D-A279-46699B16AADA}"/>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271CE200-D0A8-4FFB-8FF4-4377B71A9ED3}"/>
              </a:ext>
            </a:extLst>
          </p:cNvPr>
          <p:cNvSpPr>
            <a:spLocks noGrp="1"/>
          </p:cNvSpPr>
          <p:nvPr>
            <p:ph type="sldNum" sz="quarter" idx="12"/>
          </p:nvPr>
        </p:nvSpPr>
        <p:spPr/>
        <p:txBody>
          <a:bodyPr/>
          <a:lstStyle/>
          <a:p>
            <a:fld id="{1EB8F245-8298-49EC-9BDD-177D47B468C8}" type="slidenum">
              <a:rPr lang="zh-CN" altLang="en-US" smtClean="0"/>
              <a:t>‹#›</a:t>
            </a:fld>
            <a:endParaRPr lang="zh-CN" altLang="en-US"/>
          </a:p>
        </p:txBody>
      </p:sp>
    </p:spTree>
    <p:extLst>
      <p:ext uri="{BB962C8B-B14F-4D97-AF65-F5344CB8AC3E}">
        <p14:creationId xmlns:p14="http://schemas.microsoft.com/office/powerpoint/2010/main" val="3382421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225607D-84B1-49A6-AD30-B6A9F37D8B71}"/>
              </a:ext>
            </a:extLst>
          </p:cNvPr>
          <p:cNvSpPr>
            <a:spLocks noGrp="1"/>
          </p:cNvSpPr>
          <p:nvPr>
            <p:ph type="dt" sz="half" idx="10"/>
          </p:nvPr>
        </p:nvSpPr>
        <p:spPr/>
        <p:txBody>
          <a:bodyPr/>
          <a:lstStyle/>
          <a:p>
            <a:fld id="{DBF6BF39-997B-4023-B40B-2F422AD2BFEF}" type="datetimeFigureOut">
              <a:rPr lang="zh-CN" altLang="en-US" smtClean="0"/>
              <a:t>2019/10/18</a:t>
            </a:fld>
            <a:endParaRPr lang="zh-CN" altLang="en-US"/>
          </a:p>
        </p:txBody>
      </p:sp>
      <p:sp>
        <p:nvSpPr>
          <p:cNvPr id="3" name="页脚占位符 2">
            <a:extLst>
              <a:ext uri="{FF2B5EF4-FFF2-40B4-BE49-F238E27FC236}">
                <a16:creationId xmlns:a16="http://schemas.microsoft.com/office/drawing/2014/main" id="{B792A5A4-CEE6-48C8-AE2B-A7EA7928905C}"/>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40CD09D8-0EA8-42B0-B67B-629FCB388B9D}"/>
              </a:ext>
            </a:extLst>
          </p:cNvPr>
          <p:cNvSpPr>
            <a:spLocks noGrp="1"/>
          </p:cNvSpPr>
          <p:nvPr>
            <p:ph type="sldNum" sz="quarter" idx="12"/>
          </p:nvPr>
        </p:nvSpPr>
        <p:spPr/>
        <p:txBody>
          <a:bodyPr/>
          <a:lstStyle/>
          <a:p>
            <a:fld id="{1EB8F245-8298-49EC-9BDD-177D47B468C8}" type="slidenum">
              <a:rPr lang="zh-CN" altLang="en-US" smtClean="0"/>
              <a:t>‹#›</a:t>
            </a:fld>
            <a:endParaRPr lang="zh-CN" altLang="en-US"/>
          </a:p>
        </p:txBody>
      </p:sp>
    </p:spTree>
    <p:extLst>
      <p:ext uri="{BB962C8B-B14F-4D97-AF65-F5344CB8AC3E}">
        <p14:creationId xmlns:p14="http://schemas.microsoft.com/office/powerpoint/2010/main" val="852279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CEAAA5-ACD7-4DA9-97AF-E13EC730A27C}"/>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E9C2AD07-800C-4FE0-8C14-7060837534F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A070B5AD-DB7B-42F4-851F-1505135EE1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4D64CAC-4F16-4085-8580-4C3EBA66D788}"/>
              </a:ext>
            </a:extLst>
          </p:cNvPr>
          <p:cNvSpPr>
            <a:spLocks noGrp="1"/>
          </p:cNvSpPr>
          <p:nvPr>
            <p:ph type="dt" sz="half" idx="10"/>
          </p:nvPr>
        </p:nvSpPr>
        <p:spPr/>
        <p:txBody>
          <a:bodyPr/>
          <a:lstStyle/>
          <a:p>
            <a:fld id="{DBF6BF39-997B-4023-B40B-2F422AD2BFEF}" type="datetimeFigureOut">
              <a:rPr lang="zh-CN" altLang="en-US" smtClean="0"/>
              <a:t>2019/10/18</a:t>
            </a:fld>
            <a:endParaRPr lang="zh-CN" altLang="en-US"/>
          </a:p>
        </p:txBody>
      </p:sp>
      <p:sp>
        <p:nvSpPr>
          <p:cNvPr id="6" name="页脚占位符 5">
            <a:extLst>
              <a:ext uri="{FF2B5EF4-FFF2-40B4-BE49-F238E27FC236}">
                <a16:creationId xmlns:a16="http://schemas.microsoft.com/office/drawing/2014/main" id="{BCD6CED0-AF18-4CE5-95C1-3949B2B9B6A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B0FDDE0-3A68-4158-AB53-30541674C1A9}"/>
              </a:ext>
            </a:extLst>
          </p:cNvPr>
          <p:cNvSpPr>
            <a:spLocks noGrp="1"/>
          </p:cNvSpPr>
          <p:nvPr>
            <p:ph type="sldNum" sz="quarter" idx="12"/>
          </p:nvPr>
        </p:nvSpPr>
        <p:spPr/>
        <p:txBody>
          <a:bodyPr/>
          <a:lstStyle/>
          <a:p>
            <a:fld id="{1EB8F245-8298-49EC-9BDD-177D47B468C8}" type="slidenum">
              <a:rPr lang="zh-CN" altLang="en-US" smtClean="0"/>
              <a:t>‹#›</a:t>
            </a:fld>
            <a:endParaRPr lang="zh-CN" altLang="en-US"/>
          </a:p>
        </p:txBody>
      </p:sp>
    </p:spTree>
    <p:extLst>
      <p:ext uri="{BB962C8B-B14F-4D97-AF65-F5344CB8AC3E}">
        <p14:creationId xmlns:p14="http://schemas.microsoft.com/office/powerpoint/2010/main" val="13390145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895D21-5557-4CBC-BDD0-A21339F9A74C}"/>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022E10C0-155F-43F3-A07B-E7297D4C730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E3894C61-758E-4C65-B0E3-48A4BF54F5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6F9D86C-D904-4915-8497-856987232ADD}"/>
              </a:ext>
            </a:extLst>
          </p:cNvPr>
          <p:cNvSpPr>
            <a:spLocks noGrp="1"/>
          </p:cNvSpPr>
          <p:nvPr>
            <p:ph type="dt" sz="half" idx="10"/>
          </p:nvPr>
        </p:nvSpPr>
        <p:spPr/>
        <p:txBody>
          <a:bodyPr/>
          <a:lstStyle/>
          <a:p>
            <a:fld id="{DBF6BF39-997B-4023-B40B-2F422AD2BFEF}" type="datetimeFigureOut">
              <a:rPr lang="zh-CN" altLang="en-US" smtClean="0"/>
              <a:t>2019/10/18</a:t>
            </a:fld>
            <a:endParaRPr lang="zh-CN" altLang="en-US"/>
          </a:p>
        </p:txBody>
      </p:sp>
      <p:sp>
        <p:nvSpPr>
          <p:cNvPr id="6" name="页脚占位符 5">
            <a:extLst>
              <a:ext uri="{FF2B5EF4-FFF2-40B4-BE49-F238E27FC236}">
                <a16:creationId xmlns:a16="http://schemas.microsoft.com/office/drawing/2014/main" id="{E1017FA0-9E4C-46DA-97BD-C79E164FA63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718C5F9-3BD0-42E3-BE23-87417E4E9E6B}"/>
              </a:ext>
            </a:extLst>
          </p:cNvPr>
          <p:cNvSpPr>
            <a:spLocks noGrp="1"/>
          </p:cNvSpPr>
          <p:nvPr>
            <p:ph type="sldNum" sz="quarter" idx="12"/>
          </p:nvPr>
        </p:nvSpPr>
        <p:spPr/>
        <p:txBody>
          <a:bodyPr/>
          <a:lstStyle/>
          <a:p>
            <a:fld id="{1EB8F245-8298-49EC-9BDD-177D47B468C8}" type="slidenum">
              <a:rPr lang="zh-CN" altLang="en-US" smtClean="0"/>
              <a:t>‹#›</a:t>
            </a:fld>
            <a:endParaRPr lang="zh-CN" altLang="en-US"/>
          </a:p>
        </p:txBody>
      </p:sp>
    </p:spTree>
    <p:extLst>
      <p:ext uri="{BB962C8B-B14F-4D97-AF65-F5344CB8AC3E}">
        <p14:creationId xmlns:p14="http://schemas.microsoft.com/office/powerpoint/2010/main" val="8766593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210EDE-BF7A-466E-A096-359D6F269F4F}"/>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F1DD92F4-164C-4DCB-A656-1CB78B194069}"/>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68B3A0C-4281-4512-9480-161217D6FDD0}"/>
              </a:ext>
            </a:extLst>
          </p:cNvPr>
          <p:cNvSpPr>
            <a:spLocks noGrp="1"/>
          </p:cNvSpPr>
          <p:nvPr>
            <p:ph type="dt" sz="half" idx="10"/>
          </p:nvPr>
        </p:nvSpPr>
        <p:spPr/>
        <p:txBody>
          <a:bodyPr/>
          <a:lstStyle/>
          <a:p>
            <a:fld id="{DBF6BF39-997B-4023-B40B-2F422AD2BFEF}" type="datetimeFigureOut">
              <a:rPr lang="zh-CN" altLang="en-US" smtClean="0"/>
              <a:t>2019/10/18</a:t>
            </a:fld>
            <a:endParaRPr lang="zh-CN" altLang="en-US"/>
          </a:p>
        </p:txBody>
      </p:sp>
      <p:sp>
        <p:nvSpPr>
          <p:cNvPr id="5" name="页脚占位符 4">
            <a:extLst>
              <a:ext uri="{FF2B5EF4-FFF2-40B4-BE49-F238E27FC236}">
                <a16:creationId xmlns:a16="http://schemas.microsoft.com/office/drawing/2014/main" id="{156F7B2A-7444-4837-B73C-31ABA9499A3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AA5965D-440F-491E-9CBF-B6017F85B748}"/>
              </a:ext>
            </a:extLst>
          </p:cNvPr>
          <p:cNvSpPr>
            <a:spLocks noGrp="1"/>
          </p:cNvSpPr>
          <p:nvPr>
            <p:ph type="sldNum" sz="quarter" idx="12"/>
          </p:nvPr>
        </p:nvSpPr>
        <p:spPr/>
        <p:txBody>
          <a:bodyPr/>
          <a:lstStyle/>
          <a:p>
            <a:fld id="{1EB8F245-8298-49EC-9BDD-177D47B468C8}" type="slidenum">
              <a:rPr lang="zh-CN" altLang="en-US" smtClean="0"/>
              <a:t>‹#›</a:t>
            </a:fld>
            <a:endParaRPr lang="zh-CN" altLang="en-US"/>
          </a:p>
        </p:txBody>
      </p:sp>
    </p:spTree>
    <p:extLst>
      <p:ext uri="{BB962C8B-B14F-4D97-AF65-F5344CB8AC3E}">
        <p14:creationId xmlns:p14="http://schemas.microsoft.com/office/powerpoint/2010/main" val="35516522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C75DDDC6-29DC-45DA-882B-F40DB6BC1D5E}"/>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7B6C915-0A74-45DA-B6EE-727FDBBF850B}"/>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02F5E55-5C70-4681-96D9-47FE5EDC651E}"/>
              </a:ext>
            </a:extLst>
          </p:cNvPr>
          <p:cNvSpPr>
            <a:spLocks noGrp="1"/>
          </p:cNvSpPr>
          <p:nvPr>
            <p:ph type="dt" sz="half" idx="10"/>
          </p:nvPr>
        </p:nvSpPr>
        <p:spPr/>
        <p:txBody>
          <a:bodyPr/>
          <a:lstStyle/>
          <a:p>
            <a:fld id="{DBF6BF39-997B-4023-B40B-2F422AD2BFEF}" type="datetimeFigureOut">
              <a:rPr lang="zh-CN" altLang="en-US" smtClean="0"/>
              <a:t>2019/10/18</a:t>
            </a:fld>
            <a:endParaRPr lang="zh-CN" altLang="en-US"/>
          </a:p>
        </p:txBody>
      </p:sp>
      <p:sp>
        <p:nvSpPr>
          <p:cNvPr id="5" name="页脚占位符 4">
            <a:extLst>
              <a:ext uri="{FF2B5EF4-FFF2-40B4-BE49-F238E27FC236}">
                <a16:creationId xmlns:a16="http://schemas.microsoft.com/office/drawing/2014/main" id="{24E7298A-27D7-42E7-97F4-479ED25C819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013FE39-72D3-4483-A54B-84169394E4AD}"/>
              </a:ext>
            </a:extLst>
          </p:cNvPr>
          <p:cNvSpPr>
            <a:spLocks noGrp="1"/>
          </p:cNvSpPr>
          <p:nvPr>
            <p:ph type="sldNum" sz="quarter" idx="12"/>
          </p:nvPr>
        </p:nvSpPr>
        <p:spPr/>
        <p:txBody>
          <a:bodyPr/>
          <a:lstStyle/>
          <a:p>
            <a:fld id="{1EB8F245-8298-49EC-9BDD-177D47B468C8}" type="slidenum">
              <a:rPr lang="zh-CN" altLang="en-US" smtClean="0"/>
              <a:t>‹#›</a:t>
            </a:fld>
            <a:endParaRPr lang="zh-CN" altLang="en-US"/>
          </a:p>
        </p:txBody>
      </p:sp>
    </p:spTree>
    <p:extLst>
      <p:ext uri="{BB962C8B-B14F-4D97-AF65-F5344CB8AC3E}">
        <p14:creationId xmlns:p14="http://schemas.microsoft.com/office/powerpoint/2010/main" val="6785687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1DB7E00C-EF11-478E-8879-B6AE41410D7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D9C8D4E8-ECDC-44DF-8FE2-0D642A114C1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F8881E1-416E-453B-A7F6-3A09DDF30E3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BF6BF39-997B-4023-B40B-2F422AD2BFEF}" type="datetimeFigureOut">
              <a:rPr lang="zh-CN" altLang="en-US" smtClean="0"/>
              <a:t>2019/10/18</a:t>
            </a:fld>
            <a:endParaRPr lang="zh-CN" altLang="en-US"/>
          </a:p>
        </p:txBody>
      </p:sp>
      <p:sp>
        <p:nvSpPr>
          <p:cNvPr id="5" name="页脚占位符 4">
            <a:extLst>
              <a:ext uri="{FF2B5EF4-FFF2-40B4-BE49-F238E27FC236}">
                <a16:creationId xmlns:a16="http://schemas.microsoft.com/office/drawing/2014/main" id="{426C6D7C-D63D-4462-BEA2-FC5C926932C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1A648A5C-9182-4D17-98CE-88FB4B51B8B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EB8F245-8298-49EC-9BDD-177D47B468C8}" type="slidenum">
              <a:rPr lang="zh-CN" altLang="en-US" smtClean="0"/>
              <a:t>‹#›</a:t>
            </a:fld>
            <a:endParaRPr lang="zh-CN" altLang="en-US"/>
          </a:p>
        </p:txBody>
      </p:sp>
    </p:spTree>
    <p:extLst>
      <p:ext uri="{BB962C8B-B14F-4D97-AF65-F5344CB8AC3E}">
        <p14:creationId xmlns:p14="http://schemas.microsoft.com/office/powerpoint/2010/main" val="36838622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50000"/>
            <a:lum/>
          </a:blip>
          <a:srcRect/>
          <a:stretch>
            <a:fillRect t="-9000" b="-9000"/>
          </a:stretch>
        </a:blip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9C1D02-344F-459A-86C8-706C281250DA}"/>
              </a:ext>
            </a:extLst>
          </p:cNvPr>
          <p:cNvSpPr>
            <a:spLocks noGrp="1"/>
          </p:cNvSpPr>
          <p:nvPr>
            <p:ph type="ctrTitle"/>
          </p:nvPr>
        </p:nvSpPr>
        <p:spPr>
          <a:xfrm>
            <a:off x="942109" y="1808163"/>
            <a:ext cx="9144000" cy="2387600"/>
          </a:xfrm>
        </p:spPr>
        <p:txBody>
          <a:bodyPr/>
          <a:lstStyle/>
          <a:p>
            <a:pPr>
              <a:lnSpc>
                <a:spcPct val="150000"/>
              </a:lnSpc>
            </a:pPr>
            <a:r>
              <a:rPr lang="zh-CN" altLang="en-US" b="1" dirty="0">
                <a:latin typeface="微软雅黑" panose="020B0503020204020204" pitchFamily="34" charset="-122"/>
                <a:ea typeface="微软雅黑" panose="020B0503020204020204" pitchFamily="34" charset="-122"/>
              </a:rPr>
              <a:t>高级英语</a:t>
            </a:r>
            <a:br>
              <a:rPr lang="en-US" altLang="zh-CN" b="1" dirty="0">
                <a:latin typeface="微软雅黑" panose="020B0503020204020204" pitchFamily="34" charset="-122"/>
                <a:ea typeface="微软雅黑" panose="020B0503020204020204" pitchFamily="34" charset="-122"/>
              </a:rPr>
            </a:br>
            <a:r>
              <a:rPr lang="zh-CN" altLang="en-US" sz="4000" dirty="0">
                <a:latin typeface="微软雅黑" panose="020B0503020204020204" pitchFamily="34" charset="-122"/>
                <a:ea typeface="微软雅黑" panose="020B0503020204020204" pitchFamily="34" charset="-122"/>
              </a:rPr>
              <a:t>基础精讲八</a:t>
            </a:r>
            <a:endParaRPr lang="zh-CN" altLang="en-US" dirty="0">
              <a:latin typeface="微软雅黑" panose="020B0503020204020204" pitchFamily="34" charset="-122"/>
              <a:ea typeface="微软雅黑" panose="020B0503020204020204" pitchFamily="34" charset="-122"/>
            </a:endParaRPr>
          </a:p>
        </p:txBody>
      </p:sp>
      <p:sp>
        <p:nvSpPr>
          <p:cNvPr id="3" name="矩形 2">
            <a:extLst>
              <a:ext uri="{FF2B5EF4-FFF2-40B4-BE49-F238E27FC236}">
                <a16:creationId xmlns:a16="http://schemas.microsoft.com/office/drawing/2014/main" id="{5E84CD98-BAD0-4D2E-AAC7-A6C29263F10D}"/>
              </a:ext>
            </a:extLst>
          </p:cNvPr>
          <p:cNvSpPr/>
          <p:nvPr/>
        </p:nvSpPr>
        <p:spPr>
          <a:xfrm>
            <a:off x="203715" y="44586"/>
            <a:ext cx="187102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1.9.1</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2031481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3E79D03D-A72F-4E7E-88A4-3ECF2404400A}"/>
              </a:ext>
            </a:extLst>
          </p:cNvPr>
          <p:cNvSpPr txBox="1"/>
          <p:nvPr/>
        </p:nvSpPr>
        <p:spPr>
          <a:xfrm>
            <a:off x="561110" y="533400"/>
            <a:ext cx="8707581"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9</a:t>
            </a:r>
            <a:endParaRPr kumimoji="0" lang="zh-CN" altLang="en-US"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8" name="文本框 7">
            <a:extLst>
              <a:ext uri="{FF2B5EF4-FFF2-40B4-BE49-F238E27FC236}">
                <a16:creationId xmlns:a16="http://schemas.microsoft.com/office/drawing/2014/main" id="{A652A518-054F-4213-8966-D9339CF6F0EB}"/>
              </a:ext>
            </a:extLst>
          </p:cNvPr>
          <p:cNvSpPr txBox="1"/>
          <p:nvPr/>
        </p:nvSpPr>
        <p:spPr>
          <a:xfrm>
            <a:off x="561110" y="1489364"/>
            <a:ext cx="11194472" cy="1884618"/>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Para 1</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It is difficult to escape the influence of television. If you fit the statistical</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（统计学的）</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averages, by the age of 20 you will have been exposed</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（暴露）</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to at least 20,000 hours of television. You can add 10,000 hours for each decade you have lived after the age of 20. The only things Americans do more than watch television are work and sleep. </a:t>
            </a:r>
          </a:p>
        </p:txBody>
      </p:sp>
      <p:sp>
        <p:nvSpPr>
          <p:cNvPr id="2" name="矩形 1">
            <a:extLst>
              <a:ext uri="{FF2B5EF4-FFF2-40B4-BE49-F238E27FC236}">
                <a16:creationId xmlns:a16="http://schemas.microsoft.com/office/drawing/2014/main" id="{BE1C8CCD-965E-4EC7-B6EA-BC240D411AF0}"/>
              </a:ext>
            </a:extLst>
          </p:cNvPr>
          <p:cNvSpPr/>
          <p:nvPr/>
        </p:nvSpPr>
        <p:spPr>
          <a:xfrm>
            <a:off x="203715" y="107506"/>
            <a:ext cx="187102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1.9.1</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
        <p:nvSpPr>
          <p:cNvPr id="3" name="矩形 2">
            <a:extLst>
              <a:ext uri="{FF2B5EF4-FFF2-40B4-BE49-F238E27FC236}">
                <a16:creationId xmlns:a16="http://schemas.microsoft.com/office/drawing/2014/main" id="{FC6BAEFD-2779-42B4-8DA1-704D2A2E4767}"/>
              </a:ext>
            </a:extLst>
          </p:cNvPr>
          <p:cNvSpPr/>
          <p:nvPr/>
        </p:nvSpPr>
        <p:spPr>
          <a:xfrm>
            <a:off x="561110" y="30561"/>
            <a:ext cx="6096000" cy="523220"/>
          </a:xfrm>
          <a:prstGeom prst="rect">
            <a:avLst/>
          </a:prstGeom>
        </p:spPr>
        <p:txBody>
          <a:bodyPr>
            <a:spAutoFit/>
          </a:bodyPr>
          <a:lstStyle/>
          <a:p>
            <a:br>
              <a:rPr lang="zh-CN" altLang="en-US" sz="1400" dirty="0">
                <a:solidFill>
                  <a:schemeClr val="bg1">
                    <a:lumMod val="95000"/>
                  </a:schemeClr>
                </a:solidFill>
                <a:latin typeface="Helvetica Neue For Number"/>
              </a:rPr>
            </a:br>
            <a:r>
              <a:rPr lang="en-US" altLang="zh-CN" sz="1400" dirty="0">
                <a:solidFill>
                  <a:schemeClr val="bg1">
                    <a:lumMod val="95000"/>
                  </a:schemeClr>
                </a:solidFill>
                <a:latin typeface="Helvetica Neue For Number"/>
              </a:rPr>
              <a:t>1.1.1.9</a:t>
            </a:r>
            <a:r>
              <a:rPr lang="zh-CN" altLang="en-US" sz="1400" dirty="0">
                <a:solidFill>
                  <a:schemeClr val="bg1">
                    <a:lumMod val="95000"/>
                  </a:schemeClr>
                </a:solidFill>
                <a:latin typeface="Helvetica Neue For Number"/>
              </a:rPr>
              <a:t>电视的毛病</a:t>
            </a:r>
            <a:r>
              <a:rPr lang="en-US" altLang="zh-CN" sz="1400" dirty="0">
                <a:solidFill>
                  <a:schemeClr val="bg1">
                    <a:lumMod val="95000"/>
                  </a:schemeClr>
                </a:solidFill>
                <a:latin typeface="Helvetica Neue For Number"/>
              </a:rPr>
              <a:t>(The Trouble with Television)</a:t>
            </a:r>
            <a:endParaRPr lang="zh-CN" altLang="en-US" sz="1400" dirty="0">
              <a:solidFill>
                <a:schemeClr val="bg1">
                  <a:lumMod val="95000"/>
                </a:schemeClr>
              </a:solidFill>
            </a:endParaRPr>
          </a:p>
        </p:txBody>
      </p:sp>
    </p:spTree>
    <p:extLst>
      <p:ext uri="{BB962C8B-B14F-4D97-AF65-F5344CB8AC3E}">
        <p14:creationId xmlns:p14="http://schemas.microsoft.com/office/powerpoint/2010/main" val="5004739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3E79D03D-A72F-4E7E-88A4-3ECF2404400A}"/>
              </a:ext>
            </a:extLst>
          </p:cNvPr>
          <p:cNvSpPr txBox="1"/>
          <p:nvPr/>
        </p:nvSpPr>
        <p:spPr>
          <a:xfrm>
            <a:off x="561110" y="533400"/>
            <a:ext cx="8707581"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9</a:t>
            </a:r>
            <a:endParaRPr kumimoji="0" lang="zh-CN" altLang="en-US"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8" name="文本框 7">
            <a:extLst>
              <a:ext uri="{FF2B5EF4-FFF2-40B4-BE49-F238E27FC236}">
                <a16:creationId xmlns:a16="http://schemas.microsoft.com/office/drawing/2014/main" id="{A652A518-054F-4213-8966-D9339CF6F0EB}"/>
              </a:ext>
            </a:extLst>
          </p:cNvPr>
          <p:cNvSpPr txBox="1"/>
          <p:nvPr/>
        </p:nvSpPr>
        <p:spPr>
          <a:xfrm>
            <a:off x="561110" y="1489364"/>
            <a:ext cx="11194472" cy="3269613"/>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Para 1</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It is difficult to escape the influence of television. If you fit the </a:t>
            </a:r>
            <a:r>
              <a:rPr kumimoji="0" lang="en-US" altLang="zh-CN" sz="20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statistical</a:t>
            </a:r>
            <a:r>
              <a:rPr kumimoji="0" lang="zh-CN" altLang="en-US" sz="20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（统计学的）</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averages, by the age of 20 you will have been </a:t>
            </a:r>
            <a:r>
              <a:rPr kumimoji="0" lang="en-US" altLang="zh-CN" sz="20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exposed</a:t>
            </a:r>
            <a:r>
              <a:rPr kumimoji="0" lang="zh-CN" altLang="en-US" sz="20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（暴露）</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to at least 20,000 hours of television. You can add 10,000 hours for each decade you have lived after the age of 20. The only things Americans do more than watch television are work and sleep.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要摆脱电视的影响是困难的，假如统计学的平均数字适用于你的话，那么你到</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20</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岁的时候就至少看过</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万个小时的电视了，从那以后每生活</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10</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年就会增加</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万小时。美国人只有在工作和睡眠上花时间比看电视更多。</a:t>
            </a: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pic>
        <p:nvPicPr>
          <p:cNvPr id="1026" name="Picture 2" descr="https://timgsa.baidu.com/timg?image&amp;quality=80&amp;size=b9999_10000&amp;sec=1561972507516&amp;di=91e95834b362363342e8df42c506f425&amp;imgtype=0&amp;src=http%3A%2F%2Fimg.mp.itc.cn%2Fupload%2F20170216%2Fbd341b459ce44d8a9b98fd71443dc425_th.jpg">
            <a:extLst>
              <a:ext uri="{FF2B5EF4-FFF2-40B4-BE49-F238E27FC236}">
                <a16:creationId xmlns:a16="http://schemas.microsoft.com/office/drawing/2014/main" id="{1CDEF5C4-B14B-4B2E-B65D-271BC72995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39282" y="4366021"/>
            <a:ext cx="2980293" cy="2414324"/>
          </a:xfrm>
          <a:prstGeom prst="rect">
            <a:avLst/>
          </a:prstGeom>
          <a:noFill/>
          <a:extLst>
            <a:ext uri="{909E8E84-426E-40DD-AFC4-6F175D3DCCD1}">
              <a14:hiddenFill xmlns:a14="http://schemas.microsoft.com/office/drawing/2010/main">
                <a:solidFill>
                  <a:srgbClr val="FFFFFF"/>
                </a:solidFill>
              </a14:hiddenFill>
            </a:ext>
          </a:extLst>
        </p:spPr>
      </p:pic>
      <p:sp>
        <p:nvSpPr>
          <p:cNvPr id="5" name="矩形 4">
            <a:extLst>
              <a:ext uri="{FF2B5EF4-FFF2-40B4-BE49-F238E27FC236}">
                <a16:creationId xmlns:a16="http://schemas.microsoft.com/office/drawing/2014/main" id="{DBFCE677-D9FC-4BF4-9579-9CE4130CF4FF}"/>
              </a:ext>
            </a:extLst>
          </p:cNvPr>
          <p:cNvSpPr/>
          <p:nvPr/>
        </p:nvSpPr>
        <p:spPr>
          <a:xfrm>
            <a:off x="203715" y="224695"/>
            <a:ext cx="187102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1.9.1</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2041660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3E79D03D-A72F-4E7E-88A4-3ECF2404400A}"/>
              </a:ext>
            </a:extLst>
          </p:cNvPr>
          <p:cNvSpPr txBox="1"/>
          <p:nvPr/>
        </p:nvSpPr>
        <p:spPr>
          <a:xfrm>
            <a:off x="561110" y="533400"/>
            <a:ext cx="8707581"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9</a:t>
            </a:r>
            <a:endParaRPr kumimoji="0" lang="zh-CN" altLang="en-US"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8" name="文本框 7">
            <a:extLst>
              <a:ext uri="{FF2B5EF4-FFF2-40B4-BE49-F238E27FC236}">
                <a16:creationId xmlns:a16="http://schemas.microsoft.com/office/drawing/2014/main" id="{A652A518-054F-4213-8966-D9339CF6F0EB}"/>
              </a:ext>
            </a:extLst>
          </p:cNvPr>
          <p:cNvSpPr txBox="1"/>
          <p:nvPr/>
        </p:nvSpPr>
        <p:spPr>
          <a:xfrm>
            <a:off x="561110" y="1489364"/>
            <a:ext cx="11194472" cy="3367397"/>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Para 2</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Calculate for a moment what could be done with even a part of those hours. Five thousand hours, I am told, are what a typical</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（典型的）</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college undergraduate spends working on a bachelor‘s degree</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（学士学位）</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In 10,000 hours you could have learned enough to become an astronomer</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（天文学家）</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or engineer. You could have learned several languages fluently</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（流利地）</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If it appealed to</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（吸引）</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you, you could be reading Homer in the original</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（原始的）</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Greek or Dostoyevsky in Russian. If it didn't, you could have walked around the world and written a book about it. </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 name="矩形 4">
            <a:extLst>
              <a:ext uri="{FF2B5EF4-FFF2-40B4-BE49-F238E27FC236}">
                <a16:creationId xmlns:a16="http://schemas.microsoft.com/office/drawing/2014/main" id="{72AC40BD-D0E5-47CA-A033-B99EDFBAE93C}"/>
              </a:ext>
            </a:extLst>
          </p:cNvPr>
          <p:cNvSpPr/>
          <p:nvPr/>
        </p:nvSpPr>
        <p:spPr>
          <a:xfrm>
            <a:off x="203715" y="224695"/>
            <a:ext cx="187102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1.9.2</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0559064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a:extLst>
              <a:ext uri="{FF2B5EF4-FFF2-40B4-BE49-F238E27FC236}">
                <a16:creationId xmlns:a16="http://schemas.microsoft.com/office/drawing/2014/main" id="{FD80A4E7-580B-4137-894B-33435330080C}"/>
              </a:ext>
            </a:extLst>
          </p:cNvPr>
          <p:cNvSpPr txBox="1"/>
          <p:nvPr/>
        </p:nvSpPr>
        <p:spPr>
          <a:xfrm>
            <a:off x="1641546" y="5186295"/>
            <a:ext cx="227127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bachelor</a:t>
            </a:r>
            <a:endPar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 name="文本框 10">
            <a:extLst>
              <a:ext uri="{FF2B5EF4-FFF2-40B4-BE49-F238E27FC236}">
                <a16:creationId xmlns:a16="http://schemas.microsoft.com/office/drawing/2014/main" id="{C1E13C98-8885-400C-B20F-5CB05040596B}"/>
              </a:ext>
            </a:extLst>
          </p:cNvPr>
          <p:cNvSpPr txBox="1"/>
          <p:nvPr/>
        </p:nvSpPr>
        <p:spPr>
          <a:xfrm>
            <a:off x="4960360" y="5186295"/>
            <a:ext cx="227127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master</a:t>
            </a:r>
            <a:endPar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pic>
        <p:nvPicPr>
          <p:cNvPr id="2050" name="Picture 2" descr="https://timgsa.baidu.com/timg?image&amp;quality=80&amp;size=b9999_10000&amp;sec=1561985859295&amp;di=26d2625b28f76fcb27b7e323ac158e0f&amp;imgtype=0&amp;src=http%3A%2F%2Fs9.sinaimg.cn%2Fbmiddle%2F5406aac3070c75b15baf8">
            <a:extLst>
              <a:ext uri="{FF2B5EF4-FFF2-40B4-BE49-F238E27FC236}">
                <a16:creationId xmlns:a16="http://schemas.microsoft.com/office/drawing/2014/main" id="{72EB19E9-27F3-4893-B8EE-CF9C376CCB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6662" y="760882"/>
            <a:ext cx="2705100" cy="404812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https://gss0.bdstatic.com/-4o3dSag_xI4khGkpoWK1HF6hhy/baike/w%3D268%3Bg%3D0/sign=d1a9804449166d22387712927e186eca/6609c93d70cf3bc71b6fca63db00baa1cc112ad5.jpg">
            <a:extLst>
              <a:ext uri="{FF2B5EF4-FFF2-40B4-BE49-F238E27FC236}">
                <a16:creationId xmlns:a16="http://schemas.microsoft.com/office/drawing/2014/main" id="{CE2D3274-3395-4DD1-B127-2959F8DE95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37987" y="1276411"/>
            <a:ext cx="2691103" cy="3462338"/>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https://gss0.bdstatic.com/94o3dSag_xI4khGkpoWK1HF6hhy/baike/w%3D268%3Bg%3D0/sign=33c1b35852afa40f3cc6c9db935f6472/adaf2edda3cc7cd9cd2130b33101213fb80e914f.jpg">
            <a:extLst>
              <a:ext uri="{FF2B5EF4-FFF2-40B4-BE49-F238E27FC236}">
                <a16:creationId xmlns:a16="http://schemas.microsoft.com/office/drawing/2014/main" id="{4662E737-DDC2-4B2B-9067-3538F87DDEB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42638" y="1356669"/>
            <a:ext cx="2083672" cy="3382080"/>
          </a:xfrm>
          <a:prstGeom prst="rect">
            <a:avLst/>
          </a:prstGeom>
          <a:noFill/>
          <a:extLst>
            <a:ext uri="{909E8E84-426E-40DD-AFC4-6F175D3DCCD1}">
              <a14:hiddenFill xmlns:a14="http://schemas.microsoft.com/office/drawing/2010/main">
                <a:solidFill>
                  <a:srgbClr val="FFFFFF"/>
                </a:solidFill>
              </a14:hiddenFill>
            </a:ext>
          </a:extLst>
        </p:spPr>
      </p:pic>
      <p:sp>
        <p:nvSpPr>
          <p:cNvPr id="12" name="文本框 11">
            <a:extLst>
              <a:ext uri="{FF2B5EF4-FFF2-40B4-BE49-F238E27FC236}">
                <a16:creationId xmlns:a16="http://schemas.microsoft.com/office/drawing/2014/main" id="{6DFBC4EE-EA38-414D-BCA1-9807EE68F5C5}"/>
              </a:ext>
            </a:extLst>
          </p:cNvPr>
          <p:cNvSpPr txBox="1"/>
          <p:nvPr/>
        </p:nvSpPr>
        <p:spPr>
          <a:xfrm>
            <a:off x="8881678" y="5186295"/>
            <a:ext cx="227127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doctor</a:t>
            </a:r>
            <a:endPar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 name="矩形 7">
            <a:extLst>
              <a:ext uri="{FF2B5EF4-FFF2-40B4-BE49-F238E27FC236}">
                <a16:creationId xmlns:a16="http://schemas.microsoft.com/office/drawing/2014/main" id="{D93E3ACE-3F16-47B1-8113-7EC5D53582D0}"/>
              </a:ext>
            </a:extLst>
          </p:cNvPr>
          <p:cNvSpPr/>
          <p:nvPr/>
        </p:nvSpPr>
        <p:spPr>
          <a:xfrm>
            <a:off x="203715" y="224695"/>
            <a:ext cx="187102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1.9.2</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0355588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3E79D03D-A72F-4E7E-88A4-3ECF2404400A}"/>
              </a:ext>
            </a:extLst>
          </p:cNvPr>
          <p:cNvSpPr txBox="1"/>
          <p:nvPr/>
        </p:nvSpPr>
        <p:spPr>
          <a:xfrm>
            <a:off x="561110" y="533400"/>
            <a:ext cx="8707581"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9</a:t>
            </a:r>
            <a:endParaRPr kumimoji="0" lang="zh-CN" altLang="en-US"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8" name="文本框 7">
            <a:extLst>
              <a:ext uri="{FF2B5EF4-FFF2-40B4-BE49-F238E27FC236}">
                <a16:creationId xmlns:a16="http://schemas.microsoft.com/office/drawing/2014/main" id="{A652A518-054F-4213-8966-D9339CF6F0EB}"/>
              </a:ext>
            </a:extLst>
          </p:cNvPr>
          <p:cNvSpPr txBox="1"/>
          <p:nvPr/>
        </p:nvSpPr>
        <p:spPr>
          <a:xfrm>
            <a:off x="561110" y="1489364"/>
            <a:ext cx="11194472" cy="4198393"/>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Para 2</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Calculate for a moment what could be done with even a part of those hours. Five thousand hours, I am told, are what a </a:t>
            </a: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typical</a:t>
            </a:r>
            <a:r>
              <a:rPr kumimoji="0" lang="zh-CN" altLang="en-US"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（典型的）</a:t>
            </a: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 </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college </a:t>
            </a: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undergraduate</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spends working on a </a:t>
            </a: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bachelor‘s degree</a:t>
            </a:r>
            <a:r>
              <a:rPr kumimoji="0" lang="zh-CN" altLang="en-US"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（学士学位）</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In 10,000 hours you could have learned enough to become an </a:t>
            </a: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astronomer</a:t>
            </a:r>
            <a:r>
              <a:rPr kumimoji="0" lang="zh-CN" altLang="en-US"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（天文学家）</a:t>
            </a: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 </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or engineer. You could have learned several languages </a:t>
            </a: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fluently</a:t>
            </a:r>
            <a:r>
              <a:rPr kumimoji="0" lang="zh-CN" altLang="en-US"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（流利地）</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If it </a:t>
            </a: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appealed to</a:t>
            </a:r>
            <a:r>
              <a:rPr kumimoji="0" lang="zh-CN" altLang="en-US"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（吸引）</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you, you could be reading Homer in the </a:t>
            </a: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original</a:t>
            </a:r>
            <a:r>
              <a:rPr kumimoji="0" lang="zh-CN" altLang="en-US"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（原始的）</a:t>
            </a: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 </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Greek or Dostoyevsky in Russian. If it didn't, you could have walked around the world and written a book about it.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稍微计算一下，使用这些时间的一部分能够做些什么。听说一个大学生仅用</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5000</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小时就可以获得学士学位。在</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万个小时内你能学成一个天文学家或工程师，流利掌握几门外语。如果你感兴趣的话，你可能读希腊原文的荷马史诗或俄文版的陀思妥耶夫斯基的作品；如果对此不感兴趣，那你可以徒步周游世界，撰写一本游记。 </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 name="矩形 4">
            <a:extLst>
              <a:ext uri="{FF2B5EF4-FFF2-40B4-BE49-F238E27FC236}">
                <a16:creationId xmlns:a16="http://schemas.microsoft.com/office/drawing/2014/main" id="{BB973D7D-A6B3-4C9D-A6C6-50B5F30ECC8D}"/>
              </a:ext>
            </a:extLst>
          </p:cNvPr>
          <p:cNvSpPr/>
          <p:nvPr/>
        </p:nvSpPr>
        <p:spPr>
          <a:xfrm>
            <a:off x="203715" y="224695"/>
            <a:ext cx="187102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1.9.2</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8578945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3E79D03D-A72F-4E7E-88A4-3ECF2404400A}"/>
              </a:ext>
            </a:extLst>
          </p:cNvPr>
          <p:cNvSpPr txBox="1"/>
          <p:nvPr/>
        </p:nvSpPr>
        <p:spPr>
          <a:xfrm>
            <a:off x="561110" y="533400"/>
            <a:ext cx="8707581"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9</a:t>
            </a:r>
            <a:endParaRPr kumimoji="0" lang="zh-CN" altLang="en-US"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pic>
        <p:nvPicPr>
          <p:cNvPr id="3" name="图片 2">
            <a:extLst>
              <a:ext uri="{FF2B5EF4-FFF2-40B4-BE49-F238E27FC236}">
                <a16:creationId xmlns:a16="http://schemas.microsoft.com/office/drawing/2014/main" id="{90FC2E2D-7CC9-46C3-97F9-F54287654D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0863" y="1343072"/>
            <a:ext cx="8945110" cy="5296268"/>
          </a:xfrm>
          <a:prstGeom prst="rect">
            <a:avLst/>
          </a:prstGeom>
        </p:spPr>
      </p:pic>
      <p:sp>
        <p:nvSpPr>
          <p:cNvPr id="5" name="矩形 4">
            <a:extLst>
              <a:ext uri="{FF2B5EF4-FFF2-40B4-BE49-F238E27FC236}">
                <a16:creationId xmlns:a16="http://schemas.microsoft.com/office/drawing/2014/main" id="{C04BAD1B-ED7B-4512-872F-D42877955D4A}"/>
              </a:ext>
            </a:extLst>
          </p:cNvPr>
          <p:cNvSpPr/>
          <p:nvPr/>
        </p:nvSpPr>
        <p:spPr>
          <a:xfrm>
            <a:off x="203715" y="224695"/>
            <a:ext cx="187102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schemeClr val="bg1">
                    <a:lumMod val="95000"/>
                  </a:schemeClr>
                </a:solidFill>
                <a:effectLst/>
                <a:uLnTx/>
                <a:uFillTx/>
                <a:latin typeface="宋体" panose="02010600030101010101" pitchFamily="2" charset="-122"/>
                <a:ea typeface="宋体" panose="02010600030101010101" pitchFamily="2" charset="-122"/>
                <a:cs typeface="Times New Roman" panose="02020603050405020304" pitchFamily="18" charset="0"/>
              </a:rPr>
              <a:t>1.9.2</a:t>
            </a:r>
            <a:r>
              <a:rPr kumimoji="0" lang="zh-CN" altLang="en-US" sz="1000" b="0" i="0" u="none" strike="noStrike" kern="100" cap="none" spc="0" normalizeH="0" baseline="0" noProof="0" dirty="0">
                <a:ln>
                  <a:noFill/>
                </a:ln>
                <a:solidFill>
                  <a:schemeClr val="bg1">
                    <a:lumMod val="95000"/>
                  </a:scheme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上册第九课第</a:t>
            </a:r>
            <a:r>
              <a:rPr kumimoji="0" lang="en-US" altLang="zh-CN" sz="1000" b="0" i="0" u="none" strike="noStrike" kern="100" cap="none" spc="0" normalizeH="0" baseline="0" noProof="0" dirty="0">
                <a:ln>
                  <a:noFill/>
                </a:ln>
                <a:solidFill>
                  <a:schemeClr val="bg1">
                    <a:lumMod val="95000"/>
                  </a:schemeClr>
                </a:solidFill>
                <a:effectLst/>
                <a:uLnTx/>
                <a:uFillTx/>
                <a:latin typeface="宋体" panose="02010600030101010101" pitchFamily="2" charset="-122"/>
                <a:ea typeface="宋体" panose="02010600030101010101" pitchFamily="2" charset="-122"/>
                <a:cs typeface="Times New Roman" panose="02020603050405020304" pitchFamily="18" charset="0"/>
              </a:rPr>
              <a:t>2</a:t>
            </a:r>
            <a:r>
              <a:rPr kumimoji="0" lang="zh-CN" altLang="en-US" sz="1000" b="0" i="0" u="none" strike="noStrike" kern="100" cap="none" spc="0" normalizeH="0" baseline="0" noProof="0" dirty="0">
                <a:ln>
                  <a:noFill/>
                </a:ln>
                <a:solidFill>
                  <a:schemeClr val="bg1">
                    <a:lumMod val="95000"/>
                  </a:scheme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schemeClr val="bg1">
                  <a:lumMod val="95000"/>
                </a:scheme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956431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3E79D03D-A72F-4E7E-88A4-3ECF2404400A}"/>
              </a:ext>
            </a:extLst>
          </p:cNvPr>
          <p:cNvSpPr txBox="1"/>
          <p:nvPr/>
        </p:nvSpPr>
        <p:spPr>
          <a:xfrm>
            <a:off x="561110" y="533400"/>
            <a:ext cx="8707581"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9</a:t>
            </a:r>
            <a:endParaRPr kumimoji="0" lang="zh-CN" altLang="en-US"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8" name="文本框 7">
            <a:extLst>
              <a:ext uri="{FF2B5EF4-FFF2-40B4-BE49-F238E27FC236}">
                <a16:creationId xmlns:a16="http://schemas.microsoft.com/office/drawing/2014/main" id="{A652A518-054F-4213-8966-D9339CF6F0EB}"/>
              </a:ext>
            </a:extLst>
          </p:cNvPr>
          <p:cNvSpPr txBox="1"/>
          <p:nvPr/>
        </p:nvSpPr>
        <p:spPr>
          <a:xfrm>
            <a:off x="561110" y="1489364"/>
            <a:ext cx="11194472" cy="2536400"/>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Para 3</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The trouble with television is that it discourages concentration. Almost anything interesting and rewarding in life requires some constructive</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（有建设性的）</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consistently</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（始终如一地）</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applied effort. The dullest, the least gifted of us can achieve things that seem miraculous</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（奇迹般的）</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to those who never concentrate on anything. But television encourages us to apply no effort. It sells us instant gratification</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（即时满足）</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It diverts</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（使欢愉）</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us only to divert, to make the time pass without pain. </a:t>
            </a:r>
          </a:p>
        </p:txBody>
      </p:sp>
      <p:sp>
        <p:nvSpPr>
          <p:cNvPr id="5" name="矩形 4">
            <a:extLst>
              <a:ext uri="{FF2B5EF4-FFF2-40B4-BE49-F238E27FC236}">
                <a16:creationId xmlns:a16="http://schemas.microsoft.com/office/drawing/2014/main" id="{3B633A76-3BC5-4840-9C68-8C75FC290E2B}"/>
              </a:ext>
            </a:extLst>
          </p:cNvPr>
          <p:cNvSpPr/>
          <p:nvPr/>
        </p:nvSpPr>
        <p:spPr>
          <a:xfrm>
            <a:off x="203715" y="224695"/>
            <a:ext cx="187102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1.9.3</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3</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9880072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3E79D03D-A72F-4E7E-88A4-3ECF2404400A}"/>
              </a:ext>
            </a:extLst>
          </p:cNvPr>
          <p:cNvSpPr txBox="1"/>
          <p:nvPr/>
        </p:nvSpPr>
        <p:spPr>
          <a:xfrm>
            <a:off x="561110" y="533400"/>
            <a:ext cx="8707581"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9</a:t>
            </a:r>
            <a:endParaRPr kumimoji="0" lang="zh-CN" altLang="en-US"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8" name="文本框 7">
            <a:extLst>
              <a:ext uri="{FF2B5EF4-FFF2-40B4-BE49-F238E27FC236}">
                <a16:creationId xmlns:a16="http://schemas.microsoft.com/office/drawing/2014/main" id="{A652A518-054F-4213-8966-D9339CF6F0EB}"/>
              </a:ext>
            </a:extLst>
          </p:cNvPr>
          <p:cNvSpPr txBox="1"/>
          <p:nvPr/>
        </p:nvSpPr>
        <p:spPr>
          <a:xfrm>
            <a:off x="561110" y="1489364"/>
            <a:ext cx="11194472" cy="2536400"/>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Para 3</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The trouble with television is that it discourages concentration. Almost anything interesting and rewarding in life requires some constructive</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（有建设性的）</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consistently</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（始终如一地）</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applied effort. The dullest, the least gifted of us can achieve things that seem miraculous</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（奇迹般的）</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to those who never concentrate on anything. But television encourages us to apply no effort. It sells us instant gratification</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（即时满足）</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It diverts</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（使欢愉）</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us only to divert, to make the time pass without pain. </a:t>
            </a:r>
          </a:p>
        </p:txBody>
      </p:sp>
      <p:pic>
        <p:nvPicPr>
          <p:cNvPr id="13314" name="Picture 2">
            <a:extLst>
              <a:ext uri="{FF2B5EF4-FFF2-40B4-BE49-F238E27FC236}">
                <a16:creationId xmlns:a16="http://schemas.microsoft.com/office/drawing/2014/main" id="{B4EE3ACC-0DCB-4394-BEAB-83A938567A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58481" y="4153756"/>
            <a:ext cx="3020419" cy="2429759"/>
          </a:xfrm>
          <a:prstGeom prst="rect">
            <a:avLst/>
          </a:prstGeom>
          <a:noFill/>
          <a:extLst>
            <a:ext uri="{909E8E84-426E-40DD-AFC4-6F175D3DCCD1}">
              <a14:hiddenFill xmlns:a14="http://schemas.microsoft.com/office/drawing/2010/main">
                <a:solidFill>
                  <a:srgbClr val="FFFFFF"/>
                </a:solidFill>
              </a14:hiddenFill>
            </a:ext>
          </a:extLst>
        </p:spPr>
      </p:pic>
      <p:sp>
        <p:nvSpPr>
          <p:cNvPr id="5" name="矩形 4">
            <a:extLst>
              <a:ext uri="{FF2B5EF4-FFF2-40B4-BE49-F238E27FC236}">
                <a16:creationId xmlns:a16="http://schemas.microsoft.com/office/drawing/2014/main" id="{2EE03E93-7EE1-4F7A-AD46-12C7254FC5F1}"/>
              </a:ext>
            </a:extLst>
          </p:cNvPr>
          <p:cNvSpPr/>
          <p:nvPr/>
        </p:nvSpPr>
        <p:spPr>
          <a:xfrm>
            <a:off x="203715" y="224695"/>
            <a:ext cx="187102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1.9.3</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3</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0883700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3E79D03D-A72F-4E7E-88A4-3ECF2404400A}"/>
              </a:ext>
            </a:extLst>
          </p:cNvPr>
          <p:cNvSpPr txBox="1"/>
          <p:nvPr/>
        </p:nvSpPr>
        <p:spPr>
          <a:xfrm>
            <a:off x="561110" y="533400"/>
            <a:ext cx="8707581"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9</a:t>
            </a:r>
            <a:endParaRPr kumimoji="0" lang="zh-CN" altLang="en-US"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8" name="文本框 7">
            <a:extLst>
              <a:ext uri="{FF2B5EF4-FFF2-40B4-BE49-F238E27FC236}">
                <a16:creationId xmlns:a16="http://schemas.microsoft.com/office/drawing/2014/main" id="{A652A518-054F-4213-8966-D9339CF6F0EB}"/>
              </a:ext>
            </a:extLst>
          </p:cNvPr>
          <p:cNvSpPr txBox="1"/>
          <p:nvPr/>
        </p:nvSpPr>
        <p:spPr>
          <a:xfrm>
            <a:off x="561110" y="1489364"/>
            <a:ext cx="11194472" cy="4198393"/>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Para 3</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The trouble with television is that it discourages concentration. Almost anything interesting and rewarding in life requires some </a:t>
            </a: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constructive</a:t>
            </a:r>
            <a:r>
              <a:rPr kumimoji="0" lang="zh-CN" altLang="en-US"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（有建设性的）</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consistently</a:t>
            </a:r>
            <a:r>
              <a:rPr kumimoji="0" lang="zh-CN" altLang="en-US"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（始终如一地）</a:t>
            </a: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 </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applied effort. The dullest, the least gifted of us can achieve things that seem </a:t>
            </a: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miraculous</a:t>
            </a:r>
            <a:r>
              <a:rPr kumimoji="0" lang="zh-CN" altLang="en-US"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（奇迹般的）</a:t>
            </a: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 </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to those who never </a:t>
            </a: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concentrate on</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anything. But Television encourages us to apply no effort. It sells us </a:t>
            </a: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instant gratification</a:t>
            </a:r>
            <a:r>
              <a:rPr kumimoji="0" lang="zh-CN" altLang="en-US"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（即时满足）</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It </a:t>
            </a: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diverts</a:t>
            </a:r>
            <a:r>
              <a:rPr kumimoji="0" lang="zh-CN" altLang="en-US"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（使欢愉）</a:t>
            </a: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 </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us only to divert, to make the time pass without pain.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电视的问题在于它分散了人们的注意力。生活中几乎一切有趣的、能给人以满足的事都需要一定的建设性的、持之以恒的努力。即使是我们中间那些最迟钝、最没有天赋的人也能做出一些事来，而这些事使那些从来不在任何事情上专心致志的人感到像是奇迹一般。但电视鼓励我们不做出任何努力，它向我们兜售即时的满足，它给我们提供娱乐，使我们只想娱乐，让时间在毫无痛苦中消磨掉。</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 name="矩形 4">
            <a:extLst>
              <a:ext uri="{FF2B5EF4-FFF2-40B4-BE49-F238E27FC236}">
                <a16:creationId xmlns:a16="http://schemas.microsoft.com/office/drawing/2014/main" id="{CB393265-07F3-4333-9861-8CABC1C052BC}"/>
              </a:ext>
            </a:extLst>
          </p:cNvPr>
          <p:cNvSpPr/>
          <p:nvPr/>
        </p:nvSpPr>
        <p:spPr>
          <a:xfrm>
            <a:off x="203715" y="224695"/>
            <a:ext cx="187102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1.9.3</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3</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1844328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3E79D03D-A72F-4E7E-88A4-3ECF2404400A}"/>
              </a:ext>
            </a:extLst>
          </p:cNvPr>
          <p:cNvSpPr txBox="1"/>
          <p:nvPr/>
        </p:nvSpPr>
        <p:spPr>
          <a:xfrm>
            <a:off x="561110" y="533400"/>
            <a:ext cx="8707581"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9</a:t>
            </a:r>
            <a:endParaRPr kumimoji="0" lang="zh-CN" altLang="en-US"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pic>
        <p:nvPicPr>
          <p:cNvPr id="3" name="图片 2">
            <a:extLst>
              <a:ext uri="{FF2B5EF4-FFF2-40B4-BE49-F238E27FC236}">
                <a16:creationId xmlns:a16="http://schemas.microsoft.com/office/drawing/2014/main" id="{CA772724-CEE4-4B3F-A4E8-9565ABA357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63484" y="1482966"/>
            <a:ext cx="8983194" cy="5005298"/>
          </a:xfrm>
          <a:prstGeom prst="rect">
            <a:avLst/>
          </a:prstGeom>
        </p:spPr>
      </p:pic>
      <p:sp>
        <p:nvSpPr>
          <p:cNvPr id="5" name="矩形 4">
            <a:extLst>
              <a:ext uri="{FF2B5EF4-FFF2-40B4-BE49-F238E27FC236}">
                <a16:creationId xmlns:a16="http://schemas.microsoft.com/office/drawing/2014/main" id="{705F9220-1667-4A60-A294-F802122E1732}"/>
              </a:ext>
            </a:extLst>
          </p:cNvPr>
          <p:cNvSpPr/>
          <p:nvPr/>
        </p:nvSpPr>
        <p:spPr>
          <a:xfrm>
            <a:off x="203715" y="224695"/>
            <a:ext cx="187102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schemeClr val="bg1">
                    <a:lumMod val="95000"/>
                  </a:schemeClr>
                </a:solidFill>
                <a:effectLst/>
                <a:uLnTx/>
                <a:uFillTx/>
                <a:latin typeface="宋体" panose="02010600030101010101" pitchFamily="2" charset="-122"/>
                <a:ea typeface="宋体" panose="02010600030101010101" pitchFamily="2" charset="-122"/>
                <a:cs typeface="Times New Roman" panose="02020603050405020304" pitchFamily="18" charset="0"/>
              </a:rPr>
              <a:t>1.9.3</a:t>
            </a:r>
            <a:r>
              <a:rPr kumimoji="0" lang="zh-CN" altLang="en-US" sz="1000" b="0" i="0" u="none" strike="noStrike" kern="100" cap="none" spc="0" normalizeH="0" baseline="0" noProof="0" dirty="0">
                <a:ln>
                  <a:noFill/>
                </a:ln>
                <a:solidFill>
                  <a:schemeClr val="bg1">
                    <a:lumMod val="95000"/>
                  </a:scheme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上册第九课第</a:t>
            </a:r>
            <a:r>
              <a:rPr kumimoji="0" lang="en-US" altLang="zh-CN" sz="1000" b="0" i="0" u="none" strike="noStrike" kern="100" cap="none" spc="0" normalizeH="0" baseline="0" noProof="0" dirty="0">
                <a:ln>
                  <a:noFill/>
                </a:ln>
                <a:solidFill>
                  <a:schemeClr val="bg1">
                    <a:lumMod val="95000"/>
                  </a:schemeClr>
                </a:solidFill>
                <a:effectLst/>
                <a:uLnTx/>
                <a:uFillTx/>
                <a:latin typeface="宋体" panose="02010600030101010101" pitchFamily="2" charset="-122"/>
                <a:ea typeface="宋体" panose="02010600030101010101" pitchFamily="2" charset="-122"/>
                <a:cs typeface="Times New Roman" panose="02020603050405020304" pitchFamily="18" charset="0"/>
              </a:rPr>
              <a:t>3</a:t>
            </a:r>
            <a:r>
              <a:rPr kumimoji="0" lang="zh-CN" altLang="en-US" sz="1000" b="0" i="0" u="none" strike="noStrike" kern="100" cap="none" spc="0" normalizeH="0" baseline="0" noProof="0" dirty="0">
                <a:ln>
                  <a:noFill/>
                </a:ln>
                <a:solidFill>
                  <a:schemeClr val="bg1">
                    <a:lumMod val="95000"/>
                  </a:scheme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schemeClr val="bg1">
                  <a:lumMod val="95000"/>
                </a:scheme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886615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3E79D03D-A72F-4E7E-88A4-3ECF2404400A}"/>
              </a:ext>
            </a:extLst>
          </p:cNvPr>
          <p:cNvSpPr txBox="1"/>
          <p:nvPr/>
        </p:nvSpPr>
        <p:spPr>
          <a:xfrm>
            <a:off x="561110" y="533400"/>
            <a:ext cx="8707581"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9</a:t>
            </a:r>
            <a:endParaRPr kumimoji="0" lang="zh-CN" altLang="en-US"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8" name="文本框 7">
            <a:extLst>
              <a:ext uri="{FF2B5EF4-FFF2-40B4-BE49-F238E27FC236}">
                <a16:creationId xmlns:a16="http://schemas.microsoft.com/office/drawing/2014/main" id="{A652A518-054F-4213-8966-D9339CF6F0EB}"/>
              </a:ext>
            </a:extLst>
          </p:cNvPr>
          <p:cNvSpPr txBox="1"/>
          <p:nvPr/>
        </p:nvSpPr>
        <p:spPr>
          <a:xfrm>
            <a:off x="561110" y="1489364"/>
            <a:ext cx="11194472" cy="3367397"/>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Para 4</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Television‘s variety</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（多样化）</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becomes a narcotic</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（麻醉剂）</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 nor a stimulus. Its serial</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（系列的）</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kaleidoscopic</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（变化多样的）</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exposures force us to follow its lead. The viewer is on a perpetual</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（不间断的）</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guided tour: 30 minutes at the museum, 30 at the cathedral, 30 for a drink, then back on the bus to the next attraction —-except on television., typically, the spans</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（时间段）</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allotted</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（分配）</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are on the order of minutes or seconds, and the chosen delights are more often car crashes and people killing one another. In short, a lot of television usurps</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（夺取）</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one of the most precious of all human gifts, the ability to focus your attention yourself, rather than just passively</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（被动地）</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surrender</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（投降）</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it. </a:t>
            </a:r>
          </a:p>
        </p:txBody>
      </p:sp>
      <p:sp>
        <p:nvSpPr>
          <p:cNvPr id="5" name="矩形 4">
            <a:extLst>
              <a:ext uri="{FF2B5EF4-FFF2-40B4-BE49-F238E27FC236}">
                <a16:creationId xmlns:a16="http://schemas.microsoft.com/office/drawing/2014/main" id="{46272DE8-8091-40CC-A93B-9213DD7C2689}"/>
              </a:ext>
            </a:extLst>
          </p:cNvPr>
          <p:cNvSpPr/>
          <p:nvPr/>
        </p:nvSpPr>
        <p:spPr>
          <a:xfrm>
            <a:off x="203715" y="44586"/>
            <a:ext cx="187102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1.9.4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9851416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3E79D03D-A72F-4E7E-88A4-3ECF2404400A}"/>
              </a:ext>
            </a:extLst>
          </p:cNvPr>
          <p:cNvSpPr txBox="1"/>
          <p:nvPr/>
        </p:nvSpPr>
        <p:spPr>
          <a:xfrm>
            <a:off x="561110" y="533400"/>
            <a:ext cx="8707581"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9</a:t>
            </a:r>
            <a:endParaRPr kumimoji="0" lang="zh-CN" altLang="en-US"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8" name="文本框 7">
            <a:extLst>
              <a:ext uri="{FF2B5EF4-FFF2-40B4-BE49-F238E27FC236}">
                <a16:creationId xmlns:a16="http://schemas.microsoft.com/office/drawing/2014/main" id="{A652A518-054F-4213-8966-D9339CF6F0EB}"/>
              </a:ext>
            </a:extLst>
          </p:cNvPr>
          <p:cNvSpPr txBox="1"/>
          <p:nvPr/>
        </p:nvSpPr>
        <p:spPr>
          <a:xfrm>
            <a:off x="561110" y="1489364"/>
            <a:ext cx="11194472" cy="3367397"/>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Para 4</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Television‘s variety</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（多样化）</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becomes a narcotic</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（麻醉剂）</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 nor a stimulus. Its serial</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（系列的）</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kaleidoscopic</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（变化多样的）</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exposures force us to follow its lead. The viewer is on a perpetual</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（不间断的）</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guided tour: 30 minutes at the museum, 30 at the cathedral, 30 for a drink, then back on the bus to the next attraction —-except on television., typically, the spans</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（时间段）</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allotted</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（分配）</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are on the order of minutes or seconds, and the chosen delights are more often car crashes and people killing one another. In short, a lot of television usurps</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（夺取）</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one of the most precious of all human gifts, the ability to focus your attention yourself, rather than just passively</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（被动地）</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surrender</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（投降）</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it. </a:t>
            </a:r>
          </a:p>
        </p:txBody>
      </p:sp>
      <p:pic>
        <p:nvPicPr>
          <p:cNvPr id="12290" name="Picture 2">
            <a:extLst>
              <a:ext uri="{FF2B5EF4-FFF2-40B4-BE49-F238E27FC236}">
                <a16:creationId xmlns:a16="http://schemas.microsoft.com/office/drawing/2014/main" id="{F46F72C4-32B4-44B9-9B59-00F5F42F91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05829" y="4583762"/>
            <a:ext cx="3143250" cy="2095500"/>
          </a:xfrm>
          <a:prstGeom prst="rect">
            <a:avLst/>
          </a:prstGeom>
          <a:noFill/>
          <a:extLst>
            <a:ext uri="{909E8E84-426E-40DD-AFC4-6F175D3DCCD1}">
              <a14:hiddenFill xmlns:a14="http://schemas.microsoft.com/office/drawing/2010/main">
                <a:solidFill>
                  <a:srgbClr val="FFFFFF"/>
                </a:solidFill>
              </a14:hiddenFill>
            </a:ext>
          </a:extLst>
        </p:spPr>
      </p:pic>
      <p:sp>
        <p:nvSpPr>
          <p:cNvPr id="5" name="矩形 4">
            <a:extLst>
              <a:ext uri="{FF2B5EF4-FFF2-40B4-BE49-F238E27FC236}">
                <a16:creationId xmlns:a16="http://schemas.microsoft.com/office/drawing/2014/main" id="{635DFA70-1CBC-409B-812E-8163F10FC245}"/>
              </a:ext>
            </a:extLst>
          </p:cNvPr>
          <p:cNvSpPr/>
          <p:nvPr/>
        </p:nvSpPr>
        <p:spPr>
          <a:xfrm>
            <a:off x="203715" y="44586"/>
            <a:ext cx="187102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1.9.4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2132754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3E79D03D-A72F-4E7E-88A4-3ECF2404400A}"/>
              </a:ext>
            </a:extLst>
          </p:cNvPr>
          <p:cNvSpPr txBox="1"/>
          <p:nvPr/>
        </p:nvSpPr>
        <p:spPr>
          <a:xfrm>
            <a:off x="561110" y="533400"/>
            <a:ext cx="8707581"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9</a:t>
            </a:r>
            <a:endParaRPr kumimoji="0" lang="zh-CN" altLang="en-US"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8" name="文本框 7">
            <a:extLst>
              <a:ext uri="{FF2B5EF4-FFF2-40B4-BE49-F238E27FC236}">
                <a16:creationId xmlns:a16="http://schemas.microsoft.com/office/drawing/2014/main" id="{A652A518-054F-4213-8966-D9339CF6F0EB}"/>
              </a:ext>
            </a:extLst>
          </p:cNvPr>
          <p:cNvSpPr txBox="1"/>
          <p:nvPr/>
        </p:nvSpPr>
        <p:spPr>
          <a:xfrm>
            <a:off x="561110" y="1489364"/>
            <a:ext cx="11194472" cy="5029390"/>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Para 4</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Television‘s </a:t>
            </a: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variety</a:t>
            </a:r>
            <a:r>
              <a:rPr kumimoji="0" lang="zh-CN" altLang="en-US"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（多样化）</a:t>
            </a: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 </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becomes a narcotic</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（麻醉剂）</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 nor a </a:t>
            </a: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stimulus</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Its serial</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（系列的）</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kaleidoscopic</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（变化多样的）</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exposures force us to follow its lead. The viewer is on a </a:t>
            </a: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perpetual</a:t>
            </a:r>
            <a:r>
              <a:rPr kumimoji="0" lang="zh-CN" altLang="en-US"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（不间断的）</a:t>
            </a: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 </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guided tour: 30 minutes at the museum, 30 at the cathedral, 30 for a drink, then back on the bus to the next attraction —-except on television, typically, the </a:t>
            </a: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spans</a:t>
            </a:r>
            <a:r>
              <a:rPr kumimoji="0" lang="zh-CN" altLang="en-US"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（时间段）</a:t>
            </a: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 allotted</a:t>
            </a:r>
            <a:r>
              <a:rPr kumimoji="0" lang="zh-CN" altLang="en-US"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（分配）</a:t>
            </a: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 </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are on the order of minutes or seconds, and the chosen delights are more often car crashes and people killing one another. In short, a lot of television </a:t>
            </a: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usurps</a:t>
            </a:r>
            <a:r>
              <a:rPr kumimoji="0" lang="zh-CN" altLang="en-US"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（夺取）</a:t>
            </a: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 </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one of the most precious of all human gifts, the ability to focus your attention yourself, rather than just </a:t>
            </a: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passively</a:t>
            </a:r>
            <a:r>
              <a:rPr kumimoji="0" lang="zh-CN" altLang="en-US"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（被动地）</a:t>
            </a: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 surrender</a:t>
            </a:r>
            <a:r>
              <a:rPr kumimoji="0" lang="zh-CN" altLang="en-US"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（投降）</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it.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电视节目的多样化成了一种麻醉剂而不是促进思考的因素。它那系列的、多变的画面引着我们跟着它走。观众无休无止地跟着导游游览：参观博物馆</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30</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分钟，看大教堂</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30</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分钟，喝饮料</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30</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分钟，然后上车去下一个参观点，只是电视的特点是时间分配以分秒计算，而所选择的内容却多为车祸和人们的互相残杀。总之许多电视节目取代了人类最可贵的一种才能，即主动集中自己的注意力，而不是被动地奉送注意力。 </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 name="矩形 4">
            <a:extLst>
              <a:ext uri="{FF2B5EF4-FFF2-40B4-BE49-F238E27FC236}">
                <a16:creationId xmlns:a16="http://schemas.microsoft.com/office/drawing/2014/main" id="{4EFD57AC-40F0-4300-86A2-17FBEA5F5A67}"/>
              </a:ext>
            </a:extLst>
          </p:cNvPr>
          <p:cNvSpPr/>
          <p:nvPr/>
        </p:nvSpPr>
        <p:spPr>
          <a:xfrm>
            <a:off x="203715" y="44586"/>
            <a:ext cx="187102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1.9.4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1659047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3E79D03D-A72F-4E7E-88A4-3ECF2404400A}"/>
              </a:ext>
            </a:extLst>
          </p:cNvPr>
          <p:cNvSpPr txBox="1"/>
          <p:nvPr/>
        </p:nvSpPr>
        <p:spPr>
          <a:xfrm>
            <a:off x="561110" y="533400"/>
            <a:ext cx="8707581"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9</a:t>
            </a:r>
            <a:endParaRPr kumimoji="0" lang="zh-CN" altLang="en-US"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8" name="文本框 7">
            <a:extLst>
              <a:ext uri="{FF2B5EF4-FFF2-40B4-BE49-F238E27FC236}">
                <a16:creationId xmlns:a16="http://schemas.microsoft.com/office/drawing/2014/main" id="{A652A518-054F-4213-8966-D9339CF6F0EB}"/>
              </a:ext>
            </a:extLst>
          </p:cNvPr>
          <p:cNvSpPr txBox="1"/>
          <p:nvPr/>
        </p:nvSpPr>
        <p:spPr>
          <a:xfrm>
            <a:off x="561110" y="1314435"/>
            <a:ext cx="11194472" cy="2536400"/>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Para 9</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I believe that TV‘s appeal to the short attention span is not only inefficient</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（低效的）</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communication but decivilizing</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（降低文化）</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as well. Consider the casual</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（随便的）</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assumptions that television tends to cultivate: that complexity must be avoided, that visual stimulation is a substitute</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（替代物）</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for thought, that verbal</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（语言的）</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precision is an anachronism</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（过时的事物或思想）</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It may be old-fashioned, but I was taught that thought is words, arranged</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（排列，布置）</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in grammatically precise</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（精确的）</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ways.</a:t>
            </a:r>
          </a:p>
        </p:txBody>
      </p:sp>
      <p:sp>
        <p:nvSpPr>
          <p:cNvPr id="5" name="矩形 4">
            <a:extLst>
              <a:ext uri="{FF2B5EF4-FFF2-40B4-BE49-F238E27FC236}">
                <a16:creationId xmlns:a16="http://schemas.microsoft.com/office/drawing/2014/main" id="{0AB97821-9F12-43B0-94D5-FF6C4EC68AEA}"/>
              </a:ext>
            </a:extLst>
          </p:cNvPr>
          <p:cNvSpPr/>
          <p:nvPr/>
        </p:nvSpPr>
        <p:spPr>
          <a:xfrm>
            <a:off x="203715" y="44586"/>
            <a:ext cx="187102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1.9.9</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9</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2112108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3E79D03D-A72F-4E7E-88A4-3ECF2404400A}"/>
              </a:ext>
            </a:extLst>
          </p:cNvPr>
          <p:cNvSpPr txBox="1"/>
          <p:nvPr/>
        </p:nvSpPr>
        <p:spPr>
          <a:xfrm>
            <a:off x="561110" y="533400"/>
            <a:ext cx="8707581"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9</a:t>
            </a:r>
            <a:endParaRPr kumimoji="0" lang="zh-CN" altLang="en-US"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8" name="文本框 7">
            <a:extLst>
              <a:ext uri="{FF2B5EF4-FFF2-40B4-BE49-F238E27FC236}">
                <a16:creationId xmlns:a16="http://schemas.microsoft.com/office/drawing/2014/main" id="{A652A518-054F-4213-8966-D9339CF6F0EB}"/>
              </a:ext>
            </a:extLst>
          </p:cNvPr>
          <p:cNvSpPr txBox="1"/>
          <p:nvPr/>
        </p:nvSpPr>
        <p:spPr>
          <a:xfrm>
            <a:off x="561110" y="1314435"/>
            <a:ext cx="11194472" cy="3782895"/>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Para 9</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I believe that TV‘s appeal to the short attention span is not only </a:t>
            </a: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inefficient</a:t>
            </a:r>
            <a:r>
              <a:rPr kumimoji="0" lang="zh-CN" altLang="en-US"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（低效的）</a:t>
            </a: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 </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communication but </a:t>
            </a: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decivilizing</a:t>
            </a:r>
            <a:r>
              <a:rPr kumimoji="0" lang="zh-CN" altLang="en-US"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（降低文化）</a:t>
            </a: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 </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as well. Consider the </a:t>
            </a: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casual</a:t>
            </a:r>
            <a:r>
              <a:rPr kumimoji="0" lang="zh-CN" altLang="en-US"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（随便的）</a:t>
            </a: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 </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assumptions that television tends to cultivate: that complexity must be avoided, that visual stimulation is a </a:t>
            </a: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substitute</a:t>
            </a:r>
            <a:r>
              <a:rPr kumimoji="0" lang="zh-CN" altLang="en-US"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（替代物）</a:t>
            </a: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 </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for thought, that </a:t>
            </a: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verbal</a:t>
            </a:r>
            <a:r>
              <a:rPr kumimoji="0" lang="zh-CN" altLang="en-US"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（语言的）</a:t>
            </a: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 </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precision is an anachronism</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（过时的事物或思想）</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It may be old-fashioned, but I was taught that thought is words, </a:t>
            </a: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arranged</a:t>
            </a:r>
            <a:r>
              <a:rPr kumimoji="0" lang="zh-CN" altLang="en-US"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（排列，布置）</a:t>
            </a: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 </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in grammatically </a:t>
            </a: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precise</a:t>
            </a:r>
            <a:r>
              <a:rPr kumimoji="0" lang="zh-CN" altLang="en-US"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（精确的）</a:t>
            </a: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 </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ways.</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我认为，电视迎合观众注意力跨度短的做法不仅会造成交流不畅，而且还会降低文化水平。想一想电视要达到的那些极不慎重的原则吧：必须避免复杂性，用视觉刺激来代替思考，语言的精确早已是不合时宜的要求。它可能已过时，但我所受的教育告诉我思想就是语言，是按准确的语法规则组织起来的。</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 name="矩形 4">
            <a:extLst>
              <a:ext uri="{FF2B5EF4-FFF2-40B4-BE49-F238E27FC236}">
                <a16:creationId xmlns:a16="http://schemas.microsoft.com/office/drawing/2014/main" id="{53765B7B-086E-40F4-8DFF-4CF99D0D190E}"/>
              </a:ext>
            </a:extLst>
          </p:cNvPr>
          <p:cNvSpPr/>
          <p:nvPr/>
        </p:nvSpPr>
        <p:spPr>
          <a:xfrm>
            <a:off x="203715" y="44586"/>
            <a:ext cx="187102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1.9.9</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9</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8496082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3E79D03D-A72F-4E7E-88A4-3ECF2404400A}"/>
              </a:ext>
            </a:extLst>
          </p:cNvPr>
          <p:cNvSpPr txBox="1"/>
          <p:nvPr/>
        </p:nvSpPr>
        <p:spPr>
          <a:xfrm>
            <a:off x="561110" y="533400"/>
            <a:ext cx="8707581"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9</a:t>
            </a:r>
            <a:endParaRPr kumimoji="0" lang="zh-CN" altLang="en-US"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8" name="文本框 7">
            <a:extLst>
              <a:ext uri="{FF2B5EF4-FFF2-40B4-BE49-F238E27FC236}">
                <a16:creationId xmlns:a16="http://schemas.microsoft.com/office/drawing/2014/main" id="{A652A518-054F-4213-8966-D9339CF6F0EB}"/>
              </a:ext>
            </a:extLst>
          </p:cNvPr>
          <p:cNvSpPr txBox="1"/>
          <p:nvPr/>
        </p:nvSpPr>
        <p:spPr>
          <a:xfrm>
            <a:off x="561110" y="1314435"/>
            <a:ext cx="11194472" cy="2120902"/>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Para 11</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Literacy</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（读写能力）</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may not be an inalienable</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（不可剥夺的）</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human right, but it is one that the highly literate Founding Fathers might not have found unreasonable or even unattainable. We are not only not attaining it as a nation, statistically speaking, but we are falling further and further short of</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（达不到）</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attaining it. And, while I would not be so simplistic as to suggest that television is the cause, I believe it contributes and is an influence. </a:t>
            </a:r>
          </a:p>
        </p:txBody>
      </p:sp>
      <p:sp>
        <p:nvSpPr>
          <p:cNvPr id="5" name="矩形 4">
            <a:extLst>
              <a:ext uri="{FF2B5EF4-FFF2-40B4-BE49-F238E27FC236}">
                <a16:creationId xmlns:a16="http://schemas.microsoft.com/office/drawing/2014/main" id="{CDA27FC3-CC9F-49BC-99CD-0C2D70AB6C2F}"/>
              </a:ext>
            </a:extLst>
          </p:cNvPr>
          <p:cNvSpPr/>
          <p:nvPr/>
        </p:nvSpPr>
        <p:spPr>
          <a:xfrm>
            <a:off x="203715" y="189049"/>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1.9.11</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4701114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3E79D03D-A72F-4E7E-88A4-3ECF2404400A}"/>
              </a:ext>
            </a:extLst>
          </p:cNvPr>
          <p:cNvSpPr txBox="1"/>
          <p:nvPr/>
        </p:nvSpPr>
        <p:spPr>
          <a:xfrm>
            <a:off x="561110" y="533400"/>
            <a:ext cx="8707581"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9</a:t>
            </a:r>
            <a:endParaRPr kumimoji="0" lang="zh-CN" altLang="en-US"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8" name="文本框 7">
            <a:extLst>
              <a:ext uri="{FF2B5EF4-FFF2-40B4-BE49-F238E27FC236}">
                <a16:creationId xmlns:a16="http://schemas.microsoft.com/office/drawing/2014/main" id="{A652A518-054F-4213-8966-D9339CF6F0EB}"/>
              </a:ext>
            </a:extLst>
          </p:cNvPr>
          <p:cNvSpPr txBox="1"/>
          <p:nvPr/>
        </p:nvSpPr>
        <p:spPr>
          <a:xfrm>
            <a:off x="561110" y="1314435"/>
            <a:ext cx="11194472" cy="3367397"/>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Para 11</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Literacy</a:t>
            </a:r>
            <a:r>
              <a:rPr kumimoji="0" lang="zh-CN" altLang="en-US"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（读写能力）</a:t>
            </a: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 </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may not be an </a:t>
            </a: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inalienable</a:t>
            </a:r>
            <a:r>
              <a:rPr kumimoji="0" lang="zh-CN" altLang="en-US"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（不可剥夺的）</a:t>
            </a: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 </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human right, but it is one that the highly literate Founding Fathers might not have found unreasonable or even unattainable. We are not only not attaining it as a nation, statistically speaking, but we are falling further and further </a:t>
            </a: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short of</a:t>
            </a:r>
            <a:r>
              <a:rPr kumimoji="0" lang="zh-CN" altLang="en-US"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（达不到）</a:t>
            </a: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 </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attaining it. And, while I would not be so simplistic as to suggest that television is the cause, I believe it contributes and is an influence.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能读写可能算不上是一项不可剥夺的人权，但是我们学识渊博的开国元勋们并不感到它是不合理的或者甚至是达不到的。从统计数字上看，我们的国家不仅未达到人人能读写的程度，而且离这一目标越来越远。尽管我不会天真到认为电视是造成这一情况的原因，但我却相信它起了一定的作用，是有影响的。 </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 name="矩形 4">
            <a:extLst>
              <a:ext uri="{FF2B5EF4-FFF2-40B4-BE49-F238E27FC236}">
                <a16:creationId xmlns:a16="http://schemas.microsoft.com/office/drawing/2014/main" id="{83924267-C3E5-45E8-9ED7-4348333AB0C7}"/>
              </a:ext>
            </a:extLst>
          </p:cNvPr>
          <p:cNvSpPr/>
          <p:nvPr/>
        </p:nvSpPr>
        <p:spPr>
          <a:xfrm>
            <a:off x="203715" y="189049"/>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1.9.11</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0863354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3E79D03D-A72F-4E7E-88A4-3ECF2404400A}"/>
              </a:ext>
            </a:extLst>
          </p:cNvPr>
          <p:cNvSpPr txBox="1"/>
          <p:nvPr/>
        </p:nvSpPr>
        <p:spPr>
          <a:xfrm>
            <a:off x="561110" y="533400"/>
            <a:ext cx="8707581"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9</a:t>
            </a:r>
            <a:endParaRPr kumimoji="0" lang="zh-CN" altLang="en-US"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pic>
        <p:nvPicPr>
          <p:cNvPr id="3" name="图片 2">
            <a:extLst>
              <a:ext uri="{FF2B5EF4-FFF2-40B4-BE49-F238E27FC236}">
                <a16:creationId xmlns:a16="http://schemas.microsoft.com/office/drawing/2014/main" id="{D5C3BAE3-E2AD-4445-BBBF-D30C69D9DF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3478" y="1411511"/>
            <a:ext cx="8020379" cy="4846151"/>
          </a:xfrm>
          <a:prstGeom prst="rect">
            <a:avLst/>
          </a:prstGeom>
        </p:spPr>
      </p:pic>
      <p:sp>
        <p:nvSpPr>
          <p:cNvPr id="5" name="矩形 4">
            <a:extLst>
              <a:ext uri="{FF2B5EF4-FFF2-40B4-BE49-F238E27FC236}">
                <a16:creationId xmlns:a16="http://schemas.microsoft.com/office/drawing/2014/main" id="{59BE9D22-C8C4-496F-B2DE-8AFBAEFDC062}"/>
              </a:ext>
            </a:extLst>
          </p:cNvPr>
          <p:cNvSpPr/>
          <p:nvPr/>
        </p:nvSpPr>
        <p:spPr>
          <a:xfrm>
            <a:off x="203715" y="189049"/>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schemeClr val="bg1">
                    <a:lumMod val="95000"/>
                  </a:schemeClr>
                </a:solidFill>
                <a:effectLst/>
                <a:uLnTx/>
                <a:uFillTx/>
                <a:latin typeface="宋体" panose="02010600030101010101" pitchFamily="2" charset="-122"/>
                <a:ea typeface="宋体" panose="02010600030101010101" pitchFamily="2" charset="-122"/>
                <a:cs typeface="Times New Roman" panose="02020603050405020304" pitchFamily="18" charset="0"/>
              </a:rPr>
              <a:t>1.9.11</a:t>
            </a:r>
            <a:r>
              <a:rPr kumimoji="0" lang="zh-CN" altLang="en-US" sz="1000" b="0" i="0" u="none" strike="noStrike" kern="100" cap="none" spc="0" normalizeH="0" baseline="0" noProof="0" dirty="0">
                <a:ln>
                  <a:noFill/>
                </a:ln>
                <a:solidFill>
                  <a:schemeClr val="bg1">
                    <a:lumMod val="95000"/>
                  </a:scheme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上册第九课第</a:t>
            </a:r>
            <a:r>
              <a:rPr kumimoji="0" lang="en-US" altLang="zh-CN" sz="1000" b="0" i="0" u="none" strike="noStrike" kern="100" cap="none" spc="0" normalizeH="0" baseline="0" noProof="0" dirty="0">
                <a:ln>
                  <a:noFill/>
                </a:ln>
                <a:solidFill>
                  <a:schemeClr val="bg1">
                    <a:lumMod val="95000"/>
                  </a:schemeClr>
                </a:solidFill>
                <a:effectLst/>
                <a:uLnTx/>
                <a:uFillTx/>
                <a:latin typeface="宋体" panose="02010600030101010101" pitchFamily="2" charset="-122"/>
                <a:ea typeface="宋体" panose="02010600030101010101" pitchFamily="2" charset="-122"/>
                <a:cs typeface="Times New Roman" panose="02020603050405020304" pitchFamily="18" charset="0"/>
              </a:rPr>
              <a:t>11</a:t>
            </a:r>
            <a:r>
              <a:rPr kumimoji="0" lang="zh-CN" altLang="en-US" sz="1000" b="0" i="0" u="none" strike="noStrike" kern="100" cap="none" spc="0" normalizeH="0" baseline="0" noProof="0" dirty="0">
                <a:ln>
                  <a:noFill/>
                </a:ln>
                <a:solidFill>
                  <a:schemeClr val="bg1">
                    <a:lumMod val="95000"/>
                  </a:scheme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schemeClr val="bg1">
                  <a:lumMod val="95000"/>
                </a:scheme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2884052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3E79D03D-A72F-4E7E-88A4-3ECF2404400A}"/>
              </a:ext>
            </a:extLst>
          </p:cNvPr>
          <p:cNvSpPr txBox="1"/>
          <p:nvPr/>
        </p:nvSpPr>
        <p:spPr>
          <a:xfrm>
            <a:off x="561110" y="533400"/>
            <a:ext cx="8707581"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9</a:t>
            </a:r>
            <a:endParaRPr kumimoji="0" lang="zh-CN" altLang="en-US"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8" name="文本框 7">
            <a:extLst>
              <a:ext uri="{FF2B5EF4-FFF2-40B4-BE49-F238E27FC236}">
                <a16:creationId xmlns:a16="http://schemas.microsoft.com/office/drawing/2014/main" id="{A652A518-054F-4213-8966-D9339CF6F0EB}"/>
              </a:ext>
            </a:extLst>
          </p:cNvPr>
          <p:cNvSpPr txBox="1"/>
          <p:nvPr/>
        </p:nvSpPr>
        <p:spPr>
          <a:xfrm>
            <a:off x="561110" y="1314435"/>
            <a:ext cx="11194472" cy="2951898"/>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Para 12</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Everything about this nation —the structure of the society, its forms of family organization, its economy, its place in the world— has become more complex, not less. Yet its dominating</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（主导的）</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communications instrument, its principal</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（主要的）</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form of national linkage</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（联系）</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is one that sells neat resolutions to human problems that usually have no neat resolutions. It is all symbolized in my mind by the hugely successful art form that television has made central to the culture, the 30-second commercial: the tiny drama of the earnest</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（认真的</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housewife who finds happiness in choosing the right toothpaste. </a:t>
            </a:r>
          </a:p>
        </p:txBody>
      </p:sp>
      <p:sp>
        <p:nvSpPr>
          <p:cNvPr id="5" name="矩形 4">
            <a:extLst>
              <a:ext uri="{FF2B5EF4-FFF2-40B4-BE49-F238E27FC236}">
                <a16:creationId xmlns:a16="http://schemas.microsoft.com/office/drawing/2014/main" id="{C876BD1C-DAB6-46C1-B46B-B7B5C0907165}"/>
              </a:ext>
            </a:extLst>
          </p:cNvPr>
          <p:cNvSpPr/>
          <p:nvPr/>
        </p:nvSpPr>
        <p:spPr>
          <a:xfrm>
            <a:off x="203715" y="189049"/>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1.9.12</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12</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8132609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3E79D03D-A72F-4E7E-88A4-3ECF2404400A}"/>
              </a:ext>
            </a:extLst>
          </p:cNvPr>
          <p:cNvSpPr txBox="1"/>
          <p:nvPr/>
        </p:nvSpPr>
        <p:spPr>
          <a:xfrm>
            <a:off x="561110" y="533400"/>
            <a:ext cx="8707581"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9</a:t>
            </a:r>
            <a:endParaRPr kumimoji="0" lang="zh-CN" altLang="en-US"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8" name="文本框 7">
            <a:extLst>
              <a:ext uri="{FF2B5EF4-FFF2-40B4-BE49-F238E27FC236}">
                <a16:creationId xmlns:a16="http://schemas.microsoft.com/office/drawing/2014/main" id="{A652A518-054F-4213-8966-D9339CF6F0EB}"/>
              </a:ext>
            </a:extLst>
          </p:cNvPr>
          <p:cNvSpPr txBox="1"/>
          <p:nvPr/>
        </p:nvSpPr>
        <p:spPr>
          <a:xfrm>
            <a:off x="561110" y="1314435"/>
            <a:ext cx="11194472" cy="1422954"/>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It is all symbolized in my mind by the hugely successful art form that television has made central to the culture, the 30-second commercial: the tiny drama of the earnest</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（认真的</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housewife who finds happiness in choosing the right toothpaste. </a:t>
            </a:r>
          </a:p>
        </p:txBody>
      </p:sp>
      <p:sp>
        <p:nvSpPr>
          <p:cNvPr id="5" name="矩形 4">
            <a:extLst>
              <a:ext uri="{FF2B5EF4-FFF2-40B4-BE49-F238E27FC236}">
                <a16:creationId xmlns:a16="http://schemas.microsoft.com/office/drawing/2014/main" id="{2FBBB24C-EC9A-4987-A131-7690AC7CDADE}"/>
              </a:ext>
            </a:extLst>
          </p:cNvPr>
          <p:cNvSpPr/>
          <p:nvPr/>
        </p:nvSpPr>
        <p:spPr>
          <a:xfrm>
            <a:off x="203715" y="189049"/>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1.9.12</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12</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2307752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3E79D03D-A72F-4E7E-88A4-3ECF2404400A}"/>
              </a:ext>
            </a:extLst>
          </p:cNvPr>
          <p:cNvSpPr txBox="1"/>
          <p:nvPr/>
        </p:nvSpPr>
        <p:spPr>
          <a:xfrm>
            <a:off x="561110" y="533400"/>
            <a:ext cx="8707581"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9</a:t>
            </a:r>
            <a:endParaRPr kumimoji="0" lang="zh-CN" altLang="en-US"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8" name="文本框 7">
            <a:extLst>
              <a:ext uri="{FF2B5EF4-FFF2-40B4-BE49-F238E27FC236}">
                <a16:creationId xmlns:a16="http://schemas.microsoft.com/office/drawing/2014/main" id="{A652A518-054F-4213-8966-D9339CF6F0EB}"/>
              </a:ext>
            </a:extLst>
          </p:cNvPr>
          <p:cNvSpPr txBox="1"/>
          <p:nvPr/>
        </p:nvSpPr>
        <p:spPr>
          <a:xfrm>
            <a:off x="561110" y="1314435"/>
            <a:ext cx="11194472" cy="2346283"/>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It is all symbolized in my mind by the hugely successful art form that television has made central to the culture, the 30-second commercial: the tiny drama of the earnest</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（认真的</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housewife who finds happiness in choosing the right toothpaste.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在我的心目中，那</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30</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秒钟一个的商业广告：一位家庭主妇因选对了牙膏而感到幸福的那小小的戏剧性场面就是这一切的象征。电视已使这极其成功的艺术形式成为我们文化不可缺少的一个部分了。</a:t>
            </a: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 name="矩形 4">
            <a:extLst>
              <a:ext uri="{FF2B5EF4-FFF2-40B4-BE49-F238E27FC236}">
                <a16:creationId xmlns:a16="http://schemas.microsoft.com/office/drawing/2014/main" id="{B84ADE6E-7770-4F8A-9654-4AFFA92B0140}"/>
              </a:ext>
            </a:extLst>
          </p:cNvPr>
          <p:cNvSpPr/>
          <p:nvPr/>
        </p:nvSpPr>
        <p:spPr>
          <a:xfrm>
            <a:off x="203715" y="189049"/>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1.9.12</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12</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5740117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3E79D03D-A72F-4E7E-88A4-3ECF2404400A}"/>
              </a:ext>
            </a:extLst>
          </p:cNvPr>
          <p:cNvSpPr txBox="1"/>
          <p:nvPr/>
        </p:nvSpPr>
        <p:spPr>
          <a:xfrm>
            <a:off x="561110" y="533400"/>
            <a:ext cx="8707581"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9</a:t>
            </a:r>
            <a:endParaRPr kumimoji="0" lang="zh-CN" altLang="en-US"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8" name="文本框 7">
            <a:extLst>
              <a:ext uri="{FF2B5EF4-FFF2-40B4-BE49-F238E27FC236}">
                <a16:creationId xmlns:a16="http://schemas.microsoft.com/office/drawing/2014/main" id="{A652A518-054F-4213-8966-D9339CF6F0EB}"/>
              </a:ext>
            </a:extLst>
          </p:cNvPr>
          <p:cNvSpPr txBox="1"/>
          <p:nvPr/>
        </p:nvSpPr>
        <p:spPr>
          <a:xfrm>
            <a:off x="561110" y="1314435"/>
            <a:ext cx="11194472" cy="2346283"/>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It is all symbolized in my mind by the hugely successful art form that television has made central to the culture, the 30-second commercial: the tiny drama of the earnest</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（认真的</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housewife who finds happiness in choosing the right toothpaste.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在我的心目中，那</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30</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秒钟一个的商业广告：一位家庭主妇因选对了牙膏而感到幸福的那小小的戏剧性场面就是这一切的象征。电视已使这极其成功的艺术形式成为我们文化不可缺少的一个部分了。</a:t>
            </a: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pic>
        <p:nvPicPr>
          <p:cNvPr id="4098" name="Picture 2" descr="https://ss1.bdstatic.com/70cFuXSh_Q1YnxGkpoWK1HF6hhy/it/u=2292702978,2864141589&amp;fm=26&amp;gp=0.jpg">
            <a:extLst>
              <a:ext uri="{FF2B5EF4-FFF2-40B4-BE49-F238E27FC236}">
                <a16:creationId xmlns:a16="http://schemas.microsoft.com/office/drawing/2014/main" id="{48A41755-5CDA-40A1-9E42-79FC7B03AC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47281" y="3920368"/>
            <a:ext cx="3043858" cy="2282894"/>
          </a:xfrm>
          <a:prstGeom prst="rect">
            <a:avLst/>
          </a:prstGeom>
          <a:noFill/>
          <a:extLst>
            <a:ext uri="{909E8E84-426E-40DD-AFC4-6F175D3DCCD1}">
              <a14:hiddenFill xmlns:a14="http://schemas.microsoft.com/office/drawing/2010/main">
                <a:solidFill>
                  <a:srgbClr val="FFFFFF"/>
                </a:solidFill>
              </a14:hiddenFill>
            </a:ext>
          </a:extLst>
        </p:spPr>
      </p:pic>
      <p:sp>
        <p:nvSpPr>
          <p:cNvPr id="5" name="矩形 4">
            <a:extLst>
              <a:ext uri="{FF2B5EF4-FFF2-40B4-BE49-F238E27FC236}">
                <a16:creationId xmlns:a16="http://schemas.microsoft.com/office/drawing/2014/main" id="{786FAAC8-A9F7-494C-84E5-66AC02426CB8}"/>
              </a:ext>
            </a:extLst>
          </p:cNvPr>
          <p:cNvSpPr/>
          <p:nvPr/>
        </p:nvSpPr>
        <p:spPr>
          <a:xfrm>
            <a:off x="203715" y="189049"/>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1.9.12</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12</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3713579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3E79D03D-A72F-4E7E-88A4-3ECF2404400A}"/>
              </a:ext>
            </a:extLst>
          </p:cNvPr>
          <p:cNvSpPr txBox="1"/>
          <p:nvPr/>
        </p:nvSpPr>
        <p:spPr>
          <a:xfrm>
            <a:off x="561110" y="533400"/>
            <a:ext cx="8707581"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9</a:t>
            </a:r>
            <a:endParaRPr kumimoji="0" lang="zh-CN" altLang="en-US"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8" name="文本框 7">
            <a:extLst>
              <a:ext uri="{FF2B5EF4-FFF2-40B4-BE49-F238E27FC236}">
                <a16:creationId xmlns:a16="http://schemas.microsoft.com/office/drawing/2014/main" id="{A652A518-054F-4213-8966-D9339CF6F0EB}"/>
              </a:ext>
            </a:extLst>
          </p:cNvPr>
          <p:cNvSpPr txBox="1"/>
          <p:nvPr/>
        </p:nvSpPr>
        <p:spPr>
          <a:xfrm>
            <a:off x="561110" y="1314435"/>
            <a:ext cx="11194472" cy="4613892"/>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Para 12</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Everything about this nation —the structure of the society, its forms of family organization, its economy, its place in the world— has become more complex, not less. Yet its </a:t>
            </a: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dominating</a:t>
            </a:r>
            <a:r>
              <a:rPr kumimoji="0" lang="zh-CN" altLang="en-US"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（主导的）</a:t>
            </a: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 </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communications </a:t>
            </a: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instrument</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its </a:t>
            </a: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principal</a:t>
            </a:r>
            <a:r>
              <a:rPr kumimoji="0" lang="zh-CN" altLang="en-US"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（主要的）</a:t>
            </a: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 </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form of national </a:t>
            </a: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linkage</a:t>
            </a:r>
            <a:r>
              <a:rPr kumimoji="0" lang="zh-CN" altLang="en-US"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（联系）</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is one that sells neat resolutions to human problems that usually have no neat resolutions. It is all symbolized in my mind by the hugely successful art form that television has made central to the culture, the 30-second commercial: the tiny drama of the earnest</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（认真的</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housewife who finds happiness in choosing the right toothpaste.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美国的一切：社会结构、家庭组织形式、经济、在世界上的地位，都变得更为复杂，而不是相反。然而其占主导地位的传播媒介，全国联系的主要方式，却在人类存在的问题上推销简单的解决方式，而这些问题通常是没有简单的解决方式的。在我的心目中，那</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30</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秒钟一个的商业广告：一位家庭主妇因选对了牙膏而感到幸福的那小小的戏剧性场面就是这一切的象征。电视已使这极其成功的艺术形式成为我们文化不可缺少的一个部分了。</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 name="矩形 4">
            <a:extLst>
              <a:ext uri="{FF2B5EF4-FFF2-40B4-BE49-F238E27FC236}">
                <a16:creationId xmlns:a16="http://schemas.microsoft.com/office/drawing/2014/main" id="{4B106DD6-6ED4-45DC-AFB1-148909A93E6B}"/>
              </a:ext>
            </a:extLst>
          </p:cNvPr>
          <p:cNvSpPr/>
          <p:nvPr/>
        </p:nvSpPr>
        <p:spPr>
          <a:xfrm>
            <a:off x="203715" y="189049"/>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1.9.12</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12</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7587900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3E79D03D-A72F-4E7E-88A4-3ECF2404400A}"/>
              </a:ext>
            </a:extLst>
          </p:cNvPr>
          <p:cNvSpPr txBox="1"/>
          <p:nvPr/>
        </p:nvSpPr>
        <p:spPr>
          <a:xfrm>
            <a:off x="561110" y="533400"/>
            <a:ext cx="8707581"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9</a:t>
            </a:r>
            <a:endParaRPr kumimoji="0" lang="zh-CN" altLang="en-US" sz="3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pic>
        <p:nvPicPr>
          <p:cNvPr id="3" name="图片 2">
            <a:extLst>
              <a:ext uri="{FF2B5EF4-FFF2-40B4-BE49-F238E27FC236}">
                <a16:creationId xmlns:a16="http://schemas.microsoft.com/office/drawing/2014/main" id="{7455B7C4-E687-4DE3-8844-E835AB5842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38796" y="1496832"/>
            <a:ext cx="8766094" cy="5100740"/>
          </a:xfrm>
          <a:prstGeom prst="rect">
            <a:avLst/>
          </a:prstGeom>
        </p:spPr>
      </p:pic>
      <p:sp>
        <p:nvSpPr>
          <p:cNvPr id="5" name="矩形 4">
            <a:extLst>
              <a:ext uri="{FF2B5EF4-FFF2-40B4-BE49-F238E27FC236}">
                <a16:creationId xmlns:a16="http://schemas.microsoft.com/office/drawing/2014/main" id="{0D2C7642-8096-453F-851C-DCFD9EF301C6}"/>
              </a:ext>
            </a:extLst>
          </p:cNvPr>
          <p:cNvSpPr/>
          <p:nvPr/>
        </p:nvSpPr>
        <p:spPr>
          <a:xfrm>
            <a:off x="203715" y="189049"/>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schemeClr val="bg1">
                    <a:lumMod val="95000"/>
                  </a:schemeClr>
                </a:solidFill>
                <a:effectLst/>
                <a:uLnTx/>
                <a:uFillTx/>
                <a:latin typeface="宋体" panose="02010600030101010101" pitchFamily="2" charset="-122"/>
                <a:ea typeface="宋体" panose="02010600030101010101" pitchFamily="2" charset="-122"/>
                <a:cs typeface="Times New Roman" panose="02020603050405020304" pitchFamily="18" charset="0"/>
              </a:rPr>
              <a:t>1.9.12</a:t>
            </a:r>
            <a:r>
              <a:rPr kumimoji="0" lang="zh-CN" altLang="en-US" sz="1000" b="0" i="0" u="none" strike="noStrike" kern="100" cap="none" spc="0" normalizeH="0" baseline="0" noProof="0" dirty="0">
                <a:ln>
                  <a:noFill/>
                </a:ln>
                <a:solidFill>
                  <a:schemeClr val="bg1">
                    <a:lumMod val="95000"/>
                  </a:scheme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上册第九课第</a:t>
            </a:r>
            <a:r>
              <a:rPr kumimoji="0" lang="en-US" altLang="zh-CN" sz="1000" b="0" i="0" u="none" strike="noStrike" kern="100" cap="none" spc="0" normalizeH="0" baseline="0" noProof="0" dirty="0">
                <a:ln>
                  <a:noFill/>
                </a:ln>
                <a:solidFill>
                  <a:schemeClr val="bg1">
                    <a:lumMod val="95000"/>
                  </a:schemeClr>
                </a:solidFill>
                <a:effectLst/>
                <a:uLnTx/>
                <a:uFillTx/>
                <a:latin typeface="宋体" panose="02010600030101010101" pitchFamily="2" charset="-122"/>
                <a:ea typeface="宋体" panose="02010600030101010101" pitchFamily="2" charset="-122"/>
                <a:cs typeface="Times New Roman" panose="02020603050405020304" pitchFamily="18" charset="0"/>
              </a:rPr>
              <a:t>12</a:t>
            </a:r>
            <a:r>
              <a:rPr kumimoji="0" lang="zh-CN" altLang="en-US" sz="1000" b="0" i="0" u="none" strike="noStrike" kern="100" cap="none" spc="0" normalizeH="0" baseline="0" noProof="0" dirty="0">
                <a:ln>
                  <a:noFill/>
                </a:ln>
                <a:solidFill>
                  <a:schemeClr val="bg1">
                    <a:lumMod val="95000"/>
                  </a:scheme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schemeClr val="bg1">
                  <a:lumMod val="95000"/>
                </a:scheme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843249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749964" y="503875"/>
            <a:ext cx="881841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目录</a:t>
            </a:r>
          </a:p>
        </p:txBody>
      </p:sp>
      <p:sp>
        <p:nvSpPr>
          <p:cNvPr id="6" name="文本框 5">
            <a:extLst>
              <a:ext uri="{FF2B5EF4-FFF2-40B4-BE49-F238E27FC236}">
                <a16:creationId xmlns:a16="http://schemas.microsoft.com/office/drawing/2014/main" id="{CB6437EF-AFBD-4372-9991-212975DB5262}"/>
              </a:ext>
            </a:extLst>
          </p:cNvPr>
          <p:cNvSpPr txBox="1"/>
          <p:nvPr/>
        </p:nvSpPr>
        <p:spPr>
          <a:xfrm>
            <a:off x="2345963" y="2665526"/>
            <a:ext cx="8818418" cy="1669881"/>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一、课文带读（下册 </a:t>
            </a:r>
            <a:r>
              <a:rPr kumimoji="0" lang="en-US" altLang="zh-CN" sz="36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11</a:t>
            </a:r>
            <a:r>
              <a:rPr kumimoji="0" lang="zh-CN" altLang="en-US" sz="36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endParaRPr kumimoji="0" lang="en-US" altLang="zh-CN" sz="36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lang="zh-CN" altLang="en-US" sz="3600" b="1" dirty="0">
                <a:solidFill>
                  <a:prstClr val="black"/>
                </a:solidFill>
                <a:latin typeface="等线" panose="020F0502020204030204"/>
                <a:ea typeface="等线" panose="02010600030101010101" pitchFamily="2" charset="-122"/>
              </a:rPr>
              <a:t>二、阅读理解高频单词</a:t>
            </a:r>
            <a:endParaRPr kumimoji="0" lang="en-US" altLang="zh-CN" sz="36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5" name="矩形 4">
            <a:extLst>
              <a:ext uri="{FF2B5EF4-FFF2-40B4-BE49-F238E27FC236}">
                <a16:creationId xmlns:a16="http://schemas.microsoft.com/office/drawing/2014/main" id="{78DB3CA9-D2B1-4F5C-8AC7-CEB202510BA2}"/>
              </a:ext>
            </a:extLst>
          </p:cNvPr>
          <p:cNvSpPr/>
          <p:nvPr/>
        </p:nvSpPr>
        <p:spPr>
          <a:xfrm>
            <a:off x="203715" y="189049"/>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1.9.13</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13</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850895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CB6437EF-AFBD-4372-9991-212975DB5262}"/>
              </a:ext>
            </a:extLst>
          </p:cNvPr>
          <p:cNvSpPr txBox="1"/>
          <p:nvPr/>
        </p:nvSpPr>
        <p:spPr>
          <a:xfrm>
            <a:off x="2345963" y="2665526"/>
            <a:ext cx="8818418" cy="1669881"/>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schemeClr val="bg1">
                    <a:lumMod val="95000"/>
                  </a:schemeClr>
                </a:solidFill>
                <a:effectLst/>
                <a:uLnTx/>
                <a:uFillTx/>
                <a:latin typeface="等线" panose="020F0502020204030204"/>
                <a:ea typeface="等线" panose="02010600030101010101" pitchFamily="2" charset="-122"/>
                <a:cs typeface="+mn-cs"/>
              </a:rPr>
              <a:t>一、课文带读（下册 </a:t>
            </a:r>
            <a:r>
              <a:rPr kumimoji="0" lang="en-US" altLang="zh-CN" sz="3600" b="1" i="0" u="none" strike="noStrike" kern="1200" cap="none" spc="0" normalizeH="0" baseline="0" noProof="0" dirty="0">
                <a:ln>
                  <a:noFill/>
                </a:ln>
                <a:solidFill>
                  <a:schemeClr val="bg1">
                    <a:lumMod val="95000"/>
                  </a:schemeClr>
                </a:solidFill>
                <a:effectLst/>
                <a:uLnTx/>
                <a:uFillTx/>
                <a:latin typeface="等线" panose="020F0502020204030204"/>
                <a:ea typeface="等线" panose="02010600030101010101" pitchFamily="2" charset="-122"/>
                <a:cs typeface="+mn-cs"/>
              </a:rPr>
              <a:t>Lesson 11</a:t>
            </a:r>
            <a:r>
              <a:rPr kumimoji="0" lang="zh-CN" altLang="en-US" sz="3600" b="1" i="0" u="none" strike="noStrike" kern="1200" cap="none" spc="0" normalizeH="0" baseline="0" noProof="0" dirty="0">
                <a:ln>
                  <a:noFill/>
                </a:ln>
                <a:solidFill>
                  <a:schemeClr val="bg1">
                    <a:lumMod val="95000"/>
                  </a:schemeClr>
                </a:solidFill>
                <a:effectLst/>
                <a:uLnTx/>
                <a:uFillTx/>
                <a:latin typeface="等线" panose="020F0502020204030204"/>
                <a:ea typeface="等线" panose="02010600030101010101" pitchFamily="2" charset="-122"/>
                <a:cs typeface="+mn-cs"/>
              </a:rPr>
              <a:t>）</a:t>
            </a:r>
            <a:endParaRPr kumimoji="0" lang="en-US" altLang="zh-CN" sz="3600" b="1" i="0" u="none" strike="noStrike" kern="1200" cap="none" spc="0" normalizeH="0" baseline="0" noProof="0" dirty="0">
              <a:ln>
                <a:noFill/>
              </a:ln>
              <a:solidFill>
                <a:schemeClr val="bg1">
                  <a:lumMod val="95000"/>
                </a:schemeClr>
              </a:solidFill>
              <a:effectLst/>
              <a:uLnTx/>
              <a:uFillTx/>
              <a:latin typeface="等线" panose="020F0502020204030204"/>
              <a:ea typeface="等线" panose="02010600030101010101"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lang="zh-CN" altLang="en-US" sz="3600" b="1" dirty="0">
                <a:solidFill>
                  <a:prstClr val="black"/>
                </a:solidFill>
                <a:latin typeface="等线" panose="020F0502020204030204"/>
                <a:ea typeface="等线" panose="02010600030101010101" pitchFamily="2" charset="-122"/>
              </a:rPr>
              <a:t>二、阅读理解高频单词</a:t>
            </a:r>
            <a:endParaRPr kumimoji="0" lang="en-US" altLang="zh-CN" sz="36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4" name="矩形 3">
            <a:extLst>
              <a:ext uri="{FF2B5EF4-FFF2-40B4-BE49-F238E27FC236}">
                <a16:creationId xmlns:a16="http://schemas.microsoft.com/office/drawing/2014/main" id="{7F1B2392-3B17-4ABF-BBF2-6C65CCB0C41B}"/>
              </a:ext>
            </a:extLst>
          </p:cNvPr>
          <p:cNvSpPr/>
          <p:nvPr/>
        </p:nvSpPr>
        <p:spPr>
          <a:xfrm>
            <a:off x="203715" y="189049"/>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1.9.13</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13</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0562469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二、阅读理解高频单词</a:t>
            </a:r>
          </a:p>
        </p:txBody>
      </p:sp>
      <p:sp>
        <p:nvSpPr>
          <p:cNvPr id="5" name="矩形 4">
            <a:extLst>
              <a:ext uri="{FF2B5EF4-FFF2-40B4-BE49-F238E27FC236}">
                <a16:creationId xmlns:a16="http://schemas.microsoft.com/office/drawing/2014/main" id="{54E10CE7-B360-4059-A2EA-A463D0655165}"/>
              </a:ext>
            </a:extLst>
          </p:cNvPr>
          <p:cNvSpPr/>
          <p:nvPr/>
        </p:nvSpPr>
        <p:spPr>
          <a:xfrm>
            <a:off x="595745" y="1491964"/>
            <a:ext cx="10051473" cy="2120902"/>
          </a:xfrm>
          <a:prstGeom prst="rect">
            <a:avLst/>
          </a:prstGeom>
        </p:spPr>
        <p:txBody>
          <a:bodyPr wrap="square">
            <a:spAutoFit/>
          </a:bodyPr>
          <a:lstStyle/>
          <a:p>
            <a:pPr>
              <a:lnSpc>
                <a:spcPct val="150000"/>
              </a:lnSpc>
            </a:pPr>
            <a:r>
              <a:rPr lang="en-US" altLang="zh-CN" dirty="0">
                <a:latin typeface="微软雅黑" panose="020B0503020204020204" pitchFamily="34" charset="-122"/>
                <a:ea typeface="微软雅黑" panose="020B0503020204020204" pitchFamily="34" charset="-122"/>
              </a:rPr>
              <a:t>1. Horror ['</a:t>
            </a:r>
            <a:r>
              <a:rPr lang="en-US" altLang="zh-CN" dirty="0" err="1">
                <a:latin typeface="微软雅黑" panose="020B0503020204020204" pitchFamily="34" charset="-122"/>
                <a:ea typeface="微软雅黑" panose="020B0503020204020204" pitchFamily="34" charset="-122"/>
              </a:rPr>
              <a:t>hɒrə</a:t>
            </a:r>
            <a:r>
              <a:rPr lang="en-US" altLang="zh-CN" dirty="0">
                <a:latin typeface="微软雅黑" panose="020B0503020204020204" pitchFamily="34" charset="-122"/>
                <a:ea typeface="微软雅黑" panose="020B0503020204020204" pitchFamily="34" charset="-122"/>
              </a:rPr>
              <a:t>] n. </a:t>
            </a:r>
            <a:r>
              <a:rPr lang="zh-CN" altLang="en-US" dirty="0">
                <a:latin typeface="微软雅黑" panose="020B0503020204020204" pitchFamily="34" charset="-122"/>
                <a:ea typeface="微软雅黑" panose="020B0503020204020204" pitchFamily="34" charset="-122"/>
              </a:rPr>
              <a:t>惊骇；惨状；极端厌恶；令人恐怖的事物</a:t>
            </a:r>
            <a:endParaRPr lang="en-US" altLang="zh-CN" dirty="0">
              <a:latin typeface="微软雅黑" panose="020B0503020204020204" pitchFamily="34" charset="-122"/>
              <a:ea typeface="微软雅黑" panose="020B0503020204020204" pitchFamily="34" charset="-122"/>
            </a:endParaRPr>
          </a:p>
          <a:p>
            <a:pPr>
              <a:lnSpc>
                <a:spcPct val="150000"/>
              </a:lnSpc>
            </a:pPr>
            <a:r>
              <a:rPr lang="en-US" altLang="zh-CN" dirty="0">
                <a:latin typeface="微软雅黑" panose="020B0503020204020204" pitchFamily="34" charset="-122"/>
                <a:ea typeface="微软雅黑" panose="020B0503020204020204" pitchFamily="34" charset="-122"/>
              </a:rPr>
              <a:t>E.g. The </a:t>
            </a:r>
            <a:r>
              <a:rPr lang="en-US" altLang="zh-CN" dirty="0">
                <a:solidFill>
                  <a:srgbClr val="FF0000"/>
                </a:solidFill>
                <a:latin typeface="微软雅黑" panose="020B0503020204020204" pitchFamily="34" charset="-122"/>
                <a:ea typeface="微软雅黑" panose="020B0503020204020204" pitchFamily="34" charset="-122"/>
              </a:rPr>
              <a:t>horror</a:t>
            </a:r>
            <a:r>
              <a:rPr lang="en-US" altLang="zh-CN" dirty="0">
                <a:latin typeface="微软雅黑" panose="020B0503020204020204" pitchFamily="34" charset="-122"/>
                <a:ea typeface="微软雅黑" panose="020B0503020204020204" pitchFamily="34" charset="-122"/>
              </a:rPr>
              <a:t> story is less easily defined, perhaps because other types of fiction so often use the trappings of terror to enhance their plots.</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2012</a:t>
            </a:r>
            <a:r>
              <a:rPr lang="zh-CN" altLang="en-US" dirty="0">
                <a:latin typeface="微软雅黑" panose="020B0503020204020204" pitchFamily="34" charset="-122"/>
                <a:ea typeface="微软雅黑" panose="020B0503020204020204" pitchFamily="34" charset="-122"/>
              </a:rPr>
              <a:t>年</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月</a:t>
            </a:r>
            <a:r>
              <a:rPr lang="en-US" altLang="zh-CN" dirty="0">
                <a:latin typeface="微软雅黑" panose="020B0503020204020204" pitchFamily="34" charset="-122"/>
                <a:ea typeface="微软雅黑" panose="020B0503020204020204" pitchFamily="34" charset="-122"/>
              </a:rPr>
              <a:t>)</a:t>
            </a:r>
          </a:p>
          <a:p>
            <a:pPr>
              <a:lnSpc>
                <a:spcPct val="150000"/>
              </a:lnSpc>
            </a:pPr>
            <a:r>
              <a:rPr lang="zh-CN" altLang="en-US" dirty="0">
                <a:solidFill>
                  <a:srgbClr val="FF0000"/>
                </a:solidFill>
                <a:latin typeface="微软雅黑" panose="020B0503020204020204" pitchFamily="34" charset="-122"/>
                <a:ea typeface="微软雅黑" panose="020B0503020204020204" pitchFamily="34" charset="-122"/>
              </a:rPr>
              <a:t>恐怖</a:t>
            </a:r>
            <a:r>
              <a:rPr lang="zh-CN" altLang="en-US" dirty="0">
                <a:latin typeface="微软雅黑" panose="020B0503020204020204" pitchFamily="34" charset="-122"/>
                <a:ea typeface="微软雅黑" panose="020B0503020204020204" pitchFamily="34" charset="-122"/>
              </a:rPr>
              <a:t>故事定义起来不那么容易，可能是因为其他类型的小说常常采用恐怖手法来增强情节的吸引力。</a:t>
            </a:r>
          </a:p>
          <a:p>
            <a:pPr>
              <a:lnSpc>
                <a:spcPct val="150000"/>
              </a:lnSpc>
            </a:pPr>
            <a:endParaRPr lang="zh-CN" altLang="en-US" dirty="0">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1FB2A0AC-A950-478E-A788-E69BFAA6A860}"/>
              </a:ext>
            </a:extLst>
          </p:cNvPr>
          <p:cNvSpPr/>
          <p:nvPr/>
        </p:nvSpPr>
        <p:spPr>
          <a:xfrm>
            <a:off x="203715" y="189049"/>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1.9.13</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13</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0225994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二、阅读理解高频单词</a:t>
            </a:r>
          </a:p>
        </p:txBody>
      </p:sp>
      <p:sp>
        <p:nvSpPr>
          <p:cNvPr id="5" name="矩形 4">
            <a:extLst>
              <a:ext uri="{FF2B5EF4-FFF2-40B4-BE49-F238E27FC236}">
                <a16:creationId xmlns:a16="http://schemas.microsoft.com/office/drawing/2014/main" id="{54E10CE7-B360-4059-A2EA-A463D0655165}"/>
              </a:ext>
            </a:extLst>
          </p:cNvPr>
          <p:cNvSpPr/>
          <p:nvPr/>
        </p:nvSpPr>
        <p:spPr>
          <a:xfrm>
            <a:off x="595745" y="1491964"/>
            <a:ext cx="10051473" cy="1705403"/>
          </a:xfrm>
          <a:prstGeom prst="rect">
            <a:avLst/>
          </a:prstGeom>
        </p:spPr>
        <p:txBody>
          <a:bodyPr wrap="square">
            <a:spAutoFit/>
          </a:bodyPr>
          <a:lstStyle/>
          <a:p>
            <a:pPr>
              <a:lnSpc>
                <a:spcPct val="150000"/>
              </a:lnSpc>
            </a:pPr>
            <a:r>
              <a:rPr lang="en-US" altLang="zh-CN" dirty="0">
                <a:latin typeface="微软雅黑" panose="020B0503020204020204" pitchFamily="34" charset="-122"/>
                <a:ea typeface="微软雅黑" panose="020B0503020204020204" pitchFamily="34" charset="-122"/>
              </a:rPr>
              <a:t>2. execute ['</a:t>
            </a:r>
            <a:r>
              <a:rPr lang="en-US" altLang="zh-CN" dirty="0" err="1">
                <a:latin typeface="微软雅黑" panose="020B0503020204020204" pitchFamily="34" charset="-122"/>
                <a:ea typeface="微软雅黑" panose="020B0503020204020204" pitchFamily="34" charset="-122"/>
              </a:rPr>
              <a:t>eksɪkjuːt</a:t>
            </a: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vt.</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实行；执行；处死</a:t>
            </a:r>
          </a:p>
          <a:p>
            <a:pPr>
              <a:lnSpc>
                <a:spcPct val="150000"/>
              </a:lnSpc>
            </a:pPr>
            <a:r>
              <a:rPr lang="en-US" altLang="zh-CN" dirty="0">
                <a:latin typeface="微软雅黑" panose="020B0503020204020204" pitchFamily="34" charset="-122"/>
                <a:ea typeface="微软雅黑" panose="020B0503020204020204" pitchFamily="34" charset="-122"/>
              </a:rPr>
              <a:t>E.g. In the United States a person who should’ve been </a:t>
            </a:r>
            <a:r>
              <a:rPr lang="en-US" altLang="zh-CN" dirty="0">
                <a:solidFill>
                  <a:srgbClr val="FF0000"/>
                </a:solidFill>
                <a:latin typeface="微软雅黑" panose="020B0503020204020204" pitchFamily="34" charset="-122"/>
                <a:ea typeface="微软雅黑" panose="020B0503020204020204" pitchFamily="34" charset="-122"/>
              </a:rPr>
              <a:t>executed</a:t>
            </a:r>
            <a:r>
              <a:rPr lang="en-US" altLang="zh-CN" dirty="0">
                <a:latin typeface="微软雅黑" panose="020B0503020204020204" pitchFamily="34" charset="-122"/>
                <a:ea typeface="微软雅黑" panose="020B0503020204020204" pitchFamily="34" charset="-122"/>
              </a:rPr>
              <a:t> might be set free after only 20 years’ imprisonment.</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2012</a:t>
            </a:r>
            <a:r>
              <a:rPr lang="zh-CN" altLang="en-US" dirty="0">
                <a:latin typeface="微软雅黑" panose="020B0503020204020204" pitchFamily="34" charset="-122"/>
                <a:ea typeface="微软雅黑" panose="020B0503020204020204" pitchFamily="34" charset="-122"/>
              </a:rPr>
              <a:t>年</a:t>
            </a:r>
            <a:r>
              <a:rPr lang="en-US" altLang="zh-CN" dirty="0">
                <a:latin typeface="微软雅黑" panose="020B0503020204020204" pitchFamily="34" charset="-122"/>
                <a:ea typeface="微软雅黑" panose="020B0503020204020204" pitchFamily="34" charset="-122"/>
              </a:rPr>
              <a:t>10</a:t>
            </a:r>
            <a:r>
              <a:rPr lang="zh-CN" altLang="en-US" dirty="0">
                <a:latin typeface="微软雅黑" panose="020B0503020204020204" pitchFamily="34" charset="-122"/>
                <a:ea typeface="微软雅黑" panose="020B0503020204020204" pitchFamily="34" charset="-122"/>
              </a:rPr>
              <a:t>月）</a:t>
            </a:r>
          </a:p>
          <a:p>
            <a:pPr>
              <a:lnSpc>
                <a:spcPct val="150000"/>
              </a:lnSpc>
            </a:pPr>
            <a:r>
              <a:rPr lang="zh-CN" altLang="en-US" dirty="0">
                <a:latin typeface="微软雅黑" panose="020B0503020204020204" pitchFamily="34" charset="-122"/>
                <a:ea typeface="微软雅黑" panose="020B0503020204020204" pitchFamily="34" charset="-122"/>
              </a:rPr>
              <a:t>在美国，一个本应该被</a:t>
            </a:r>
            <a:r>
              <a:rPr lang="zh-CN" altLang="en-US" dirty="0">
                <a:solidFill>
                  <a:srgbClr val="FF0000"/>
                </a:solidFill>
                <a:latin typeface="微软雅黑" panose="020B0503020204020204" pitchFamily="34" charset="-122"/>
                <a:ea typeface="微软雅黑" panose="020B0503020204020204" pitchFamily="34" charset="-122"/>
              </a:rPr>
              <a:t>处死</a:t>
            </a:r>
            <a:r>
              <a:rPr lang="zh-CN" altLang="en-US" dirty="0">
                <a:latin typeface="微软雅黑" panose="020B0503020204020204" pitchFamily="34" charset="-122"/>
                <a:ea typeface="微软雅黑" panose="020B0503020204020204" pitchFamily="34" charset="-122"/>
              </a:rPr>
              <a:t>的人，在</a:t>
            </a:r>
            <a:r>
              <a:rPr lang="en-US" altLang="zh-CN" dirty="0">
                <a:latin typeface="微软雅黑" panose="020B0503020204020204" pitchFamily="34" charset="-122"/>
                <a:ea typeface="微软雅黑" panose="020B0503020204020204" pitchFamily="34" charset="-122"/>
              </a:rPr>
              <a:t>20</a:t>
            </a:r>
            <a:r>
              <a:rPr lang="zh-CN" altLang="en-US" dirty="0">
                <a:latin typeface="微软雅黑" panose="020B0503020204020204" pitchFamily="34" charset="-122"/>
                <a:ea typeface="微软雅黑" panose="020B0503020204020204" pitchFamily="34" charset="-122"/>
              </a:rPr>
              <a:t>年监禁之后，就可以被释放。</a:t>
            </a:r>
          </a:p>
        </p:txBody>
      </p:sp>
      <p:sp>
        <p:nvSpPr>
          <p:cNvPr id="6" name="矩形 5">
            <a:extLst>
              <a:ext uri="{FF2B5EF4-FFF2-40B4-BE49-F238E27FC236}">
                <a16:creationId xmlns:a16="http://schemas.microsoft.com/office/drawing/2014/main" id="{E59467E2-3B86-448D-8A7B-0DBF2EBB1465}"/>
              </a:ext>
            </a:extLst>
          </p:cNvPr>
          <p:cNvSpPr/>
          <p:nvPr/>
        </p:nvSpPr>
        <p:spPr>
          <a:xfrm>
            <a:off x="203715" y="189049"/>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1.9.13</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13</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1493074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二、阅读理解高频单词</a:t>
            </a:r>
          </a:p>
        </p:txBody>
      </p:sp>
      <p:sp>
        <p:nvSpPr>
          <p:cNvPr id="5" name="矩形 4">
            <a:extLst>
              <a:ext uri="{FF2B5EF4-FFF2-40B4-BE49-F238E27FC236}">
                <a16:creationId xmlns:a16="http://schemas.microsoft.com/office/drawing/2014/main" id="{54E10CE7-B360-4059-A2EA-A463D0655165}"/>
              </a:ext>
            </a:extLst>
          </p:cNvPr>
          <p:cNvSpPr/>
          <p:nvPr/>
        </p:nvSpPr>
        <p:spPr>
          <a:xfrm>
            <a:off x="595745" y="1491964"/>
            <a:ext cx="10051473" cy="2951898"/>
          </a:xfrm>
          <a:prstGeom prst="rect">
            <a:avLst/>
          </a:prstGeom>
        </p:spPr>
        <p:txBody>
          <a:bodyPr wrap="square">
            <a:spAutoFit/>
          </a:bodyPr>
          <a:lstStyle/>
          <a:p>
            <a:pPr>
              <a:lnSpc>
                <a:spcPct val="150000"/>
              </a:lnSpc>
            </a:pPr>
            <a:r>
              <a:rPr lang="en-US" altLang="zh-CN" dirty="0">
                <a:latin typeface="微软雅黑" panose="020B0503020204020204" pitchFamily="34" charset="-122"/>
                <a:ea typeface="微软雅黑" panose="020B0503020204020204" pitchFamily="34" charset="-122"/>
              </a:rPr>
              <a:t>3. torrent ['</a:t>
            </a:r>
            <a:r>
              <a:rPr lang="en-US" altLang="zh-CN" dirty="0" err="1">
                <a:latin typeface="微软雅黑" panose="020B0503020204020204" pitchFamily="34" charset="-122"/>
                <a:ea typeface="微软雅黑" panose="020B0503020204020204" pitchFamily="34" charset="-122"/>
              </a:rPr>
              <a:t>tɒr</a:t>
            </a:r>
            <a:r>
              <a:rPr lang="en-US" altLang="zh-CN" dirty="0">
                <a:latin typeface="微软雅黑" panose="020B0503020204020204" pitchFamily="34" charset="-122"/>
                <a:ea typeface="微软雅黑" panose="020B0503020204020204" pitchFamily="34" charset="-122"/>
              </a:rPr>
              <a:t>(ə)</a:t>
            </a:r>
            <a:r>
              <a:rPr lang="en-US" altLang="zh-CN" dirty="0" err="1">
                <a:latin typeface="微软雅黑" panose="020B0503020204020204" pitchFamily="34" charset="-122"/>
                <a:ea typeface="微软雅黑" panose="020B0503020204020204" pitchFamily="34" charset="-122"/>
              </a:rPr>
              <a:t>nt</a:t>
            </a:r>
            <a:r>
              <a:rPr lang="en-US" altLang="zh-CN" dirty="0">
                <a:latin typeface="微软雅黑" panose="020B0503020204020204" pitchFamily="34" charset="-122"/>
                <a:ea typeface="微软雅黑" panose="020B0503020204020204" pitchFamily="34" charset="-122"/>
              </a:rPr>
              <a:t>] n. </a:t>
            </a:r>
            <a:r>
              <a:rPr lang="zh-CN" altLang="en-US" dirty="0">
                <a:latin typeface="微软雅黑" panose="020B0503020204020204" pitchFamily="34" charset="-122"/>
                <a:ea typeface="微软雅黑" panose="020B0503020204020204" pitchFamily="34" charset="-122"/>
              </a:rPr>
              <a:t>奔流；倾注；迸发；连续不断</a:t>
            </a:r>
          </a:p>
          <a:p>
            <a:pPr>
              <a:lnSpc>
                <a:spcPct val="150000"/>
              </a:lnSpc>
            </a:pPr>
            <a:r>
              <a:rPr lang="en-US" altLang="zh-CN" dirty="0">
                <a:latin typeface="微软雅黑" panose="020B0503020204020204" pitchFamily="34" charset="-122"/>
                <a:ea typeface="微软雅黑" panose="020B0503020204020204" pitchFamily="34" charset="-122"/>
              </a:rPr>
              <a:t>E.g. A pitcher? You want to draw water from the </a:t>
            </a:r>
            <a:r>
              <a:rPr lang="en-US" altLang="zh-CN" dirty="0">
                <a:solidFill>
                  <a:srgbClr val="FF0000"/>
                </a:solidFill>
                <a:latin typeface="微软雅黑" panose="020B0503020204020204" pitchFamily="34" charset="-122"/>
                <a:ea typeface="微软雅黑" panose="020B0503020204020204" pitchFamily="34" charset="-122"/>
              </a:rPr>
              <a:t>torrent</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2010</a:t>
            </a:r>
            <a:r>
              <a:rPr lang="zh-CN" altLang="en-US" dirty="0">
                <a:latin typeface="微软雅黑" panose="020B0503020204020204" pitchFamily="34" charset="-122"/>
                <a:ea typeface="微软雅黑" panose="020B0503020204020204" pitchFamily="34" charset="-122"/>
              </a:rPr>
              <a:t>年</a:t>
            </a:r>
            <a:r>
              <a:rPr lang="en-US" altLang="zh-CN" dirty="0">
                <a:latin typeface="微软雅黑" panose="020B0503020204020204" pitchFamily="34" charset="-122"/>
                <a:ea typeface="微软雅黑" panose="020B0503020204020204" pitchFamily="34" charset="-122"/>
              </a:rPr>
              <a:t>10</a:t>
            </a:r>
            <a:r>
              <a:rPr lang="zh-CN" altLang="en-US" dirty="0">
                <a:latin typeface="微软雅黑" panose="020B0503020204020204" pitchFamily="34" charset="-122"/>
                <a:ea typeface="微软雅黑" panose="020B0503020204020204" pitchFamily="34" charset="-122"/>
              </a:rPr>
              <a:t>月</a:t>
            </a:r>
            <a:r>
              <a:rPr lang="en-US" altLang="zh-CN" dirty="0">
                <a:latin typeface="微软雅黑" panose="020B0503020204020204" pitchFamily="34" charset="-122"/>
                <a:ea typeface="微软雅黑" panose="020B0503020204020204" pitchFamily="34" charset="-122"/>
              </a:rPr>
              <a:t>)     </a:t>
            </a:r>
          </a:p>
          <a:p>
            <a:pPr>
              <a:lnSpc>
                <a:spcPct val="150000"/>
              </a:lnSpc>
            </a:pPr>
            <a:r>
              <a:rPr lang="zh-CN" altLang="en-US" dirty="0">
                <a:latin typeface="微软雅黑" panose="020B0503020204020204" pitchFamily="34" charset="-122"/>
                <a:ea typeface="微软雅黑" panose="020B0503020204020204" pitchFamily="34" charset="-122"/>
              </a:rPr>
              <a:t>一个大水罐？你想要从</a:t>
            </a:r>
            <a:r>
              <a:rPr lang="zh-CN" altLang="en-US" dirty="0">
                <a:solidFill>
                  <a:srgbClr val="FF0000"/>
                </a:solidFill>
                <a:latin typeface="微软雅黑" panose="020B0503020204020204" pitchFamily="34" charset="-122"/>
                <a:ea typeface="微软雅黑" panose="020B0503020204020204" pitchFamily="34" charset="-122"/>
              </a:rPr>
              <a:t>急流</a:t>
            </a:r>
            <a:r>
              <a:rPr lang="zh-CN" altLang="en-US" dirty="0">
                <a:latin typeface="微软雅黑" panose="020B0503020204020204" pitchFamily="34" charset="-122"/>
                <a:ea typeface="微软雅黑" panose="020B0503020204020204" pitchFamily="34" charset="-122"/>
              </a:rPr>
              <a:t>中取水吗？</a:t>
            </a:r>
          </a:p>
          <a:p>
            <a:pPr>
              <a:lnSpc>
                <a:spcPct val="150000"/>
              </a:lnSpc>
            </a:pPr>
            <a:r>
              <a:rPr lang="en-US" altLang="zh-CN" dirty="0">
                <a:latin typeface="微软雅黑" panose="020B0503020204020204" pitchFamily="34" charset="-122"/>
                <a:ea typeface="微软雅黑" panose="020B0503020204020204" pitchFamily="34" charset="-122"/>
              </a:rPr>
              <a:t>E.g. Girl of the silent </a:t>
            </a:r>
            <a:r>
              <a:rPr lang="en-US" altLang="zh-CN" dirty="0">
                <a:solidFill>
                  <a:srgbClr val="FF0000"/>
                </a:solidFill>
                <a:latin typeface="微软雅黑" panose="020B0503020204020204" pitchFamily="34" charset="-122"/>
                <a:ea typeface="微软雅黑" panose="020B0503020204020204" pitchFamily="34" charset="-122"/>
              </a:rPr>
              <a:t>torrent</a:t>
            </a:r>
            <a:r>
              <a:rPr lang="en-US" altLang="zh-CN" dirty="0">
                <a:latin typeface="微软雅黑" panose="020B0503020204020204" pitchFamily="34" charset="-122"/>
                <a:ea typeface="微软雅黑" panose="020B0503020204020204" pitchFamily="34" charset="-122"/>
              </a:rPr>
              <a:t>, give me one of your clay pitchers. I shall draw pictures on it. </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2010</a:t>
            </a:r>
            <a:r>
              <a:rPr lang="zh-CN" altLang="en-US" dirty="0">
                <a:latin typeface="微软雅黑" panose="020B0503020204020204" pitchFamily="34" charset="-122"/>
                <a:ea typeface="微软雅黑" panose="020B0503020204020204" pitchFamily="34" charset="-122"/>
              </a:rPr>
              <a:t>年</a:t>
            </a:r>
            <a:r>
              <a:rPr lang="en-US" altLang="zh-CN" dirty="0">
                <a:latin typeface="微软雅黑" panose="020B0503020204020204" pitchFamily="34" charset="-122"/>
                <a:ea typeface="微软雅黑" panose="020B0503020204020204" pitchFamily="34" charset="-122"/>
              </a:rPr>
              <a:t>10</a:t>
            </a:r>
            <a:r>
              <a:rPr lang="zh-CN" altLang="en-US" dirty="0">
                <a:latin typeface="微软雅黑" panose="020B0503020204020204" pitchFamily="34" charset="-122"/>
                <a:ea typeface="微软雅黑" panose="020B0503020204020204" pitchFamily="34" charset="-122"/>
              </a:rPr>
              <a:t>月</a:t>
            </a:r>
            <a:r>
              <a:rPr lang="en-US" altLang="zh-CN" dirty="0">
                <a:latin typeface="微软雅黑" panose="020B0503020204020204" pitchFamily="34" charset="-122"/>
                <a:ea typeface="微软雅黑" panose="020B0503020204020204" pitchFamily="34" charset="-122"/>
              </a:rPr>
              <a:t>)     </a:t>
            </a:r>
          </a:p>
          <a:p>
            <a:pPr>
              <a:lnSpc>
                <a:spcPct val="150000"/>
              </a:lnSpc>
            </a:pPr>
            <a:r>
              <a:rPr lang="zh-CN" altLang="en-US" dirty="0">
                <a:solidFill>
                  <a:srgbClr val="FF0000"/>
                </a:solidFill>
                <a:latin typeface="微软雅黑" panose="020B0503020204020204" pitchFamily="34" charset="-122"/>
                <a:ea typeface="微软雅黑" panose="020B0503020204020204" pitchFamily="34" charset="-122"/>
              </a:rPr>
              <a:t>急流</a:t>
            </a:r>
            <a:r>
              <a:rPr lang="zh-CN" altLang="en-US" dirty="0">
                <a:latin typeface="微软雅黑" panose="020B0503020204020204" pitchFamily="34" charset="-122"/>
                <a:ea typeface="微软雅黑" panose="020B0503020204020204" pitchFamily="34" charset="-122"/>
              </a:rPr>
              <a:t>边的女孩儿，把你的黏土罐给我一个，我要在上面画画。</a:t>
            </a:r>
          </a:p>
          <a:p>
            <a:pPr>
              <a:lnSpc>
                <a:spcPct val="150000"/>
              </a:lnSpc>
            </a:pPr>
            <a:endParaRPr lang="zh-CN" altLang="en-US" dirty="0">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95C9347A-B097-4453-92F0-AAD303FCC1B3}"/>
              </a:ext>
            </a:extLst>
          </p:cNvPr>
          <p:cNvSpPr/>
          <p:nvPr/>
        </p:nvSpPr>
        <p:spPr>
          <a:xfrm>
            <a:off x="203715" y="189049"/>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1.9.13</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13</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2427948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二、阅读理解高频单词</a:t>
            </a:r>
          </a:p>
        </p:txBody>
      </p:sp>
      <p:sp>
        <p:nvSpPr>
          <p:cNvPr id="5" name="矩形 4">
            <a:extLst>
              <a:ext uri="{FF2B5EF4-FFF2-40B4-BE49-F238E27FC236}">
                <a16:creationId xmlns:a16="http://schemas.microsoft.com/office/drawing/2014/main" id="{54E10CE7-B360-4059-A2EA-A463D0655165}"/>
              </a:ext>
            </a:extLst>
          </p:cNvPr>
          <p:cNvSpPr/>
          <p:nvPr/>
        </p:nvSpPr>
        <p:spPr>
          <a:xfrm>
            <a:off x="595745" y="1491964"/>
            <a:ext cx="10051473" cy="2536400"/>
          </a:xfrm>
          <a:prstGeom prst="rect">
            <a:avLst/>
          </a:prstGeom>
        </p:spPr>
        <p:txBody>
          <a:bodyPr wrap="square">
            <a:spAutoFit/>
          </a:bodyPr>
          <a:lstStyle/>
          <a:p>
            <a:pPr>
              <a:lnSpc>
                <a:spcPct val="150000"/>
              </a:lnSpc>
            </a:pPr>
            <a:r>
              <a:rPr lang="en-US" altLang="zh-CN" dirty="0">
                <a:latin typeface="微软雅黑" panose="020B0503020204020204" pitchFamily="34" charset="-122"/>
                <a:ea typeface="微软雅黑" panose="020B0503020204020204" pitchFamily="34" charset="-122"/>
              </a:rPr>
              <a:t>4. reform [</a:t>
            </a:r>
            <a:r>
              <a:rPr lang="en-US" altLang="zh-CN" dirty="0" err="1">
                <a:latin typeface="微软雅黑" panose="020B0503020204020204" pitchFamily="34" charset="-122"/>
                <a:ea typeface="微软雅黑" panose="020B0503020204020204" pitchFamily="34" charset="-122"/>
              </a:rPr>
              <a:t>rɪ'fɔːm</a:t>
            </a:r>
            <a:r>
              <a:rPr lang="en-US" altLang="zh-CN" dirty="0">
                <a:latin typeface="微软雅黑" panose="020B0503020204020204" pitchFamily="34" charset="-122"/>
                <a:ea typeface="微软雅黑" panose="020B0503020204020204" pitchFamily="34" charset="-122"/>
              </a:rPr>
              <a:t>] n. </a:t>
            </a:r>
            <a:r>
              <a:rPr lang="zh-CN" altLang="en-US" dirty="0">
                <a:latin typeface="微软雅黑" panose="020B0503020204020204" pitchFamily="34" charset="-122"/>
                <a:ea typeface="微软雅黑" panose="020B0503020204020204" pitchFamily="34" charset="-122"/>
              </a:rPr>
              <a:t>改革，改良；改正</a:t>
            </a:r>
            <a:r>
              <a:rPr lang="en-US" altLang="zh-CN" dirty="0" err="1">
                <a:latin typeface="微软雅黑" panose="020B0503020204020204" pitchFamily="34" charset="-122"/>
                <a:ea typeface="微软雅黑" panose="020B0503020204020204" pitchFamily="34" charset="-122"/>
              </a:rPr>
              <a:t>vt.</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改革，革新；重新组成</a:t>
            </a:r>
            <a:r>
              <a:rPr lang="en-US" altLang="zh-CN" dirty="0">
                <a:latin typeface="微软雅黑" panose="020B0503020204020204" pitchFamily="34" charset="-122"/>
                <a:ea typeface="微软雅黑" panose="020B0503020204020204" pitchFamily="34" charset="-122"/>
              </a:rPr>
              <a:t>vi. </a:t>
            </a:r>
            <a:r>
              <a:rPr lang="zh-CN" altLang="en-US" dirty="0">
                <a:latin typeface="微软雅黑" panose="020B0503020204020204" pitchFamily="34" charset="-122"/>
                <a:ea typeface="微软雅黑" panose="020B0503020204020204" pitchFamily="34" charset="-122"/>
              </a:rPr>
              <a:t>重组；改过</a:t>
            </a:r>
          </a:p>
          <a:p>
            <a:pPr>
              <a:lnSpc>
                <a:spcPct val="150000"/>
              </a:lnSpc>
            </a:pPr>
            <a:r>
              <a:rPr lang="en-US" altLang="zh-CN" dirty="0">
                <a:latin typeface="微软雅黑" panose="020B0503020204020204" pitchFamily="34" charset="-122"/>
                <a:ea typeface="微软雅黑" panose="020B0503020204020204" pitchFamily="34" charset="-122"/>
              </a:rPr>
              <a:t>adj. </a:t>
            </a:r>
            <a:r>
              <a:rPr lang="zh-CN" altLang="en-US" dirty="0">
                <a:latin typeface="微软雅黑" panose="020B0503020204020204" pitchFamily="34" charset="-122"/>
                <a:ea typeface="微软雅黑" panose="020B0503020204020204" pitchFamily="34" charset="-122"/>
              </a:rPr>
              <a:t>改革的；改革教会的</a:t>
            </a:r>
          </a:p>
          <a:p>
            <a:pPr>
              <a:lnSpc>
                <a:spcPct val="150000"/>
              </a:lnSpc>
            </a:pPr>
            <a:r>
              <a:rPr lang="en-US" altLang="zh-CN" dirty="0">
                <a:latin typeface="微软雅黑" panose="020B0503020204020204" pitchFamily="34" charset="-122"/>
                <a:ea typeface="微软雅黑" panose="020B0503020204020204" pitchFamily="34" charset="-122"/>
              </a:rPr>
              <a:t>E.g. In order to continue the good for which this program was intended, we have to pursue the </a:t>
            </a:r>
            <a:r>
              <a:rPr lang="en-US" altLang="zh-CN" dirty="0">
                <a:solidFill>
                  <a:srgbClr val="FF0000"/>
                </a:solidFill>
                <a:latin typeface="微软雅黑" panose="020B0503020204020204" pitchFamily="34" charset="-122"/>
                <a:ea typeface="微软雅黑" panose="020B0503020204020204" pitchFamily="34" charset="-122"/>
              </a:rPr>
              <a:t>reforms </a:t>
            </a:r>
            <a:r>
              <a:rPr lang="en-US" altLang="zh-CN" dirty="0">
                <a:latin typeface="微软雅黑" panose="020B0503020204020204" pitchFamily="34" charset="-122"/>
                <a:ea typeface="微软雅黑" panose="020B0503020204020204" pitchFamily="34" charset="-122"/>
              </a:rPr>
              <a:t>that allow for appropriate oversight. </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2011</a:t>
            </a:r>
            <a:r>
              <a:rPr lang="zh-CN" altLang="en-US" dirty="0">
                <a:latin typeface="微软雅黑" panose="020B0503020204020204" pitchFamily="34" charset="-122"/>
                <a:ea typeface="微软雅黑" panose="020B0503020204020204" pitchFamily="34" charset="-122"/>
              </a:rPr>
              <a:t>年</a:t>
            </a:r>
            <a:r>
              <a:rPr lang="en-US" altLang="zh-CN" dirty="0">
                <a:latin typeface="微软雅黑" panose="020B0503020204020204" pitchFamily="34" charset="-122"/>
                <a:ea typeface="微软雅黑" panose="020B0503020204020204" pitchFamily="34" charset="-122"/>
              </a:rPr>
              <a:t>10</a:t>
            </a:r>
            <a:r>
              <a:rPr lang="zh-CN" altLang="en-US" dirty="0">
                <a:latin typeface="微软雅黑" panose="020B0503020204020204" pitchFamily="34" charset="-122"/>
                <a:ea typeface="微软雅黑" panose="020B0503020204020204" pitchFamily="34" charset="-122"/>
              </a:rPr>
              <a:t>月</a:t>
            </a:r>
            <a:r>
              <a:rPr lang="en-US" altLang="zh-CN" dirty="0">
                <a:latin typeface="微软雅黑" panose="020B0503020204020204" pitchFamily="34" charset="-122"/>
                <a:ea typeface="微软雅黑" panose="020B0503020204020204" pitchFamily="34" charset="-122"/>
              </a:rPr>
              <a:t>) </a:t>
            </a:r>
          </a:p>
          <a:p>
            <a:pPr>
              <a:lnSpc>
                <a:spcPct val="150000"/>
              </a:lnSpc>
            </a:pPr>
            <a:r>
              <a:rPr lang="zh-CN" altLang="en-US" dirty="0">
                <a:latin typeface="微软雅黑" panose="020B0503020204020204" pitchFamily="34" charset="-122"/>
                <a:ea typeface="微软雅黑" panose="020B0503020204020204" pitchFamily="34" charset="-122"/>
              </a:rPr>
              <a:t>为了让这一项目继续给人们造福，我们必须进行可以实施适当监管的</a:t>
            </a:r>
            <a:r>
              <a:rPr lang="zh-CN" altLang="en-US" dirty="0">
                <a:solidFill>
                  <a:srgbClr val="FF0000"/>
                </a:solidFill>
                <a:latin typeface="微软雅黑" panose="020B0503020204020204" pitchFamily="34" charset="-122"/>
                <a:ea typeface="微软雅黑" panose="020B0503020204020204" pitchFamily="34" charset="-122"/>
              </a:rPr>
              <a:t>改革</a:t>
            </a:r>
            <a:r>
              <a:rPr lang="zh-CN" altLang="en-US" dirty="0">
                <a:latin typeface="微软雅黑" panose="020B0503020204020204" pitchFamily="34" charset="-122"/>
                <a:ea typeface="微软雅黑" panose="020B0503020204020204" pitchFamily="34" charset="-122"/>
              </a:rPr>
              <a:t>。</a:t>
            </a:r>
          </a:p>
          <a:p>
            <a:pPr>
              <a:lnSpc>
                <a:spcPct val="150000"/>
              </a:lnSpc>
            </a:pPr>
            <a:endParaRPr lang="zh-CN" altLang="en-US" dirty="0">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BDF4BEC3-3A8B-41D4-B2CB-52C64D810CDC}"/>
              </a:ext>
            </a:extLst>
          </p:cNvPr>
          <p:cNvSpPr/>
          <p:nvPr/>
        </p:nvSpPr>
        <p:spPr>
          <a:xfrm>
            <a:off x="203715" y="189049"/>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1.9.13</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13</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1677715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二、阅读理解高频单词</a:t>
            </a:r>
          </a:p>
        </p:txBody>
      </p:sp>
      <p:sp>
        <p:nvSpPr>
          <p:cNvPr id="5" name="矩形 4">
            <a:extLst>
              <a:ext uri="{FF2B5EF4-FFF2-40B4-BE49-F238E27FC236}">
                <a16:creationId xmlns:a16="http://schemas.microsoft.com/office/drawing/2014/main" id="{54E10CE7-B360-4059-A2EA-A463D0655165}"/>
              </a:ext>
            </a:extLst>
          </p:cNvPr>
          <p:cNvSpPr/>
          <p:nvPr/>
        </p:nvSpPr>
        <p:spPr>
          <a:xfrm>
            <a:off x="595745" y="1491964"/>
            <a:ext cx="10051473" cy="2120902"/>
          </a:xfrm>
          <a:prstGeom prst="rect">
            <a:avLst/>
          </a:prstGeom>
        </p:spPr>
        <p:txBody>
          <a:bodyPr wrap="square">
            <a:spAutoFit/>
          </a:bodyPr>
          <a:lstStyle/>
          <a:p>
            <a:pPr>
              <a:lnSpc>
                <a:spcPct val="150000"/>
              </a:lnSpc>
            </a:pPr>
            <a:r>
              <a:rPr lang="en-US" altLang="zh-CN" dirty="0">
                <a:latin typeface="微软雅黑" panose="020B0503020204020204" pitchFamily="34" charset="-122"/>
                <a:ea typeface="微软雅黑" panose="020B0503020204020204" pitchFamily="34" charset="-122"/>
              </a:rPr>
              <a:t>5. ghost [</a:t>
            </a:r>
            <a:r>
              <a:rPr lang="en-US" altLang="zh-CN" dirty="0" err="1">
                <a:latin typeface="微软雅黑" panose="020B0503020204020204" pitchFamily="34" charset="-122"/>
                <a:ea typeface="微软雅黑" panose="020B0503020204020204" pitchFamily="34" charset="-122"/>
              </a:rPr>
              <a:t>gəʊst</a:t>
            </a:r>
            <a:r>
              <a:rPr lang="en-US" altLang="zh-CN" dirty="0">
                <a:latin typeface="微软雅黑" panose="020B0503020204020204" pitchFamily="34" charset="-122"/>
                <a:ea typeface="微软雅黑" panose="020B0503020204020204" pitchFamily="34" charset="-122"/>
              </a:rPr>
              <a:t>] n. </a:t>
            </a:r>
            <a:r>
              <a:rPr lang="zh-CN" altLang="en-US" dirty="0">
                <a:latin typeface="微软雅黑" panose="020B0503020204020204" pitchFamily="34" charset="-122"/>
                <a:ea typeface="微软雅黑" panose="020B0503020204020204" pitchFamily="34" charset="-122"/>
              </a:rPr>
              <a:t>鬼，幽灵</a:t>
            </a:r>
            <a:r>
              <a:rPr lang="en-US" altLang="zh-CN" dirty="0" err="1">
                <a:latin typeface="微软雅黑" panose="020B0503020204020204" pitchFamily="34" charset="-122"/>
                <a:ea typeface="微软雅黑" panose="020B0503020204020204" pitchFamily="34" charset="-122"/>
              </a:rPr>
              <a:t>vt.</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作祟于；为人代笔</a:t>
            </a:r>
            <a:r>
              <a:rPr lang="en-US" altLang="zh-CN" dirty="0">
                <a:latin typeface="微软雅黑" panose="020B0503020204020204" pitchFamily="34" charset="-122"/>
                <a:ea typeface="微软雅黑" panose="020B0503020204020204" pitchFamily="34" charset="-122"/>
              </a:rPr>
              <a:t>vi. </a:t>
            </a:r>
            <a:r>
              <a:rPr lang="zh-CN" altLang="en-US" dirty="0">
                <a:latin typeface="微软雅黑" panose="020B0503020204020204" pitchFamily="34" charset="-122"/>
                <a:ea typeface="微软雅黑" panose="020B0503020204020204" pitchFamily="34" charset="-122"/>
              </a:rPr>
              <a:t>替人代笔</a:t>
            </a:r>
          </a:p>
          <a:p>
            <a:pPr>
              <a:lnSpc>
                <a:spcPct val="150000"/>
              </a:lnSpc>
            </a:pPr>
            <a:r>
              <a:rPr lang="en-US" altLang="zh-CN" dirty="0">
                <a:latin typeface="微软雅黑" panose="020B0503020204020204" pitchFamily="34" charset="-122"/>
                <a:ea typeface="微软雅黑" panose="020B0503020204020204" pitchFamily="34" charset="-122"/>
              </a:rPr>
              <a:t>E.g. Charles Dickens used the vehicle of an old-fashioned </a:t>
            </a:r>
            <a:r>
              <a:rPr lang="en-US" altLang="zh-CN" dirty="0">
                <a:solidFill>
                  <a:srgbClr val="FF0000"/>
                </a:solidFill>
                <a:latin typeface="微软雅黑" panose="020B0503020204020204" pitchFamily="34" charset="-122"/>
                <a:ea typeface="微软雅黑" panose="020B0503020204020204" pitchFamily="34" charset="-122"/>
              </a:rPr>
              <a:t>ghost</a:t>
            </a:r>
            <a:r>
              <a:rPr lang="en-US" altLang="zh-CN" dirty="0">
                <a:latin typeface="微软雅黑" panose="020B0503020204020204" pitchFamily="34" charset="-122"/>
                <a:ea typeface="微软雅黑" panose="020B0503020204020204" pitchFamily="34" charset="-122"/>
              </a:rPr>
              <a:t> story to tell “A Christmas Carol”, but that book is not a horror story. </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2012</a:t>
            </a:r>
            <a:r>
              <a:rPr lang="zh-CN" altLang="en-US" dirty="0">
                <a:latin typeface="微软雅黑" panose="020B0503020204020204" pitchFamily="34" charset="-122"/>
                <a:ea typeface="微软雅黑" panose="020B0503020204020204" pitchFamily="34" charset="-122"/>
              </a:rPr>
              <a:t>年</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月</a:t>
            </a:r>
            <a:r>
              <a:rPr lang="en-US" altLang="zh-CN" dirty="0">
                <a:latin typeface="微软雅黑" panose="020B0503020204020204" pitchFamily="34" charset="-122"/>
                <a:ea typeface="微软雅黑" panose="020B0503020204020204" pitchFamily="34" charset="-122"/>
              </a:rPr>
              <a:t>) </a:t>
            </a:r>
          </a:p>
          <a:p>
            <a:pPr>
              <a:lnSpc>
                <a:spcPct val="150000"/>
              </a:lnSpc>
            </a:pPr>
            <a:r>
              <a:rPr lang="zh-CN" altLang="en-US" dirty="0">
                <a:latin typeface="微软雅黑" panose="020B0503020204020204" pitchFamily="34" charset="-122"/>
                <a:ea typeface="微软雅黑" panose="020B0503020204020204" pitchFamily="34" charset="-122"/>
              </a:rPr>
              <a:t>查尔斯狄更斯用一个过时的</a:t>
            </a:r>
            <a:r>
              <a:rPr lang="zh-CN" altLang="en-US" dirty="0">
                <a:solidFill>
                  <a:srgbClr val="FF0000"/>
                </a:solidFill>
                <a:latin typeface="微软雅黑" panose="020B0503020204020204" pitchFamily="34" charset="-122"/>
                <a:ea typeface="微软雅黑" panose="020B0503020204020204" pitchFamily="34" charset="-122"/>
              </a:rPr>
              <a:t>鬼</a:t>
            </a:r>
            <a:r>
              <a:rPr lang="zh-CN" altLang="en-US" dirty="0">
                <a:latin typeface="微软雅黑" panose="020B0503020204020204" pitchFamily="34" charset="-122"/>
                <a:ea typeface="微软雅黑" panose="020B0503020204020204" pitchFamily="34" charset="-122"/>
              </a:rPr>
              <a:t>故事作为工具来讲述</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圣诞欢歌</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，但是那本书并不是恐怖小说。</a:t>
            </a:r>
          </a:p>
          <a:p>
            <a:pPr>
              <a:lnSpc>
                <a:spcPct val="150000"/>
              </a:lnSpc>
            </a:pPr>
            <a:r>
              <a:rPr lang="en-US" altLang="zh-CN" dirty="0">
                <a:latin typeface="微软雅黑" panose="020B0503020204020204" pitchFamily="34" charset="-122"/>
                <a:ea typeface="微软雅黑" panose="020B0503020204020204" pitchFamily="34" charset="-122"/>
              </a:rPr>
              <a:t> </a:t>
            </a:r>
            <a:endParaRPr lang="zh-CN" altLang="en-US" dirty="0">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8715E312-B037-4AE7-A0F1-F0CDBD62DF27}"/>
              </a:ext>
            </a:extLst>
          </p:cNvPr>
          <p:cNvSpPr/>
          <p:nvPr/>
        </p:nvSpPr>
        <p:spPr>
          <a:xfrm>
            <a:off x="203715" y="189049"/>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1.9.13</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13</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0201142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二、阅读理解高频单词</a:t>
            </a:r>
          </a:p>
        </p:txBody>
      </p:sp>
      <p:sp>
        <p:nvSpPr>
          <p:cNvPr id="5" name="矩形 4">
            <a:extLst>
              <a:ext uri="{FF2B5EF4-FFF2-40B4-BE49-F238E27FC236}">
                <a16:creationId xmlns:a16="http://schemas.microsoft.com/office/drawing/2014/main" id="{54E10CE7-B360-4059-A2EA-A463D0655165}"/>
              </a:ext>
            </a:extLst>
          </p:cNvPr>
          <p:cNvSpPr/>
          <p:nvPr/>
        </p:nvSpPr>
        <p:spPr>
          <a:xfrm>
            <a:off x="595745" y="1491964"/>
            <a:ext cx="10051473" cy="1705403"/>
          </a:xfrm>
          <a:prstGeom prst="rect">
            <a:avLst/>
          </a:prstGeom>
        </p:spPr>
        <p:txBody>
          <a:bodyPr wrap="square">
            <a:spAutoFit/>
          </a:bodyPr>
          <a:lstStyle/>
          <a:p>
            <a:pPr>
              <a:lnSpc>
                <a:spcPct val="150000"/>
              </a:lnSpc>
            </a:pPr>
            <a:r>
              <a:rPr lang="en-US" altLang="zh-CN" dirty="0">
                <a:latin typeface="微软雅黑" panose="020B0503020204020204" pitchFamily="34" charset="-122"/>
                <a:ea typeface="微软雅黑" panose="020B0503020204020204" pitchFamily="34" charset="-122"/>
              </a:rPr>
              <a:t>6. adopt [</a:t>
            </a:r>
            <a:r>
              <a:rPr lang="en-US" altLang="zh-CN" dirty="0" err="1">
                <a:latin typeface="微软雅黑" panose="020B0503020204020204" pitchFamily="34" charset="-122"/>
                <a:ea typeface="微软雅黑" panose="020B0503020204020204" pitchFamily="34" charset="-122"/>
              </a:rPr>
              <a:t>ə'dɒpt</a:t>
            </a: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vt.</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采取；接受；收养；正式通过</a:t>
            </a:r>
            <a:r>
              <a:rPr lang="en-US" altLang="zh-CN" dirty="0">
                <a:latin typeface="微软雅黑" panose="020B0503020204020204" pitchFamily="34" charset="-122"/>
                <a:ea typeface="微软雅黑" panose="020B0503020204020204" pitchFamily="34" charset="-122"/>
              </a:rPr>
              <a:t>vi. </a:t>
            </a:r>
            <a:r>
              <a:rPr lang="zh-CN" altLang="en-US" dirty="0">
                <a:latin typeface="微软雅黑" panose="020B0503020204020204" pitchFamily="34" charset="-122"/>
                <a:ea typeface="微软雅黑" panose="020B0503020204020204" pitchFamily="34" charset="-122"/>
              </a:rPr>
              <a:t>采取；过继</a:t>
            </a:r>
          </a:p>
          <a:p>
            <a:pPr>
              <a:lnSpc>
                <a:spcPct val="150000"/>
              </a:lnSpc>
            </a:pPr>
            <a:r>
              <a:rPr lang="en-US" altLang="zh-CN" dirty="0">
                <a:latin typeface="微软雅黑" panose="020B0503020204020204" pitchFamily="34" charset="-122"/>
                <a:ea typeface="微软雅黑" panose="020B0503020204020204" pitchFamily="34" charset="-122"/>
              </a:rPr>
              <a:t>E.g. They wanted the group to acknowledge the problems and </a:t>
            </a:r>
            <a:r>
              <a:rPr lang="en-US" altLang="zh-CN" dirty="0">
                <a:solidFill>
                  <a:srgbClr val="FF0000"/>
                </a:solidFill>
                <a:latin typeface="微软雅黑" panose="020B0503020204020204" pitchFamily="34" charset="-122"/>
                <a:ea typeface="微软雅黑" panose="020B0503020204020204" pitchFamily="34" charset="-122"/>
              </a:rPr>
              <a:t>adopt</a:t>
            </a:r>
            <a:r>
              <a:rPr lang="en-US" altLang="zh-CN" dirty="0">
                <a:latin typeface="微软雅黑" panose="020B0503020204020204" pitchFamily="34" charset="-122"/>
                <a:ea typeface="微软雅黑" panose="020B0503020204020204" pitchFamily="34" charset="-122"/>
              </a:rPr>
              <a:t> radical reforms. </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2011</a:t>
            </a:r>
            <a:r>
              <a:rPr lang="zh-CN" altLang="en-US" dirty="0">
                <a:latin typeface="微软雅黑" panose="020B0503020204020204" pitchFamily="34" charset="-122"/>
                <a:ea typeface="微软雅黑" panose="020B0503020204020204" pitchFamily="34" charset="-122"/>
              </a:rPr>
              <a:t>年</a:t>
            </a:r>
            <a:r>
              <a:rPr lang="en-US" altLang="zh-CN" dirty="0">
                <a:latin typeface="微软雅黑" panose="020B0503020204020204" pitchFamily="34" charset="-122"/>
                <a:ea typeface="微软雅黑" panose="020B0503020204020204" pitchFamily="34" charset="-122"/>
              </a:rPr>
              <a:t>10</a:t>
            </a:r>
            <a:r>
              <a:rPr lang="zh-CN" altLang="en-US" dirty="0">
                <a:latin typeface="微软雅黑" panose="020B0503020204020204" pitchFamily="34" charset="-122"/>
                <a:ea typeface="微软雅黑" panose="020B0503020204020204" pitchFamily="34" charset="-122"/>
              </a:rPr>
              <a:t>月</a:t>
            </a:r>
            <a:r>
              <a:rPr lang="en-US" altLang="zh-CN" dirty="0">
                <a:latin typeface="微软雅黑" panose="020B0503020204020204" pitchFamily="34" charset="-122"/>
                <a:ea typeface="微软雅黑" panose="020B0503020204020204" pitchFamily="34" charset="-122"/>
              </a:rPr>
              <a:t>) </a:t>
            </a:r>
          </a:p>
          <a:p>
            <a:pPr>
              <a:lnSpc>
                <a:spcPct val="150000"/>
              </a:lnSpc>
            </a:pPr>
            <a:r>
              <a:rPr lang="zh-CN" altLang="en-US" dirty="0">
                <a:latin typeface="微软雅黑" panose="020B0503020204020204" pitchFamily="34" charset="-122"/>
                <a:ea typeface="微软雅黑" panose="020B0503020204020204" pitchFamily="34" charset="-122"/>
              </a:rPr>
              <a:t>官员们希望组织正视这些问题并</a:t>
            </a:r>
            <a:r>
              <a:rPr lang="zh-CN" altLang="en-US" dirty="0">
                <a:solidFill>
                  <a:srgbClr val="FF0000"/>
                </a:solidFill>
                <a:latin typeface="微软雅黑" panose="020B0503020204020204" pitchFamily="34" charset="-122"/>
                <a:ea typeface="微软雅黑" panose="020B0503020204020204" pitchFamily="34" charset="-122"/>
              </a:rPr>
              <a:t>采取</a:t>
            </a:r>
            <a:r>
              <a:rPr lang="zh-CN" altLang="en-US" dirty="0">
                <a:latin typeface="微软雅黑" panose="020B0503020204020204" pitchFamily="34" charset="-122"/>
                <a:ea typeface="微软雅黑" panose="020B0503020204020204" pitchFamily="34" charset="-122"/>
              </a:rPr>
              <a:t>根本变革。</a:t>
            </a:r>
          </a:p>
        </p:txBody>
      </p:sp>
      <p:sp>
        <p:nvSpPr>
          <p:cNvPr id="6" name="矩形 5">
            <a:extLst>
              <a:ext uri="{FF2B5EF4-FFF2-40B4-BE49-F238E27FC236}">
                <a16:creationId xmlns:a16="http://schemas.microsoft.com/office/drawing/2014/main" id="{370FB023-92D8-4C86-9C61-633C695AB135}"/>
              </a:ext>
            </a:extLst>
          </p:cNvPr>
          <p:cNvSpPr/>
          <p:nvPr/>
        </p:nvSpPr>
        <p:spPr>
          <a:xfrm>
            <a:off x="203715" y="189049"/>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1.9.13</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13</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0182374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二、阅读理解高频单词</a:t>
            </a:r>
          </a:p>
        </p:txBody>
      </p:sp>
      <p:sp>
        <p:nvSpPr>
          <p:cNvPr id="5" name="矩形 4">
            <a:extLst>
              <a:ext uri="{FF2B5EF4-FFF2-40B4-BE49-F238E27FC236}">
                <a16:creationId xmlns:a16="http://schemas.microsoft.com/office/drawing/2014/main" id="{54E10CE7-B360-4059-A2EA-A463D0655165}"/>
              </a:ext>
            </a:extLst>
          </p:cNvPr>
          <p:cNvSpPr/>
          <p:nvPr/>
        </p:nvSpPr>
        <p:spPr>
          <a:xfrm>
            <a:off x="595745" y="1491964"/>
            <a:ext cx="10051473" cy="2120902"/>
          </a:xfrm>
          <a:prstGeom prst="rect">
            <a:avLst/>
          </a:prstGeom>
        </p:spPr>
        <p:txBody>
          <a:bodyPr wrap="square">
            <a:spAutoFit/>
          </a:bodyPr>
          <a:lstStyle/>
          <a:p>
            <a:pPr>
              <a:lnSpc>
                <a:spcPct val="150000"/>
              </a:lnSpc>
            </a:pPr>
            <a:r>
              <a:rPr lang="en-US" altLang="zh-CN" dirty="0">
                <a:latin typeface="微软雅黑" panose="020B0503020204020204" pitchFamily="34" charset="-122"/>
                <a:ea typeface="微软雅黑" panose="020B0503020204020204" pitchFamily="34" charset="-122"/>
              </a:rPr>
              <a:t>7. corporation [</a:t>
            </a:r>
            <a:r>
              <a:rPr lang="en-US" altLang="zh-CN" dirty="0" err="1">
                <a:latin typeface="微软雅黑" panose="020B0503020204020204" pitchFamily="34" charset="-122"/>
                <a:ea typeface="微软雅黑" panose="020B0503020204020204" pitchFamily="34" charset="-122"/>
              </a:rPr>
              <a:t>kɔːpə'reɪʃ</a:t>
            </a:r>
            <a:r>
              <a:rPr lang="en-US" altLang="zh-CN" dirty="0">
                <a:latin typeface="微软雅黑" panose="020B0503020204020204" pitchFamily="34" charset="-122"/>
                <a:ea typeface="微软雅黑" panose="020B0503020204020204" pitchFamily="34" charset="-122"/>
              </a:rPr>
              <a:t>(ə)n] n. </a:t>
            </a:r>
            <a:r>
              <a:rPr lang="zh-CN" altLang="en-US" dirty="0">
                <a:latin typeface="微软雅黑" panose="020B0503020204020204" pitchFamily="34" charset="-122"/>
                <a:ea typeface="微软雅黑" panose="020B0503020204020204" pitchFamily="34" charset="-122"/>
              </a:rPr>
              <a:t>公司；法人（团体）；社团；市政当局</a:t>
            </a:r>
          </a:p>
          <a:p>
            <a:pPr>
              <a:lnSpc>
                <a:spcPct val="150000"/>
              </a:lnSpc>
            </a:pPr>
            <a:r>
              <a:rPr lang="en-US" altLang="zh-CN" dirty="0">
                <a:latin typeface="微软雅黑" panose="020B0503020204020204" pitchFamily="34" charset="-122"/>
                <a:ea typeface="微软雅黑" panose="020B0503020204020204" pitchFamily="34" charset="-122"/>
              </a:rPr>
              <a:t>E.g. The officials of Alaska native </a:t>
            </a:r>
            <a:r>
              <a:rPr lang="en-US" altLang="zh-CN" dirty="0">
                <a:solidFill>
                  <a:srgbClr val="FF0000"/>
                </a:solidFill>
                <a:latin typeface="微软雅黑" panose="020B0503020204020204" pitchFamily="34" charset="-122"/>
                <a:ea typeface="微软雅黑" panose="020B0503020204020204" pitchFamily="34" charset="-122"/>
              </a:rPr>
              <a:t>corporations</a:t>
            </a:r>
            <a:r>
              <a:rPr lang="en-US" altLang="zh-CN" dirty="0">
                <a:latin typeface="微软雅黑" panose="020B0503020204020204" pitchFamily="34" charset="-122"/>
                <a:ea typeface="微软雅黑" panose="020B0503020204020204" pitchFamily="34" charset="-122"/>
              </a:rPr>
              <a:t> gathered to discuss the reform proposals. </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2011</a:t>
            </a:r>
            <a:r>
              <a:rPr lang="zh-CN" altLang="en-US" dirty="0">
                <a:latin typeface="微软雅黑" panose="020B0503020204020204" pitchFamily="34" charset="-122"/>
                <a:ea typeface="微软雅黑" panose="020B0503020204020204" pitchFamily="34" charset="-122"/>
              </a:rPr>
              <a:t>年</a:t>
            </a:r>
            <a:r>
              <a:rPr lang="en-US" altLang="zh-CN" dirty="0">
                <a:latin typeface="微软雅黑" panose="020B0503020204020204" pitchFamily="34" charset="-122"/>
                <a:ea typeface="微软雅黑" panose="020B0503020204020204" pitchFamily="34" charset="-122"/>
              </a:rPr>
              <a:t>10</a:t>
            </a:r>
            <a:r>
              <a:rPr lang="zh-CN" altLang="en-US" dirty="0">
                <a:latin typeface="微软雅黑" panose="020B0503020204020204" pitchFamily="34" charset="-122"/>
                <a:ea typeface="微软雅黑" panose="020B0503020204020204" pitchFamily="34" charset="-122"/>
              </a:rPr>
              <a:t>月</a:t>
            </a:r>
            <a:r>
              <a:rPr lang="en-US" altLang="zh-CN" dirty="0">
                <a:latin typeface="微软雅黑" panose="020B0503020204020204" pitchFamily="34" charset="-122"/>
                <a:ea typeface="微软雅黑" panose="020B0503020204020204" pitchFamily="34" charset="-122"/>
              </a:rPr>
              <a:t>) </a:t>
            </a:r>
          </a:p>
          <a:p>
            <a:pPr>
              <a:lnSpc>
                <a:spcPct val="150000"/>
              </a:lnSpc>
            </a:pPr>
            <a:r>
              <a:rPr lang="zh-CN" altLang="en-US" dirty="0">
                <a:latin typeface="微软雅黑" panose="020B0503020204020204" pitchFamily="34" charset="-122"/>
                <a:ea typeface="微软雅黑" panose="020B0503020204020204" pitchFamily="34" charset="-122"/>
              </a:rPr>
              <a:t>阿拉斯加当地</a:t>
            </a:r>
            <a:r>
              <a:rPr lang="zh-CN" altLang="en-US" dirty="0">
                <a:solidFill>
                  <a:srgbClr val="FF0000"/>
                </a:solidFill>
                <a:latin typeface="微软雅黑" panose="020B0503020204020204" pitchFamily="34" charset="-122"/>
                <a:ea typeface="微软雅黑" panose="020B0503020204020204" pitchFamily="34" charset="-122"/>
              </a:rPr>
              <a:t>企业官员</a:t>
            </a:r>
            <a:r>
              <a:rPr lang="zh-CN" altLang="en-US" dirty="0">
                <a:latin typeface="微软雅黑" panose="020B0503020204020204" pitchFamily="34" charset="-122"/>
                <a:ea typeface="微软雅黑" panose="020B0503020204020204" pitchFamily="34" charset="-122"/>
              </a:rPr>
              <a:t>聚集到一起来讨论改革提案。</a:t>
            </a:r>
          </a:p>
          <a:p>
            <a:pPr>
              <a:lnSpc>
                <a:spcPct val="150000"/>
              </a:lnSpc>
            </a:pPr>
            <a:endParaRPr lang="zh-CN" altLang="en-US" dirty="0">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7784A166-786C-4A58-B73A-0E835B47B893}"/>
              </a:ext>
            </a:extLst>
          </p:cNvPr>
          <p:cNvSpPr/>
          <p:nvPr/>
        </p:nvSpPr>
        <p:spPr>
          <a:xfrm>
            <a:off x="203715" y="189049"/>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1.9.13</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13</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5413689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二、阅读理解高频单词</a:t>
            </a:r>
          </a:p>
        </p:txBody>
      </p:sp>
      <p:sp>
        <p:nvSpPr>
          <p:cNvPr id="5" name="矩形 4">
            <a:extLst>
              <a:ext uri="{FF2B5EF4-FFF2-40B4-BE49-F238E27FC236}">
                <a16:creationId xmlns:a16="http://schemas.microsoft.com/office/drawing/2014/main" id="{54E10CE7-B360-4059-A2EA-A463D0655165}"/>
              </a:ext>
            </a:extLst>
          </p:cNvPr>
          <p:cNvSpPr/>
          <p:nvPr/>
        </p:nvSpPr>
        <p:spPr>
          <a:xfrm>
            <a:off x="595745" y="1491964"/>
            <a:ext cx="10051473" cy="2120902"/>
          </a:xfrm>
          <a:prstGeom prst="rect">
            <a:avLst/>
          </a:prstGeom>
        </p:spPr>
        <p:txBody>
          <a:bodyPr wrap="square">
            <a:spAutoFit/>
          </a:bodyPr>
          <a:lstStyle/>
          <a:p>
            <a:pPr>
              <a:lnSpc>
                <a:spcPct val="150000"/>
              </a:lnSpc>
            </a:pPr>
            <a:r>
              <a:rPr lang="en-US" altLang="zh-CN" dirty="0">
                <a:latin typeface="微软雅黑" panose="020B0503020204020204" pitchFamily="34" charset="-122"/>
                <a:ea typeface="微软雅黑" panose="020B0503020204020204" pitchFamily="34" charset="-122"/>
              </a:rPr>
              <a:t>8. vampire ['</a:t>
            </a:r>
            <a:r>
              <a:rPr lang="en-US" altLang="zh-CN" dirty="0" err="1">
                <a:latin typeface="微软雅黑" panose="020B0503020204020204" pitchFamily="34" charset="-122"/>
                <a:ea typeface="微软雅黑" panose="020B0503020204020204" pitchFamily="34" charset="-122"/>
              </a:rPr>
              <a:t>væmpaɪə</a:t>
            </a:r>
            <a:r>
              <a:rPr lang="en-US" altLang="zh-CN" dirty="0">
                <a:latin typeface="微软雅黑" panose="020B0503020204020204" pitchFamily="34" charset="-122"/>
                <a:ea typeface="微软雅黑" panose="020B0503020204020204" pitchFamily="34" charset="-122"/>
              </a:rPr>
              <a:t>] n. </a:t>
            </a:r>
            <a:r>
              <a:rPr lang="zh-CN" altLang="en-US" dirty="0">
                <a:latin typeface="微软雅黑" panose="020B0503020204020204" pitchFamily="34" charset="-122"/>
                <a:ea typeface="微软雅黑" panose="020B0503020204020204" pitchFamily="34" charset="-122"/>
              </a:rPr>
              <a:t>吸血鬼；</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脊椎</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吸血蝙蝠</a:t>
            </a:r>
            <a:endParaRPr lang="en-US" altLang="zh-CN" dirty="0">
              <a:latin typeface="微软雅黑" panose="020B0503020204020204" pitchFamily="34" charset="-122"/>
              <a:ea typeface="微软雅黑" panose="020B0503020204020204" pitchFamily="34" charset="-122"/>
            </a:endParaRPr>
          </a:p>
          <a:p>
            <a:pPr>
              <a:lnSpc>
                <a:spcPct val="150000"/>
              </a:lnSpc>
            </a:pPr>
            <a:r>
              <a:rPr lang="en-US" altLang="zh-CN" dirty="0">
                <a:latin typeface="微软雅黑" panose="020B0503020204020204" pitchFamily="34" charset="-122"/>
                <a:ea typeface="微软雅黑" panose="020B0503020204020204" pitchFamily="34" charset="-122"/>
              </a:rPr>
              <a:t>E.g. No single tale brings all of these elements together so well as the </a:t>
            </a:r>
            <a:r>
              <a:rPr lang="en-US" altLang="zh-CN" dirty="0">
                <a:solidFill>
                  <a:srgbClr val="FF0000"/>
                </a:solidFill>
                <a:latin typeface="微软雅黑" panose="020B0503020204020204" pitchFamily="34" charset="-122"/>
                <a:ea typeface="微软雅黑" panose="020B0503020204020204" pitchFamily="34" charset="-122"/>
              </a:rPr>
              <a:t>vampire</a:t>
            </a:r>
            <a:r>
              <a:rPr lang="en-US" altLang="zh-CN" dirty="0">
                <a:latin typeface="微软雅黑" panose="020B0503020204020204" pitchFamily="34" charset="-122"/>
                <a:ea typeface="微软雅黑" panose="020B0503020204020204" pitchFamily="34" charset="-122"/>
              </a:rPr>
              <a:t> legend, an ancient folk superstition. </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2012</a:t>
            </a:r>
            <a:r>
              <a:rPr lang="zh-CN" altLang="en-US" dirty="0">
                <a:latin typeface="微软雅黑" panose="020B0503020204020204" pitchFamily="34" charset="-122"/>
                <a:ea typeface="微软雅黑" panose="020B0503020204020204" pitchFamily="34" charset="-122"/>
              </a:rPr>
              <a:t>年</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月</a:t>
            </a:r>
            <a:r>
              <a:rPr lang="en-US" altLang="zh-CN" dirty="0">
                <a:latin typeface="微软雅黑" panose="020B0503020204020204" pitchFamily="34" charset="-122"/>
                <a:ea typeface="微软雅黑" panose="020B0503020204020204" pitchFamily="34" charset="-122"/>
              </a:rPr>
              <a:t>)</a:t>
            </a:r>
          </a:p>
          <a:p>
            <a:pPr>
              <a:lnSpc>
                <a:spcPct val="150000"/>
              </a:lnSpc>
            </a:pPr>
            <a:r>
              <a:rPr lang="zh-CN" altLang="en-US" dirty="0">
                <a:latin typeface="微软雅黑" panose="020B0503020204020204" pitchFamily="34" charset="-122"/>
                <a:ea typeface="微软雅黑" panose="020B0503020204020204" pitchFamily="34" charset="-122"/>
              </a:rPr>
              <a:t>没有哪一种故事像</a:t>
            </a:r>
            <a:r>
              <a:rPr lang="zh-CN" altLang="en-US" dirty="0">
                <a:solidFill>
                  <a:srgbClr val="FF0000"/>
                </a:solidFill>
                <a:latin typeface="微软雅黑" panose="020B0503020204020204" pitchFamily="34" charset="-122"/>
                <a:ea typeface="微软雅黑" panose="020B0503020204020204" pitchFamily="34" charset="-122"/>
              </a:rPr>
              <a:t>吸血鬼</a:t>
            </a:r>
            <a:r>
              <a:rPr lang="zh-CN" altLang="en-US" dirty="0">
                <a:latin typeface="微软雅黑" panose="020B0503020204020204" pitchFamily="34" charset="-122"/>
                <a:ea typeface="微软雅黑" panose="020B0503020204020204" pitchFamily="34" charset="-122"/>
              </a:rPr>
              <a:t>传说</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一个古老的民间迷信</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那样把这些元素集合在一起。</a:t>
            </a:r>
          </a:p>
          <a:p>
            <a:pPr>
              <a:lnSpc>
                <a:spcPct val="150000"/>
              </a:lnSpc>
            </a:pPr>
            <a:endParaRPr lang="zh-CN" altLang="en-US" dirty="0">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FD85E03B-C76D-4771-8F9A-782F434A2336}"/>
              </a:ext>
            </a:extLst>
          </p:cNvPr>
          <p:cNvSpPr/>
          <p:nvPr/>
        </p:nvSpPr>
        <p:spPr>
          <a:xfrm>
            <a:off x="203715" y="189049"/>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1.9.13</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13</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0212090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二、阅读理解高频单词</a:t>
            </a:r>
          </a:p>
        </p:txBody>
      </p:sp>
      <p:sp>
        <p:nvSpPr>
          <p:cNvPr id="5" name="矩形 4">
            <a:extLst>
              <a:ext uri="{FF2B5EF4-FFF2-40B4-BE49-F238E27FC236}">
                <a16:creationId xmlns:a16="http://schemas.microsoft.com/office/drawing/2014/main" id="{54E10CE7-B360-4059-A2EA-A463D0655165}"/>
              </a:ext>
            </a:extLst>
          </p:cNvPr>
          <p:cNvSpPr/>
          <p:nvPr/>
        </p:nvSpPr>
        <p:spPr>
          <a:xfrm>
            <a:off x="595745" y="1491964"/>
            <a:ext cx="10051473" cy="3367397"/>
          </a:xfrm>
          <a:prstGeom prst="rect">
            <a:avLst/>
          </a:prstGeom>
        </p:spPr>
        <p:txBody>
          <a:bodyPr wrap="square">
            <a:spAutoFit/>
          </a:bodyPr>
          <a:lstStyle/>
          <a:p>
            <a:pPr>
              <a:lnSpc>
                <a:spcPct val="150000"/>
              </a:lnSpc>
            </a:pPr>
            <a:r>
              <a:rPr lang="en-US" altLang="zh-CN" dirty="0">
                <a:latin typeface="微软雅黑" panose="020B0503020204020204" pitchFamily="34" charset="-122"/>
                <a:ea typeface="微软雅黑" panose="020B0503020204020204" pitchFamily="34" charset="-122"/>
              </a:rPr>
              <a:t>9. boredom ['</a:t>
            </a:r>
            <a:r>
              <a:rPr lang="en-US" altLang="zh-CN" dirty="0" err="1">
                <a:latin typeface="微软雅黑" panose="020B0503020204020204" pitchFamily="34" charset="-122"/>
                <a:ea typeface="微软雅黑" panose="020B0503020204020204" pitchFamily="34" charset="-122"/>
              </a:rPr>
              <a:t>bɔːdəm</a:t>
            </a:r>
            <a:r>
              <a:rPr lang="en-US" altLang="zh-CN" dirty="0">
                <a:latin typeface="微软雅黑" panose="020B0503020204020204" pitchFamily="34" charset="-122"/>
                <a:ea typeface="微软雅黑" panose="020B0503020204020204" pitchFamily="34" charset="-122"/>
              </a:rPr>
              <a:t>] n. </a:t>
            </a:r>
            <a:r>
              <a:rPr lang="zh-CN" altLang="en-US" dirty="0">
                <a:latin typeface="微软雅黑" panose="020B0503020204020204" pitchFamily="34" charset="-122"/>
                <a:ea typeface="微软雅黑" panose="020B0503020204020204" pitchFamily="34" charset="-122"/>
              </a:rPr>
              <a:t>厌倦；令人厌烦的事物</a:t>
            </a:r>
          </a:p>
          <a:p>
            <a:pPr>
              <a:lnSpc>
                <a:spcPct val="150000"/>
              </a:lnSpc>
            </a:pPr>
            <a:r>
              <a:rPr lang="en-US" altLang="zh-CN" dirty="0">
                <a:latin typeface="微软雅黑" panose="020B0503020204020204" pitchFamily="34" charset="-122"/>
                <a:ea typeface="微软雅黑" panose="020B0503020204020204" pitchFamily="34" charset="-122"/>
              </a:rPr>
              <a:t>E.g. Work is desirable, first and foremost, as a preventive of </a:t>
            </a:r>
            <a:r>
              <a:rPr lang="en-US" altLang="zh-CN" dirty="0">
                <a:solidFill>
                  <a:srgbClr val="FF0000"/>
                </a:solidFill>
                <a:latin typeface="微软雅黑" panose="020B0503020204020204" pitchFamily="34" charset="-122"/>
                <a:ea typeface="微软雅黑" panose="020B0503020204020204" pitchFamily="34" charset="-122"/>
              </a:rPr>
              <a:t>boredom</a:t>
            </a:r>
            <a:r>
              <a:rPr lang="en-US" altLang="zh-CN" dirty="0">
                <a:latin typeface="微软雅黑" panose="020B0503020204020204" pitchFamily="34" charset="-122"/>
                <a:ea typeface="微软雅黑" panose="020B0503020204020204" pitchFamily="34" charset="-122"/>
              </a:rPr>
              <a:t>, for the </a:t>
            </a:r>
            <a:r>
              <a:rPr lang="en-US" altLang="zh-CN" dirty="0">
                <a:solidFill>
                  <a:srgbClr val="FF0000"/>
                </a:solidFill>
                <a:latin typeface="微软雅黑" panose="020B0503020204020204" pitchFamily="34" charset="-122"/>
                <a:ea typeface="微软雅黑" panose="020B0503020204020204" pitchFamily="34" charset="-122"/>
              </a:rPr>
              <a:t>boredom</a:t>
            </a:r>
            <a:r>
              <a:rPr lang="en-US" altLang="zh-CN" dirty="0">
                <a:latin typeface="微软雅黑" panose="020B0503020204020204" pitchFamily="34" charset="-122"/>
                <a:ea typeface="微软雅黑" panose="020B0503020204020204" pitchFamily="34" charset="-122"/>
              </a:rPr>
              <a:t> that a man feels when he is doing necessary though uninteresting work is as nothing in comparison with the </a:t>
            </a:r>
            <a:r>
              <a:rPr lang="en-US" altLang="zh-CN" dirty="0">
                <a:solidFill>
                  <a:srgbClr val="FF0000"/>
                </a:solidFill>
                <a:latin typeface="微软雅黑" panose="020B0503020204020204" pitchFamily="34" charset="-122"/>
                <a:ea typeface="微软雅黑" panose="020B0503020204020204" pitchFamily="34" charset="-122"/>
              </a:rPr>
              <a:t>boredom</a:t>
            </a:r>
            <a:r>
              <a:rPr lang="en-US" altLang="zh-CN" dirty="0">
                <a:latin typeface="微软雅黑" panose="020B0503020204020204" pitchFamily="34" charset="-122"/>
                <a:ea typeface="微软雅黑" panose="020B0503020204020204" pitchFamily="34" charset="-122"/>
              </a:rPr>
              <a:t> that he feels when he has nothing to do with his days. </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2011</a:t>
            </a:r>
            <a:r>
              <a:rPr lang="zh-CN" altLang="en-US" dirty="0">
                <a:latin typeface="微软雅黑" panose="020B0503020204020204" pitchFamily="34" charset="-122"/>
                <a:ea typeface="微软雅黑" panose="020B0503020204020204" pitchFamily="34" charset="-122"/>
              </a:rPr>
              <a:t>年</a:t>
            </a:r>
            <a:r>
              <a:rPr lang="en-US" altLang="zh-CN" dirty="0">
                <a:latin typeface="微软雅黑" panose="020B0503020204020204" pitchFamily="34" charset="-122"/>
                <a:ea typeface="微软雅黑" panose="020B0503020204020204" pitchFamily="34" charset="-122"/>
              </a:rPr>
              <a:t>10</a:t>
            </a:r>
            <a:r>
              <a:rPr lang="zh-CN" altLang="en-US" dirty="0">
                <a:latin typeface="微软雅黑" panose="020B0503020204020204" pitchFamily="34" charset="-122"/>
                <a:ea typeface="微软雅黑" panose="020B0503020204020204" pitchFamily="34" charset="-122"/>
              </a:rPr>
              <a:t>月</a:t>
            </a:r>
            <a:r>
              <a:rPr lang="en-US" altLang="zh-CN" dirty="0">
                <a:latin typeface="微软雅黑" panose="020B0503020204020204" pitchFamily="34" charset="-122"/>
                <a:ea typeface="微软雅黑" panose="020B0503020204020204" pitchFamily="34" charset="-122"/>
              </a:rPr>
              <a:t>)</a:t>
            </a:r>
          </a:p>
          <a:p>
            <a:pPr>
              <a:lnSpc>
                <a:spcPct val="150000"/>
              </a:lnSpc>
            </a:pPr>
            <a:r>
              <a:rPr lang="zh-CN" altLang="en-US" dirty="0">
                <a:latin typeface="微软雅黑" panose="020B0503020204020204" pitchFamily="34" charset="-122"/>
                <a:ea typeface="微软雅黑" panose="020B0503020204020204" pitchFamily="34" charset="-122"/>
              </a:rPr>
              <a:t>首先，作为防止</a:t>
            </a:r>
            <a:r>
              <a:rPr lang="zh-CN" altLang="en-US" dirty="0">
                <a:solidFill>
                  <a:srgbClr val="FF0000"/>
                </a:solidFill>
                <a:latin typeface="微软雅黑" panose="020B0503020204020204" pitchFamily="34" charset="-122"/>
                <a:ea typeface="微软雅黑" panose="020B0503020204020204" pitchFamily="34" charset="-122"/>
              </a:rPr>
              <a:t>无聊</a:t>
            </a:r>
            <a:r>
              <a:rPr lang="zh-CN" altLang="en-US" dirty="0">
                <a:latin typeface="微软雅黑" panose="020B0503020204020204" pitchFamily="34" charset="-122"/>
                <a:ea typeface="微软雅黑" panose="020B0503020204020204" pitchFamily="34" charset="-122"/>
              </a:rPr>
              <a:t>的手段，工作是可取的。因为与终日无所事事百无聊赖相比，从事必要而</a:t>
            </a:r>
            <a:r>
              <a:rPr lang="zh-CN" altLang="en-US" dirty="0">
                <a:solidFill>
                  <a:srgbClr val="FF0000"/>
                </a:solidFill>
                <a:latin typeface="微软雅黑" panose="020B0503020204020204" pitchFamily="34" charset="-122"/>
                <a:ea typeface="微软雅黑" panose="020B0503020204020204" pitchFamily="34" charset="-122"/>
              </a:rPr>
              <a:t>乏味</a:t>
            </a:r>
            <a:r>
              <a:rPr lang="zh-CN" altLang="en-US" dirty="0">
                <a:latin typeface="微软雅黑" panose="020B0503020204020204" pitchFamily="34" charset="-122"/>
                <a:ea typeface="微软雅黑" panose="020B0503020204020204" pitchFamily="34" charset="-122"/>
              </a:rPr>
              <a:t>的工作所感受的无聊就算不了什么了。</a:t>
            </a:r>
          </a:p>
          <a:p>
            <a:pPr>
              <a:lnSpc>
                <a:spcPct val="150000"/>
              </a:lnSpc>
            </a:pPr>
            <a:endParaRPr lang="zh-CN" altLang="en-US" dirty="0">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767E7A23-DE49-4C94-AF00-59DBDCE5B1B4}"/>
              </a:ext>
            </a:extLst>
          </p:cNvPr>
          <p:cNvSpPr/>
          <p:nvPr/>
        </p:nvSpPr>
        <p:spPr>
          <a:xfrm>
            <a:off x="203715" y="189049"/>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1.9.13</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13</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1040433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二、阅读理解高频单词</a:t>
            </a:r>
          </a:p>
        </p:txBody>
      </p:sp>
      <p:sp>
        <p:nvSpPr>
          <p:cNvPr id="5" name="矩形 4">
            <a:extLst>
              <a:ext uri="{FF2B5EF4-FFF2-40B4-BE49-F238E27FC236}">
                <a16:creationId xmlns:a16="http://schemas.microsoft.com/office/drawing/2014/main" id="{54E10CE7-B360-4059-A2EA-A463D0655165}"/>
              </a:ext>
            </a:extLst>
          </p:cNvPr>
          <p:cNvSpPr/>
          <p:nvPr/>
        </p:nvSpPr>
        <p:spPr>
          <a:xfrm>
            <a:off x="595745" y="1491964"/>
            <a:ext cx="10051473" cy="2120902"/>
          </a:xfrm>
          <a:prstGeom prst="rect">
            <a:avLst/>
          </a:prstGeom>
        </p:spPr>
        <p:txBody>
          <a:bodyPr wrap="square">
            <a:spAutoFit/>
          </a:bodyPr>
          <a:lstStyle/>
          <a:p>
            <a:pPr>
              <a:lnSpc>
                <a:spcPct val="150000"/>
              </a:lnSpc>
            </a:pPr>
            <a:r>
              <a:rPr lang="en-US" altLang="zh-CN" dirty="0">
                <a:latin typeface="微软雅黑" panose="020B0503020204020204" pitchFamily="34" charset="-122"/>
                <a:ea typeface="微软雅黑" panose="020B0503020204020204" pitchFamily="34" charset="-122"/>
              </a:rPr>
              <a:t>10. commend [</a:t>
            </a:r>
            <a:r>
              <a:rPr lang="en-US" altLang="zh-CN" dirty="0" err="1">
                <a:latin typeface="微软雅黑" panose="020B0503020204020204" pitchFamily="34" charset="-122"/>
                <a:ea typeface="微软雅黑" panose="020B0503020204020204" pitchFamily="34" charset="-122"/>
              </a:rPr>
              <a:t>kə'mend</a:t>
            </a: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vt.</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推荐；称赞；把</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委托</a:t>
            </a:r>
            <a:r>
              <a:rPr lang="en-US" altLang="zh-CN" dirty="0">
                <a:latin typeface="微软雅黑" panose="020B0503020204020204" pitchFamily="34" charset="-122"/>
                <a:ea typeface="微软雅黑" panose="020B0503020204020204" pitchFamily="34" charset="-122"/>
              </a:rPr>
              <a:t>vi. </a:t>
            </a:r>
            <a:r>
              <a:rPr lang="zh-CN" altLang="en-US" dirty="0">
                <a:latin typeface="微软雅黑" panose="020B0503020204020204" pitchFamily="34" charset="-122"/>
                <a:ea typeface="微软雅黑" panose="020B0503020204020204" pitchFamily="34" charset="-122"/>
              </a:rPr>
              <a:t>称赞；表扬</a:t>
            </a:r>
          </a:p>
          <a:p>
            <a:pPr>
              <a:lnSpc>
                <a:spcPct val="150000"/>
              </a:lnSpc>
            </a:pPr>
            <a:r>
              <a:rPr lang="en-US" altLang="zh-CN" dirty="0">
                <a:latin typeface="微软雅黑" panose="020B0503020204020204" pitchFamily="34" charset="-122"/>
                <a:ea typeface="微软雅黑" panose="020B0503020204020204" pitchFamily="34" charset="-122"/>
              </a:rPr>
              <a:t>E.g. While engaged in a conversation with a </a:t>
            </a:r>
            <a:r>
              <a:rPr lang="en-US" altLang="zh-CN" dirty="0">
                <a:solidFill>
                  <a:srgbClr val="FF0000"/>
                </a:solidFill>
                <a:latin typeface="微软雅黑" panose="020B0503020204020204" pitchFamily="34" charset="-122"/>
                <a:ea typeface="微软雅黑" panose="020B0503020204020204" pitchFamily="34" charset="-122"/>
              </a:rPr>
              <a:t>commended</a:t>
            </a:r>
            <a:r>
              <a:rPr lang="en-US" altLang="zh-CN" dirty="0">
                <a:latin typeface="微软雅黑" panose="020B0503020204020204" pitchFamily="34" charset="-122"/>
                <a:ea typeface="微软雅黑" panose="020B0503020204020204" pitchFamily="34" charset="-122"/>
              </a:rPr>
              <a:t> stranger, we become more sincere and graceful. </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2014</a:t>
            </a:r>
            <a:r>
              <a:rPr lang="zh-CN" altLang="en-US" dirty="0">
                <a:latin typeface="微软雅黑" panose="020B0503020204020204" pitchFamily="34" charset="-122"/>
                <a:ea typeface="微软雅黑" panose="020B0503020204020204" pitchFamily="34" charset="-122"/>
              </a:rPr>
              <a:t>年</a:t>
            </a:r>
            <a:r>
              <a:rPr lang="en-US" altLang="zh-CN" dirty="0">
                <a:latin typeface="微软雅黑" panose="020B0503020204020204" pitchFamily="34" charset="-122"/>
                <a:ea typeface="微软雅黑" panose="020B0503020204020204" pitchFamily="34" charset="-122"/>
              </a:rPr>
              <a:t>10</a:t>
            </a:r>
            <a:r>
              <a:rPr lang="zh-CN" altLang="en-US" dirty="0">
                <a:latin typeface="微软雅黑" panose="020B0503020204020204" pitchFamily="34" charset="-122"/>
                <a:ea typeface="微软雅黑" panose="020B0503020204020204" pitchFamily="34" charset="-122"/>
              </a:rPr>
              <a:t>月</a:t>
            </a:r>
            <a:r>
              <a:rPr lang="en-US" altLang="zh-CN" dirty="0">
                <a:latin typeface="微软雅黑" panose="020B0503020204020204" pitchFamily="34" charset="-122"/>
                <a:ea typeface="微软雅黑" panose="020B0503020204020204" pitchFamily="34" charset="-122"/>
              </a:rPr>
              <a:t>) </a:t>
            </a:r>
          </a:p>
          <a:p>
            <a:pPr>
              <a:lnSpc>
                <a:spcPct val="150000"/>
              </a:lnSpc>
            </a:pPr>
            <a:r>
              <a:rPr lang="zh-CN" altLang="en-US" dirty="0">
                <a:latin typeface="微软雅黑" panose="020B0503020204020204" pitchFamily="34" charset="-122"/>
                <a:ea typeface="微软雅黑" panose="020B0503020204020204" pitchFamily="34" charset="-122"/>
              </a:rPr>
              <a:t>当我们与一个备受</a:t>
            </a:r>
            <a:r>
              <a:rPr lang="zh-CN" altLang="en-US" dirty="0">
                <a:solidFill>
                  <a:srgbClr val="FF0000"/>
                </a:solidFill>
                <a:latin typeface="微软雅黑" panose="020B0503020204020204" pitchFamily="34" charset="-122"/>
                <a:ea typeface="微软雅黑" panose="020B0503020204020204" pitchFamily="34" charset="-122"/>
              </a:rPr>
              <a:t>赞扬</a:t>
            </a:r>
            <a:r>
              <a:rPr lang="zh-CN" altLang="en-US" dirty="0">
                <a:latin typeface="微软雅黑" panose="020B0503020204020204" pitchFamily="34" charset="-122"/>
                <a:ea typeface="微软雅黑" panose="020B0503020204020204" pitchFamily="34" charset="-122"/>
              </a:rPr>
              <a:t>的陌生人谈话时，我们会变得更加真诚和优雅。</a:t>
            </a:r>
          </a:p>
          <a:p>
            <a:pPr>
              <a:lnSpc>
                <a:spcPct val="150000"/>
              </a:lnSpc>
            </a:pPr>
            <a:r>
              <a:rPr lang="en-US" altLang="zh-CN" dirty="0">
                <a:latin typeface="微软雅黑" panose="020B0503020204020204" pitchFamily="34" charset="-122"/>
                <a:ea typeface="微软雅黑" panose="020B0503020204020204" pitchFamily="34" charset="-122"/>
              </a:rPr>
              <a:t> </a:t>
            </a:r>
            <a:endParaRPr lang="zh-CN" altLang="en-US" dirty="0">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8F09191E-D9CB-41E3-811D-4DA1ADFA5201}"/>
              </a:ext>
            </a:extLst>
          </p:cNvPr>
          <p:cNvSpPr/>
          <p:nvPr/>
        </p:nvSpPr>
        <p:spPr>
          <a:xfrm>
            <a:off x="203715" y="189049"/>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1.9.13</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13</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6891476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50000"/>
            <a:lum/>
          </a:blip>
          <a:srcRect/>
          <a:stretch>
            <a:fillRect t="-9000" b="-9000"/>
          </a:stretch>
        </a:blip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9C1D02-344F-459A-86C8-706C281250DA}"/>
              </a:ext>
            </a:extLst>
          </p:cNvPr>
          <p:cNvSpPr>
            <a:spLocks noGrp="1"/>
          </p:cNvSpPr>
          <p:nvPr>
            <p:ph type="ctrTitle"/>
          </p:nvPr>
        </p:nvSpPr>
        <p:spPr>
          <a:xfrm>
            <a:off x="942109" y="1808163"/>
            <a:ext cx="9144000" cy="2387600"/>
          </a:xfrm>
        </p:spPr>
        <p:txBody>
          <a:bodyPr>
            <a:normAutofit fontScale="90000"/>
          </a:bodyPr>
          <a:lstStyle/>
          <a:p>
            <a:pPr>
              <a:lnSpc>
                <a:spcPct val="150000"/>
              </a:lnSpc>
            </a:pPr>
            <a:r>
              <a:rPr lang="zh-CN" altLang="en-US" b="1" dirty="0">
                <a:latin typeface="微软雅黑" panose="020B0503020204020204" pitchFamily="34" charset="-122"/>
                <a:ea typeface="微软雅黑" panose="020B0503020204020204" pitchFamily="34" charset="-122"/>
              </a:rPr>
              <a:t>谢谢观看</a:t>
            </a:r>
            <a:br>
              <a:rPr lang="en-US" altLang="zh-CN" b="1" dirty="0">
                <a:latin typeface="微软雅黑" panose="020B0503020204020204" pitchFamily="34" charset="-122"/>
                <a:ea typeface="微软雅黑" panose="020B0503020204020204" pitchFamily="34" charset="-122"/>
              </a:rPr>
            </a:br>
            <a:r>
              <a:rPr lang="en-US" altLang="zh-CN" b="1" dirty="0">
                <a:latin typeface="微软雅黑" panose="020B0503020204020204" pitchFamily="34" charset="-122"/>
                <a:ea typeface="微软雅黑" panose="020B0503020204020204" pitchFamily="34" charset="-122"/>
              </a:rPr>
              <a:t>See You</a:t>
            </a:r>
            <a:endParaRPr lang="zh-CN" altLang="en-US" dirty="0">
              <a:latin typeface="微软雅黑" panose="020B0503020204020204" pitchFamily="34" charset="-122"/>
              <a:ea typeface="微软雅黑" panose="020B0503020204020204" pitchFamily="34" charset="-122"/>
            </a:endParaRPr>
          </a:p>
        </p:txBody>
      </p:sp>
      <p:sp>
        <p:nvSpPr>
          <p:cNvPr id="3" name="矩形 2">
            <a:extLst>
              <a:ext uri="{FF2B5EF4-FFF2-40B4-BE49-F238E27FC236}">
                <a16:creationId xmlns:a16="http://schemas.microsoft.com/office/drawing/2014/main" id="{0B009351-7DCF-43F2-8028-8BF2405C6B58}"/>
              </a:ext>
            </a:extLst>
          </p:cNvPr>
          <p:cNvSpPr/>
          <p:nvPr/>
        </p:nvSpPr>
        <p:spPr>
          <a:xfrm>
            <a:off x="203715" y="189049"/>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1.9.13</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13</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615586273"/>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1475</TotalTime>
  <Words>4541</Words>
  <Application>Microsoft Office PowerPoint</Application>
  <PresentationFormat>宽屏</PresentationFormat>
  <Paragraphs>197</Paragraphs>
  <Slides>38</Slides>
  <Notes>7</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38</vt:i4>
      </vt:variant>
    </vt:vector>
  </HeadingPairs>
  <TitlesOfParts>
    <vt:vector size="45" baseType="lpstr">
      <vt:lpstr>Helvetica Neue For Number</vt:lpstr>
      <vt:lpstr>等线</vt:lpstr>
      <vt:lpstr>等线 Light</vt:lpstr>
      <vt:lpstr>宋体</vt:lpstr>
      <vt:lpstr>微软雅黑</vt:lpstr>
      <vt:lpstr>Arial</vt:lpstr>
      <vt:lpstr>Office 主题​​</vt:lpstr>
      <vt:lpstr>高级英语 基础精讲八</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谢谢观看 See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高级英语 基础精讲八</dc:title>
  <dc:creator>shao Archer</dc:creator>
  <cp:lastModifiedBy>shao Archer</cp:lastModifiedBy>
  <cp:revision>91</cp:revision>
  <dcterms:created xsi:type="dcterms:W3CDTF">2019-05-08T04:18:42Z</dcterms:created>
  <dcterms:modified xsi:type="dcterms:W3CDTF">2019-10-18T09:12:51Z</dcterms:modified>
</cp:coreProperties>
</file>