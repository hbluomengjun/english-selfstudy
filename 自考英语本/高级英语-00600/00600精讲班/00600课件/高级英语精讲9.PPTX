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7" r:id="rId2"/>
    <p:sldId id="306" r:id="rId3"/>
    <p:sldId id="431" r:id="rId4"/>
    <p:sldId id="367" r:id="rId5"/>
    <p:sldId id="379" r:id="rId6"/>
    <p:sldId id="422" r:id="rId7"/>
    <p:sldId id="414" r:id="rId8"/>
    <p:sldId id="415" r:id="rId9"/>
    <p:sldId id="423" r:id="rId10"/>
    <p:sldId id="424" r:id="rId11"/>
    <p:sldId id="416" r:id="rId12"/>
    <p:sldId id="426" r:id="rId13"/>
    <p:sldId id="418" r:id="rId14"/>
    <p:sldId id="425" r:id="rId15"/>
    <p:sldId id="417" r:id="rId16"/>
    <p:sldId id="400" r:id="rId17"/>
    <p:sldId id="331" r:id="rId18"/>
    <p:sldId id="408" r:id="rId19"/>
    <p:sldId id="349" r:id="rId20"/>
    <p:sldId id="409" r:id="rId21"/>
    <p:sldId id="307" r:id="rId22"/>
    <p:sldId id="410" r:id="rId23"/>
    <p:sldId id="315" r:id="rId24"/>
    <p:sldId id="411" r:id="rId25"/>
    <p:sldId id="338" r:id="rId26"/>
    <p:sldId id="412" r:id="rId27"/>
    <p:sldId id="378" r:id="rId28"/>
    <p:sldId id="401" r:id="rId29"/>
    <p:sldId id="427" r:id="rId30"/>
    <p:sldId id="419" r:id="rId31"/>
    <p:sldId id="428" r:id="rId32"/>
    <p:sldId id="420" r:id="rId33"/>
    <p:sldId id="429" r:id="rId34"/>
    <p:sldId id="421" r:id="rId35"/>
    <p:sldId id="430" r:id="rId36"/>
    <p:sldId id="368" r:id="rId37"/>
    <p:sldId id="369" r:id="rId38"/>
    <p:sldId id="370" r:id="rId39"/>
    <p:sldId id="371" r:id="rId40"/>
    <p:sldId id="372" r:id="rId41"/>
    <p:sldId id="373" r:id="rId42"/>
    <p:sldId id="374" r:id="rId43"/>
    <p:sldId id="375" r:id="rId44"/>
    <p:sldId id="376" r:id="rId45"/>
    <p:sldId id="377" r:id="rId46"/>
    <p:sldId id="360" r:id="rId47"/>
    <p:sldId id="361" r:id="rId48"/>
    <p:sldId id="303"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42" autoAdjust="0"/>
    <p:restoredTop sz="77256" autoAdjust="0"/>
  </p:normalViewPr>
  <p:slideViewPr>
    <p:cSldViewPr snapToGrid="0">
      <p:cViewPr>
        <p:scale>
          <a:sx n="160" d="100"/>
          <a:sy n="160" d="100"/>
        </p:scale>
        <p:origin x="7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043FCE-7B0A-4D42-8307-AB48973FD31D}" type="datetimeFigureOut">
              <a:rPr lang="zh-CN" altLang="en-US" smtClean="0"/>
              <a:t>2019/10/18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A5AC9-BAF1-4DFF-BBF6-905AB4684553}" type="slidenum">
              <a:rPr lang="zh-CN" altLang="en-US" smtClean="0"/>
              <a:t>‹#›</a:t>
            </a:fld>
            <a:endParaRPr lang="zh-CN" altLang="en-US"/>
          </a:p>
        </p:txBody>
      </p:sp>
    </p:spTree>
    <p:extLst>
      <p:ext uri="{BB962C8B-B14F-4D97-AF65-F5344CB8AC3E}">
        <p14:creationId xmlns:p14="http://schemas.microsoft.com/office/powerpoint/2010/main" val="940107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Appear to =seem</a:t>
            </a:r>
            <a:r>
              <a:rPr lang="zh-CN" altLang="en-US" dirty="0"/>
              <a:t> 看起来，似乎</a:t>
            </a:r>
            <a:endParaRPr lang="en-US" altLang="zh-CN" dirty="0"/>
          </a:p>
          <a:p>
            <a:r>
              <a:rPr lang="en-US" altLang="zh-CN" dirty="0"/>
              <a:t>insecure</a:t>
            </a:r>
            <a:r>
              <a:rPr lang="zh-CN" altLang="en-US" dirty="0"/>
              <a:t>英 </a:t>
            </a:r>
            <a:r>
              <a:rPr lang="en-US" altLang="zh-CN" dirty="0"/>
              <a:t>[ˌ</a:t>
            </a:r>
            <a:r>
              <a:rPr lang="en-US" altLang="zh-CN" dirty="0" err="1"/>
              <a:t>ɪnsɪˈkjʊə</a:t>
            </a:r>
            <a:r>
              <a:rPr lang="en-US" altLang="zh-CN" dirty="0"/>
              <a:t>(r)]   </a:t>
            </a:r>
            <a:r>
              <a:rPr lang="zh-CN" altLang="en-US" dirty="0"/>
              <a:t>美 </a:t>
            </a:r>
            <a:r>
              <a:rPr lang="en-US" altLang="zh-CN" dirty="0"/>
              <a:t>[ˌ</a:t>
            </a:r>
            <a:r>
              <a:rPr lang="en-US" altLang="zh-CN" dirty="0" err="1"/>
              <a:t>ɪnsɪˈkjʊr</a:t>
            </a:r>
            <a:r>
              <a:rPr lang="en-US" altLang="zh-CN" dirty="0"/>
              <a:t>]  </a:t>
            </a:r>
            <a:r>
              <a:rPr lang="zh-CN" altLang="en-US" dirty="0"/>
              <a:t>缺乏信心的</a:t>
            </a:r>
            <a:r>
              <a:rPr lang="en-US" altLang="zh-CN" dirty="0"/>
              <a:t>;</a:t>
            </a:r>
            <a:r>
              <a:rPr lang="zh-CN" altLang="en-US" dirty="0"/>
              <a:t>无把握的</a:t>
            </a:r>
            <a:r>
              <a:rPr lang="en-US" altLang="zh-CN" dirty="0"/>
              <a:t>;</a:t>
            </a:r>
            <a:r>
              <a:rPr lang="zh-CN" altLang="en-US" dirty="0"/>
              <a:t>不安全的</a:t>
            </a:r>
            <a:r>
              <a:rPr lang="en-US" altLang="zh-CN" dirty="0"/>
              <a:t>;</a:t>
            </a:r>
            <a:r>
              <a:rPr lang="zh-CN" altLang="en-US" dirty="0"/>
              <a:t>无保障的</a:t>
            </a:r>
            <a:r>
              <a:rPr lang="en-US" altLang="zh-CN" dirty="0"/>
              <a:t>;</a:t>
            </a:r>
            <a:r>
              <a:rPr lang="zh-CN" altLang="en-US" dirty="0"/>
              <a:t>不牢靠的</a:t>
            </a:r>
            <a:endParaRPr lang="en-US" altLang="zh-CN" dirty="0"/>
          </a:p>
          <a:p>
            <a:r>
              <a:rPr lang="en-US" altLang="zh-CN" dirty="0"/>
              <a:t>Prime </a:t>
            </a:r>
            <a:r>
              <a:rPr lang="zh-CN" altLang="en-US" dirty="0"/>
              <a:t>主要的，首要的 </a:t>
            </a:r>
            <a:r>
              <a:rPr lang="en-US" altLang="zh-CN" dirty="0"/>
              <a:t>minister </a:t>
            </a:r>
            <a:r>
              <a:rPr lang="zh-CN" altLang="en-US" dirty="0"/>
              <a:t>部长，大臣</a:t>
            </a:r>
            <a:endParaRPr lang="en-US" altLang="zh-CN" dirty="0"/>
          </a:p>
          <a:p>
            <a:r>
              <a:rPr lang="en-US" altLang="zh-CN" dirty="0"/>
              <a:t>Prime minister </a:t>
            </a:r>
            <a:r>
              <a:rPr lang="zh-CN" altLang="en-US" dirty="0"/>
              <a:t>首相</a:t>
            </a:r>
            <a:endParaRPr lang="en-US" altLang="zh-CN" dirty="0"/>
          </a:p>
          <a:p>
            <a:r>
              <a:rPr lang="en-US" altLang="zh-CN" dirty="0"/>
              <a:t>Visionary </a:t>
            </a:r>
            <a:r>
              <a:rPr lang="zh-CN" altLang="en-US" dirty="0"/>
              <a:t>有见识的</a:t>
            </a:r>
            <a:r>
              <a:rPr lang="en-US" altLang="zh-CN" dirty="0"/>
              <a:t>/</a:t>
            </a:r>
            <a:r>
              <a:rPr lang="zh-CN" altLang="en-US" dirty="0"/>
              <a:t>有远见的人 </a:t>
            </a:r>
            <a:r>
              <a:rPr lang="en-US" altLang="zh-CN" dirty="0"/>
              <a:t>statesman</a:t>
            </a:r>
            <a:r>
              <a:rPr lang="zh-CN" altLang="en-US" dirty="0"/>
              <a:t>政治家</a:t>
            </a:r>
          </a:p>
        </p:txBody>
      </p:sp>
      <p:sp>
        <p:nvSpPr>
          <p:cNvPr id="4" name="灯片编号占位符 3"/>
          <p:cNvSpPr>
            <a:spLocks noGrp="1"/>
          </p:cNvSpPr>
          <p:nvPr>
            <p:ph type="sldNum" sz="quarter" idx="5"/>
          </p:nvPr>
        </p:nvSpPr>
        <p:spPr/>
        <p:txBody>
          <a:bodyPr/>
          <a:lstStyle/>
          <a:p>
            <a:fld id="{EBAA5AC9-BAF1-4DFF-BBF6-905AB4684553}" type="slidenum">
              <a:rPr lang="zh-CN" altLang="en-US" smtClean="0"/>
              <a:t>7</a:t>
            </a:fld>
            <a:endParaRPr lang="zh-CN" altLang="en-US"/>
          </a:p>
        </p:txBody>
      </p:sp>
    </p:spTree>
    <p:extLst>
      <p:ext uri="{BB962C8B-B14F-4D97-AF65-F5344CB8AC3E}">
        <p14:creationId xmlns:p14="http://schemas.microsoft.com/office/powerpoint/2010/main" val="6621972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en-US" altLang="zh-CN" dirty="0"/>
              <a:t>Current</a:t>
            </a:r>
            <a:r>
              <a:rPr lang="zh-CN" altLang="en-US" dirty="0"/>
              <a:t>近期的，当前的</a:t>
            </a:r>
            <a:endParaRPr lang="en-US" altLang="zh-CN" dirty="0"/>
          </a:p>
          <a:p>
            <a:r>
              <a:rPr lang="en-US" altLang="zh-CN" dirty="0"/>
              <a:t>Be supposed to have done </a:t>
            </a:r>
            <a:r>
              <a:rPr lang="zh-CN" altLang="en-US" dirty="0"/>
              <a:t>本应该</a:t>
            </a:r>
          </a:p>
        </p:txBody>
      </p:sp>
      <p:sp>
        <p:nvSpPr>
          <p:cNvPr id="4" name="灯片编号占位符 3"/>
          <p:cNvSpPr>
            <a:spLocks noGrp="1"/>
          </p:cNvSpPr>
          <p:nvPr>
            <p:ph type="sldNum" sz="quarter" idx="5"/>
          </p:nvPr>
        </p:nvSpPr>
        <p:spPr/>
        <p:txBody>
          <a:bodyPr/>
          <a:lstStyle/>
          <a:p>
            <a:fld id="{EBAA5AC9-BAF1-4DFF-BBF6-905AB4684553}" type="slidenum">
              <a:rPr lang="zh-CN" altLang="en-US" smtClean="0"/>
              <a:t>9</a:t>
            </a:fld>
            <a:endParaRPr lang="zh-CN" altLang="en-US"/>
          </a:p>
        </p:txBody>
      </p:sp>
    </p:spTree>
    <p:extLst>
      <p:ext uri="{BB962C8B-B14F-4D97-AF65-F5344CB8AC3E}">
        <p14:creationId xmlns:p14="http://schemas.microsoft.com/office/powerpoint/2010/main" val="2789763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Penalty </a:t>
            </a:r>
            <a:r>
              <a:rPr lang="zh-CN" altLang="en-US" dirty="0"/>
              <a:t>处罚，惩罚</a:t>
            </a:r>
            <a:endParaRPr lang="en-US" altLang="zh-CN" dirty="0"/>
          </a:p>
          <a:p>
            <a:r>
              <a:rPr lang="en-US" altLang="zh-CN" dirty="0"/>
              <a:t>Criminal</a:t>
            </a:r>
            <a:r>
              <a:rPr lang="zh-CN" altLang="en-US" dirty="0"/>
              <a:t>罪犯</a:t>
            </a:r>
            <a:endParaRPr lang="en-US" altLang="zh-CN" dirty="0"/>
          </a:p>
          <a:p>
            <a:r>
              <a:rPr lang="en-US" altLang="zh-CN" dirty="0"/>
              <a:t>Crime</a:t>
            </a:r>
            <a:r>
              <a:rPr lang="zh-CN" altLang="en-US" dirty="0"/>
              <a:t>犯罪</a:t>
            </a:r>
          </a:p>
        </p:txBody>
      </p:sp>
      <p:sp>
        <p:nvSpPr>
          <p:cNvPr id="4" name="灯片编号占位符 3"/>
          <p:cNvSpPr>
            <a:spLocks noGrp="1"/>
          </p:cNvSpPr>
          <p:nvPr>
            <p:ph type="sldNum" sz="quarter" idx="5"/>
          </p:nvPr>
        </p:nvSpPr>
        <p:spPr/>
        <p:txBody>
          <a:bodyPr/>
          <a:lstStyle/>
          <a:p>
            <a:fld id="{EBAA5AC9-BAF1-4DFF-BBF6-905AB4684553}" type="slidenum">
              <a:rPr lang="zh-CN" altLang="en-US" smtClean="0"/>
              <a:t>10</a:t>
            </a:fld>
            <a:endParaRPr lang="zh-CN" altLang="en-US"/>
          </a:p>
        </p:txBody>
      </p:sp>
    </p:spTree>
    <p:extLst>
      <p:ext uri="{BB962C8B-B14F-4D97-AF65-F5344CB8AC3E}">
        <p14:creationId xmlns:p14="http://schemas.microsoft.com/office/powerpoint/2010/main" val="3519831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Penalty </a:t>
            </a:r>
            <a:r>
              <a:rPr lang="zh-CN" altLang="en-US" dirty="0"/>
              <a:t>处罚，惩罚</a:t>
            </a:r>
            <a:endParaRPr lang="en-US" altLang="zh-CN" dirty="0"/>
          </a:p>
          <a:p>
            <a:r>
              <a:rPr lang="en-US" altLang="zh-CN" dirty="0"/>
              <a:t>Criminal</a:t>
            </a:r>
            <a:r>
              <a:rPr lang="zh-CN" altLang="en-US" dirty="0"/>
              <a:t>罪犯</a:t>
            </a:r>
            <a:endParaRPr lang="en-US" altLang="zh-CN" dirty="0"/>
          </a:p>
          <a:p>
            <a:r>
              <a:rPr lang="en-US" altLang="zh-CN" dirty="0"/>
              <a:t>Crime</a:t>
            </a:r>
            <a:r>
              <a:rPr lang="zh-CN" altLang="en-US" dirty="0"/>
              <a:t>犯罪</a:t>
            </a:r>
          </a:p>
          <a:p>
            <a:endParaRPr lang="zh-CN" altLang="en-US" dirty="0"/>
          </a:p>
        </p:txBody>
      </p:sp>
      <p:sp>
        <p:nvSpPr>
          <p:cNvPr id="4" name="灯片编号占位符 3"/>
          <p:cNvSpPr>
            <a:spLocks noGrp="1"/>
          </p:cNvSpPr>
          <p:nvPr>
            <p:ph type="sldNum" sz="quarter" idx="5"/>
          </p:nvPr>
        </p:nvSpPr>
        <p:spPr/>
        <p:txBody>
          <a:bodyPr/>
          <a:lstStyle/>
          <a:p>
            <a:fld id="{EBAA5AC9-BAF1-4DFF-BBF6-905AB4684553}" type="slidenum">
              <a:rPr lang="zh-CN" altLang="en-US" smtClean="0"/>
              <a:t>11</a:t>
            </a:fld>
            <a:endParaRPr lang="zh-CN" altLang="en-US"/>
          </a:p>
        </p:txBody>
      </p:sp>
    </p:spTree>
    <p:extLst>
      <p:ext uri="{BB962C8B-B14F-4D97-AF65-F5344CB8AC3E}">
        <p14:creationId xmlns:p14="http://schemas.microsoft.com/office/powerpoint/2010/main" val="2939686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great deal of</a:t>
            </a:r>
            <a:r>
              <a:rPr lang="zh-CN" altLang="en-US" dirty="0"/>
              <a:t>大量的</a:t>
            </a:r>
            <a:endParaRPr lang="en-US" altLang="zh-CN" dirty="0"/>
          </a:p>
          <a:p>
            <a:r>
              <a:rPr lang="en-US" altLang="zh-CN" dirty="0"/>
              <a:t>Grief</a:t>
            </a:r>
            <a:r>
              <a:rPr lang="zh-CN" altLang="en-US" dirty="0"/>
              <a:t>悲伤，悲痛</a:t>
            </a:r>
            <a:endParaRPr lang="en-US" altLang="zh-CN" dirty="0"/>
          </a:p>
          <a:p>
            <a:r>
              <a:rPr lang="en-US" altLang="zh-CN" dirty="0"/>
              <a:t>Justice</a:t>
            </a:r>
            <a:r>
              <a:rPr lang="zh-CN" altLang="en-US" dirty="0"/>
              <a:t>公平，公正</a:t>
            </a:r>
          </a:p>
        </p:txBody>
      </p:sp>
      <p:sp>
        <p:nvSpPr>
          <p:cNvPr id="4" name="灯片编号占位符 3"/>
          <p:cNvSpPr>
            <a:spLocks noGrp="1"/>
          </p:cNvSpPr>
          <p:nvPr>
            <p:ph type="sldNum" sz="quarter" idx="5"/>
          </p:nvPr>
        </p:nvSpPr>
        <p:spPr/>
        <p:txBody>
          <a:bodyPr/>
          <a:lstStyle/>
          <a:p>
            <a:fld id="{EBAA5AC9-BAF1-4DFF-BBF6-905AB4684553}" type="slidenum">
              <a:rPr lang="zh-CN" altLang="en-US" smtClean="0"/>
              <a:t>13</a:t>
            </a:fld>
            <a:endParaRPr lang="zh-CN" altLang="en-US"/>
          </a:p>
        </p:txBody>
      </p:sp>
    </p:spTree>
    <p:extLst>
      <p:ext uri="{BB962C8B-B14F-4D97-AF65-F5344CB8AC3E}">
        <p14:creationId xmlns:p14="http://schemas.microsoft.com/office/powerpoint/2010/main" val="3542586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Horror</a:t>
            </a:r>
            <a:r>
              <a:rPr lang="zh-CN" altLang="en-US" dirty="0"/>
              <a:t>恐怖 </a:t>
            </a:r>
            <a:r>
              <a:rPr lang="en-US" altLang="zh-CN" dirty="0"/>
              <a:t>horror story</a:t>
            </a:r>
            <a:r>
              <a:rPr lang="zh-CN" altLang="en-US" dirty="0"/>
              <a:t>恐怖故事，</a:t>
            </a:r>
            <a:endParaRPr lang="en-US" altLang="zh-CN" dirty="0"/>
          </a:p>
          <a:p>
            <a:r>
              <a:rPr lang="en-US" altLang="zh-CN" dirty="0"/>
              <a:t>Trappings </a:t>
            </a:r>
            <a:r>
              <a:rPr lang="zh-CN" altLang="en-US" dirty="0"/>
              <a:t>身外之物，标志</a:t>
            </a:r>
          </a:p>
        </p:txBody>
      </p:sp>
      <p:sp>
        <p:nvSpPr>
          <p:cNvPr id="4" name="灯片编号占位符 3"/>
          <p:cNvSpPr>
            <a:spLocks noGrp="1"/>
          </p:cNvSpPr>
          <p:nvPr>
            <p:ph type="sldNum" sz="quarter" idx="5"/>
          </p:nvPr>
        </p:nvSpPr>
        <p:spPr/>
        <p:txBody>
          <a:bodyPr/>
          <a:lstStyle/>
          <a:p>
            <a:fld id="{EBAA5AC9-BAF1-4DFF-BBF6-905AB4684553}" type="slidenum">
              <a:rPr lang="zh-CN" altLang="en-US" smtClean="0"/>
              <a:t>15</a:t>
            </a:fld>
            <a:endParaRPr lang="zh-CN" altLang="en-US"/>
          </a:p>
        </p:txBody>
      </p:sp>
    </p:spTree>
    <p:extLst>
      <p:ext uri="{BB962C8B-B14F-4D97-AF65-F5344CB8AC3E}">
        <p14:creationId xmlns:p14="http://schemas.microsoft.com/office/powerpoint/2010/main" val="1848583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Representative </a:t>
            </a:r>
            <a:r>
              <a:rPr lang="zh-CN" altLang="en-US" dirty="0"/>
              <a:t>有代表性的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 [ˌ</a:t>
            </a:r>
            <a:r>
              <a:rPr lang="en-US" altLang="zh-CN" sz="1200" b="0" i="0" kern="1200" dirty="0" err="1">
                <a:solidFill>
                  <a:schemeClr val="tx1"/>
                </a:solidFill>
                <a:effectLst/>
                <a:latin typeface="+mn-lt"/>
                <a:ea typeface="+mn-ea"/>
                <a:cs typeface="+mn-cs"/>
              </a:rPr>
              <a:t>ɪrɪˈvɜrsəbl</a:t>
            </a:r>
            <a:r>
              <a:rPr lang="en-US" altLang="zh-CN" sz="1200" b="0" i="0" kern="1200" dirty="0">
                <a:solidFill>
                  <a:schemeClr val="tx1"/>
                </a:solidFill>
                <a:effectLst/>
                <a:latin typeface="+mn-lt"/>
                <a:ea typeface="+mn-ea"/>
                <a:cs typeface="+mn-cs"/>
              </a:rPr>
              <a:t>]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36589C1-8576-459F-87E2-F1BCB9BAC7C8}" type="slidenum">
              <a:rPr lang="zh-CN" altLang="en-US" smtClean="0"/>
              <a:t>21</a:t>
            </a:fld>
            <a:endParaRPr lang="zh-CN" altLang="en-US"/>
          </a:p>
        </p:txBody>
      </p:sp>
    </p:spTree>
    <p:extLst>
      <p:ext uri="{BB962C8B-B14F-4D97-AF65-F5344CB8AC3E}">
        <p14:creationId xmlns:p14="http://schemas.microsoft.com/office/powerpoint/2010/main" val="2533461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Representative </a:t>
            </a:r>
            <a:r>
              <a:rPr lang="zh-CN" altLang="en-US" dirty="0"/>
              <a:t>有代表性的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 [ˌ</a:t>
            </a:r>
            <a:r>
              <a:rPr lang="en-US" altLang="zh-CN" sz="1200" b="0" i="0" kern="1200" dirty="0" err="1">
                <a:solidFill>
                  <a:schemeClr val="tx1"/>
                </a:solidFill>
                <a:effectLst/>
                <a:latin typeface="+mn-lt"/>
                <a:ea typeface="+mn-ea"/>
                <a:cs typeface="+mn-cs"/>
              </a:rPr>
              <a:t>ɪrɪˈvɜrsəbl</a:t>
            </a:r>
            <a:r>
              <a:rPr lang="en-US" altLang="zh-CN" sz="1200" b="0" i="0" kern="1200" dirty="0">
                <a:solidFill>
                  <a:schemeClr val="tx1"/>
                </a:solidFill>
                <a:effectLst/>
                <a:latin typeface="+mn-lt"/>
                <a:ea typeface="+mn-ea"/>
                <a:cs typeface="+mn-cs"/>
              </a:rPr>
              <a:t>]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36589C1-8576-459F-87E2-F1BCB9BAC7C8}" type="slidenum">
              <a:rPr lang="zh-CN" altLang="en-US" smtClean="0"/>
              <a:t>22</a:t>
            </a:fld>
            <a:endParaRPr lang="zh-CN" altLang="en-US"/>
          </a:p>
        </p:txBody>
      </p:sp>
    </p:spTree>
    <p:extLst>
      <p:ext uri="{BB962C8B-B14F-4D97-AF65-F5344CB8AC3E}">
        <p14:creationId xmlns:p14="http://schemas.microsoft.com/office/powerpoint/2010/main" val="3899960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Launch </a:t>
            </a:r>
            <a:r>
              <a:rPr lang="zh-CN" altLang="en-US" dirty="0"/>
              <a:t>开始从事，投放发行，发射</a:t>
            </a:r>
            <a:endParaRPr lang="en-US" altLang="zh-CN" dirty="0"/>
          </a:p>
          <a:p>
            <a:r>
              <a:rPr lang="en-US" altLang="zh-CN" dirty="0"/>
              <a:t>Campaign </a:t>
            </a:r>
            <a:r>
              <a:rPr lang="zh-CN" altLang="en-US" dirty="0"/>
              <a:t>社会 商业或政治而进行的一系列有计划的活动</a:t>
            </a:r>
            <a:endParaRPr lang="en-US" altLang="zh-CN" dirty="0"/>
          </a:p>
          <a:p>
            <a:r>
              <a:rPr lang="en-US" altLang="zh-CN" dirty="0"/>
              <a:t>Take in </a:t>
            </a:r>
            <a:r>
              <a:rPr lang="zh-CN" altLang="en-US" dirty="0"/>
              <a:t>欺骗，抓走，收留</a:t>
            </a:r>
            <a:endParaRPr lang="en-US" altLang="zh-CN" dirty="0"/>
          </a:p>
          <a:p>
            <a:r>
              <a:rPr lang="en-US" altLang="zh-CN" dirty="0"/>
              <a:t>Cheat</a:t>
            </a:r>
            <a:r>
              <a:rPr lang="zh-CN" altLang="en-US" dirty="0"/>
              <a:t>欺骗 </a:t>
            </a:r>
            <a:r>
              <a:rPr lang="en-US" altLang="zh-CN" dirty="0"/>
              <a:t>deceive </a:t>
            </a:r>
            <a:r>
              <a:rPr lang="zh-CN" altLang="en-US" dirty="0"/>
              <a:t>欺骗</a:t>
            </a:r>
          </a:p>
        </p:txBody>
      </p:sp>
      <p:sp>
        <p:nvSpPr>
          <p:cNvPr id="4" name="灯片编号占位符 3"/>
          <p:cNvSpPr>
            <a:spLocks noGrp="1"/>
          </p:cNvSpPr>
          <p:nvPr>
            <p:ph type="sldNum" sz="quarter" idx="5"/>
          </p:nvPr>
        </p:nvSpPr>
        <p:spPr/>
        <p:txBody>
          <a:bodyPr/>
          <a:lstStyle/>
          <a:p>
            <a:fld id="{EBAA5AC9-BAF1-4DFF-BBF6-905AB4684553}" type="slidenum">
              <a:rPr lang="zh-CN" altLang="en-US" smtClean="0"/>
              <a:t>31</a:t>
            </a:fld>
            <a:endParaRPr lang="zh-CN" altLang="en-US"/>
          </a:p>
        </p:txBody>
      </p:sp>
    </p:spTree>
    <p:extLst>
      <p:ext uri="{BB962C8B-B14F-4D97-AF65-F5344CB8AC3E}">
        <p14:creationId xmlns:p14="http://schemas.microsoft.com/office/powerpoint/2010/main" val="760783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Launch </a:t>
            </a:r>
            <a:r>
              <a:rPr lang="zh-CN" altLang="en-US" dirty="0"/>
              <a:t>开始从事，投放发行，发射</a:t>
            </a:r>
            <a:endParaRPr lang="en-US" altLang="zh-CN" dirty="0"/>
          </a:p>
          <a:p>
            <a:r>
              <a:rPr lang="en-US" altLang="zh-CN" dirty="0"/>
              <a:t>Campaign </a:t>
            </a:r>
            <a:r>
              <a:rPr lang="zh-CN" altLang="en-US" dirty="0"/>
              <a:t>社会 商业或政治而进行的一系列有计划的活动</a:t>
            </a:r>
            <a:endParaRPr lang="en-US" altLang="zh-CN" dirty="0"/>
          </a:p>
          <a:p>
            <a:r>
              <a:rPr lang="en-US" altLang="zh-CN" dirty="0"/>
              <a:t>Take in </a:t>
            </a:r>
            <a:r>
              <a:rPr lang="zh-CN" altLang="en-US" dirty="0"/>
              <a:t>欺骗，抓走，收留</a:t>
            </a:r>
            <a:endParaRPr lang="en-US" altLang="zh-CN" dirty="0"/>
          </a:p>
          <a:p>
            <a:r>
              <a:rPr lang="en-US" altLang="zh-CN" dirty="0"/>
              <a:t>Cheat</a:t>
            </a:r>
            <a:r>
              <a:rPr lang="zh-CN" altLang="en-US" dirty="0"/>
              <a:t>欺骗 </a:t>
            </a:r>
            <a:r>
              <a:rPr lang="en-US" altLang="zh-CN" dirty="0"/>
              <a:t>deceive </a:t>
            </a:r>
            <a:r>
              <a:rPr lang="zh-CN" altLang="en-US" dirty="0"/>
              <a:t>欺骗</a:t>
            </a:r>
          </a:p>
        </p:txBody>
      </p:sp>
      <p:sp>
        <p:nvSpPr>
          <p:cNvPr id="4" name="灯片编号占位符 3"/>
          <p:cNvSpPr>
            <a:spLocks noGrp="1"/>
          </p:cNvSpPr>
          <p:nvPr>
            <p:ph type="sldNum" sz="quarter" idx="5"/>
          </p:nvPr>
        </p:nvSpPr>
        <p:spPr/>
        <p:txBody>
          <a:bodyPr/>
          <a:lstStyle/>
          <a:p>
            <a:fld id="{EBAA5AC9-BAF1-4DFF-BBF6-905AB4684553}" type="slidenum">
              <a:rPr lang="zh-CN" altLang="en-US" smtClean="0"/>
              <a:t>32</a:t>
            </a:fld>
            <a:endParaRPr lang="zh-CN" altLang="en-US"/>
          </a:p>
        </p:txBody>
      </p:sp>
    </p:spTree>
    <p:extLst>
      <p:ext uri="{BB962C8B-B14F-4D97-AF65-F5344CB8AC3E}">
        <p14:creationId xmlns:p14="http://schemas.microsoft.com/office/powerpoint/2010/main" val="4076175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C1C396-8DE5-41BC-B219-EDB30E27F67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919741A-DBAE-4BC9-8B42-09133D22DE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8E1FEDD-A303-4A12-9842-4124AA76A89C}"/>
              </a:ext>
            </a:extLst>
          </p:cNvPr>
          <p:cNvSpPr>
            <a:spLocks noGrp="1"/>
          </p:cNvSpPr>
          <p:nvPr>
            <p:ph type="dt" sz="half" idx="10"/>
          </p:nvPr>
        </p:nvSpPr>
        <p:spPr/>
        <p:txBody>
          <a:bodyPr/>
          <a:lstStyle/>
          <a:p>
            <a:fld id="{26B2672A-AE70-426B-8E27-F932EC6E7EB6}"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FE9EF3CE-2C71-4EA6-84AF-30A999BC52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35ED64-E298-4FB2-860B-9F4329241B30}"/>
              </a:ext>
            </a:extLst>
          </p:cNvPr>
          <p:cNvSpPr>
            <a:spLocks noGrp="1"/>
          </p:cNvSpPr>
          <p:nvPr>
            <p:ph type="sldNum" sz="quarter" idx="12"/>
          </p:nvPr>
        </p:nvSpPr>
        <p:spPr/>
        <p:txBody>
          <a:bodyPr/>
          <a:lstStyle/>
          <a:p>
            <a:fld id="{9EFF3B5E-D197-4D6E-AB56-90BB974338DB}" type="slidenum">
              <a:rPr lang="zh-CN" altLang="en-US" smtClean="0"/>
              <a:t>‹#›</a:t>
            </a:fld>
            <a:endParaRPr lang="zh-CN" altLang="en-US"/>
          </a:p>
        </p:txBody>
      </p:sp>
    </p:spTree>
    <p:extLst>
      <p:ext uri="{BB962C8B-B14F-4D97-AF65-F5344CB8AC3E}">
        <p14:creationId xmlns:p14="http://schemas.microsoft.com/office/powerpoint/2010/main" val="3993274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644A87-56A0-40CA-B4FB-184E5B075E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D54E99A-DB3D-4CD1-8C0C-8AE362CA572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5783D85-B3EF-4295-B1DE-086D82B25A37}"/>
              </a:ext>
            </a:extLst>
          </p:cNvPr>
          <p:cNvSpPr>
            <a:spLocks noGrp="1"/>
          </p:cNvSpPr>
          <p:nvPr>
            <p:ph type="dt" sz="half" idx="10"/>
          </p:nvPr>
        </p:nvSpPr>
        <p:spPr/>
        <p:txBody>
          <a:bodyPr/>
          <a:lstStyle/>
          <a:p>
            <a:fld id="{26B2672A-AE70-426B-8E27-F932EC6E7EB6}"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1F211881-4CB6-4EC9-8BCA-1AAA7B0160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D32C8B5-BC30-4CA4-A672-3F4F35762BEC}"/>
              </a:ext>
            </a:extLst>
          </p:cNvPr>
          <p:cNvSpPr>
            <a:spLocks noGrp="1"/>
          </p:cNvSpPr>
          <p:nvPr>
            <p:ph type="sldNum" sz="quarter" idx="12"/>
          </p:nvPr>
        </p:nvSpPr>
        <p:spPr/>
        <p:txBody>
          <a:bodyPr/>
          <a:lstStyle/>
          <a:p>
            <a:fld id="{9EFF3B5E-D197-4D6E-AB56-90BB974338DB}" type="slidenum">
              <a:rPr lang="zh-CN" altLang="en-US" smtClean="0"/>
              <a:t>‹#›</a:t>
            </a:fld>
            <a:endParaRPr lang="zh-CN" altLang="en-US"/>
          </a:p>
        </p:txBody>
      </p:sp>
    </p:spTree>
    <p:extLst>
      <p:ext uri="{BB962C8B-B14F-4D97-AF65-F5344CB8AC3E}">
        <p14:creationId xmlns:p14="http://schemas.microsoft.com/office/powerpoint/2010/main" val="4133989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0FE356-2E80-4CA2-BF6A-73F1C79F183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2C85D65-6FF0-4D82-AF71-B812FD5B0E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A04EBF0-4A74-4F80-9243-143CFBFC100C}"/>
              </a:ext>
            </a:extLst>
          </p:cNvPr>
          <p:cNvSpPr>
            <a:spLocks noGrp="1"/>
          </p:cNvSpPr>
          <p:nvPr>
            <p:ph type="dt" sz="half" idx="10"/>
          </p:nvPr>
        </p:nvSpPr>
        <p:spPr/>
        <p:txBody>
          <a:bodyPr/>
          <a:lstStyle/>
          <a:p>
            <a:fld id="{26B2672A-AE70-426B-8E27-F932EC6E7EB6}"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8E245B6B-E125-4B3C-9238-1671970786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96D1D6-B600-4D42-9F59-E6B1540828BD}"/>
              </a:ext>
            </a:extLst>
          </p:cNvPr>
          <p:cNvSpPr>
            <a:spLocks noGrp="1"/>
          </p:cNvSpPr>
          <p:nvPr>
            <p:ph type="sldNum" sz="quarter" idx="12"/>
          </p:nvPr>
        </p:nvSpPr>
        <p:spPr/>
        <p:txBody>
          <a:bodyPr/>
          <a:lstStyle/>
          <a:p>
            <a:fld id="{9EFF3B5E-D197-4D6E-AB56-90BB974338DB}" type="slidenum">
              <a:rPr lang="zh-CN" altLang="en-US" smtClean="0"/>
              <a:t>‹#›</a:t>
            </a:fld>
            <a:endParaRPr lang="zh-CN" altLang="en-US"/>
          </a:p>
        </p:txBody>
      </p:sp>
    </p:spTree>
    <p:extLst>
      <p:ext uri="{BB962C8B-B14F-4D97-AF65-F5344CB8AC3E}">
        <p14:creationId xmlns:p14="http://schemas.microsoft.com/office/powerpoint/2010/main" val="3090526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99D5E1-D109-4251-9797-97D3F188B42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F3461E6-C903-41F4-BBDA-DE4A44D8789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767FD82-7D6F-4757-8F79-CADC3127006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F999453-7B4F-46F7-9867-EE327D2DCBD7}"/>
              </a:ext>
            </a:extLst>
          </p:cNvPr>
          <p:cNvSpPr>
            <a:spLocks noGrp="1"/>
          </p:cNvSpPr>
          <p:nvPr>
            <p:ph type="dt" sz="half" idx="10"/>
          </p:nvPr>
        </p:nvSpPr>
        <p:spPr/>
        <p:txBody>
          <a:bodyPr/>
          <a:lstStyle/>
          <a:p>
            <a:fld id="{26B2672A-AE70-426B-8E27-F932EC6E7EB6}"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E9A80EC9-FE0D-4C32-BBC6-B130E4C1FC8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EDC7CA9-2266-4107-B97D-978E972E4CC7}"/>
              </a:ext>
            </a:extLst>
          </p:cNvPr>
          <p:cNvSpPr>
            <a:spLocks noGrp="1"/>
          </p:cNvSpPr>
          <p:nvPr>
            <p:ph type="sldNum" sz="quarter" idx="12"/>
          </p:nvPr>
        </p:nvSpPr>
        <p:spPr/>
        <p:txBody>
          <a:bodyPr/>
          <a:lstStyle/>
          <a:p>
            <a:fld id="{9EFF3B5E-D197-4D6E-AB56-90BB974338DB}" type="slidenum">
              <a:rPr lang="zh-CN" altLang="en-US" smtClean="0"/>
              <a:t>‹#›</a:t>
            </a:fld>
            <a:endParaRPr lang="zh-CN" altLang="en-US"/>
          </a:p>
        </p:txBody>
      </p:sp>
    </p:spTree>
    <p:extLst>
      <p:ext uri="{BB962C8B-B14F-4D97-AF65-F5344CB8AC3E}">
        <p14:creationId xmlns:p14="http://schemas.microsoft.com/office/powerpoint/2010/main" val="2195064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BE89A7-2847-4160-9AFC-C3AB6DA7994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10A5990-0887-4D73-94F3-3F89C79907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BCE0D4D-46BB-4156-8322-BB396E15ECB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45B291-6426-4B4F-8B77-C8D66A80C8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3E96F57-7A9E-4F11-AB01-D3BF2430EAA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BF9E43E-70BE-4AAE-AE5C-F86BA7650C37}"/>
              </a:ext>
            </a:extLst>
          </p:cNvPr>
          <p:cNvSpPr>
            <a:spLocks noGrp="1"/>
          </p:cNvSpPr>
          <p:nvPr>
            <p:ph type="dt" sz="half" idx="10"/>
          </p:nvPr>
        </p:nvSpPr>
        <p:spPr/>
        <p:txBody>
          <a:bodyPr/>
          <a:lstStyle/>
          <a:p>
            <a:fld id="{26B2672A-AE70-426B-8E27-F932EC6E7EB6}" type="datetimeFigureOut">
              <a:rPr lang="zh-CN" altLang="en-US" smtClean="0"/>
              <a:t>2019/10/18</a:t>
            </a:fld>
            <a:endParaRPr lang="zh-CN" altLang="en-US"/>
          </a:p>
        </p:txBody>
      </p:sp>
      <p:sp>
        <p:nvSpPr>
          <p:cNvPr id="8" name="页脚占位符 7">
            <a:extLst>
              <a:ext uri="{FF2B5EF4-FFF2-40B4-BE49-F238E27FC236}">
                <a16:creationId xmlns:a16="http://schemas.microsoft.com/office/drawing/2014/main" id="{BF1996BB-5192-4BB1-BD15-4B77158F9E6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247BB95-2156-4DAF-9B91-0843916106FE}"/>
              </a:ext>
            </a:extLst>
          </p:cNvPr>
          <p:cNvSpPr>
            <a:spLocks noGrp="1"/>
          </p:cNvSpPr>
          <p:nvPr>
            <p:ph type="sldNum" sz="quarter" idx="12"/>
          </p:nvPr>
        </p:nvSpPr>
        <p:spPr/>
        <p:txBody>
          <a:bodyPr/>
          <a:lstStyle/>
          <a:p>
            <a:fld id="{9EFF3B5E-D197-4D6E-AB56-90BB974338DB}" type="slidenum">
              <a:rPr lang="zh-CN" altLang="en-US" smtClean="0"/>
              <a:t>‹#›</a:t>
            </a:fld>
            <a:endParaRPr lang="zh-CN" altLang="en-US"/>
          </a:p>
        </p:txBody>
      </p:sp>
    </p:spTree>
    <p:extLst>
      <p:ext uri="{BB962C8B-B14F-4D97-AF65-F5344CB8AC3E}">
        <p14:creationId xmlns:p14="http://schemas.microsoft.com/office/powerpoint/2010/main" val="2329893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112CF8-9FB8-4ABF-AD27-AF900037E7D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DC593EB-9D5F-4DCB-9E4B-F2961BE57B6D}"/>
              </a:ext>
            </a:extLst>
          </p:cNvPr>
          <p:cNvSpPr>
            <a:spLocks noGrp="1"/>
          </p:cNvSpPr>
          <p:nvPr>
            <p:ph type="dt" sz="half" idx="10"/>
          </p:nvPr>
        </p:nvSpPr>
        <p:spPr/>
        <p:txBody>
          <a:bodyPr/>
          <a:lstStyle/>
          <a:p>
            <a:fld id="{26B2672A-AE70-426B-8E27-F932EC6E7EB6}" type="datetimeFigureOut">
              <a:rPr lang="zh-CN" altLang="en-US" smtClean="0"/>
              <a:t>2019/10/18</a:t>
            </a:fld>
            <a:endParaRPr lang="zh-CN" altLang="en-US"/>
          </a:p>
        </p:txBody>
      </p:sp>
      <p:sp>
        <p:nvSpPr>
          <p:cNvPr id="4" name="页脚占位符 3">
            <a:extLst>
              <a:ext uri="{FF2B5EF4-FFF2-40B4-BE49-F238E27FC236}">
                <a16:creationId xmlns:a16="http://schemas.microsoft.com/office/drawing/2014/main" id="{D609A377-1B92-480D-AB33-459C8A18D66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297CF-102D-47B2-9E34-F3D5F4FAEA91}"/>
              </a:ext>
            </a:extLst>
          </p:cNvPr>
          <p:cNvSpPr>
            <a:spLocks noGrp="1"/>
          </p:cNvSpPr>
          <p:nvPr>
            <p:ph type="sldNum" sz="quarter" idx="12"/>
          </p:nvPr>
        </p:nvSpPr>
        <p:spPr/>
        <p:txBody>
          <a:bodyPr/>
          <a:lstStyle/>
          <a:p>
            <a:fld id="{9EFF3B5E-D197-4D6E-AB56-90BB974338DB}" type="slidenum">
              <a:rPr lang="zh-CN" altLang="en-US" smtClean="0"/>
              <a:t>‹#›</a:t>
            </a:fld>
            <a:endParaRPr lang="zh-CN" altLang="en-US"/>
          </a:p>
        </p:txBody>
      </p:sp>
    </p:spTree>
    <p:extLst>
      <p:ext uri="{BB962C8B-B14F-4D97-AF65-F5344CB8AC3E}">
        <p14:creationId xmlns:p14="http://schemas.microsoft.com/office/powerpoint/2010/main" val="2792863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8B4BBF4-37F9-48FD-9B84-7E5AA0C7F06D}"/>
              </a:ext>
            </a:extLst>
          </p:cNvPr>
          <p:cNvSpPr>
            <a:spLocks noGrp="1"/>
          </p:cNvSpPr>
          <p:nvPr>
            <p:ph type="dt" sz="half" idx="10"/>
          </p:nvPr>
        </p:nvSpPr>
        <p:spPr/>
        <p:txBody>
          <a:bodyPr/>
          <a:lstStyle/>
          <a:p>
            <a:fld id="{26B2672A-AE70-426B-8E27-F932EC6E7EB6}" type="datetimeFigureOut">
              <a:rPr lang="zh-CN" altLang="en-US" smtClean="0"/>
              <a:t>2019/10/18</a:t>
            </a:fld>
            <a:endParaRPr lang="zh-CN" altLang="en-US"/>
          </a:p>
        </p:txBody>
      </p:sp>
      <p:sp>
        <p:nvSpPr>
          <p:cNvPr id="3" name="页脚占位符 2">
            <a:extLst>
              <a:ext uri="{FF2B5EF4-FFF2-40B4-BE49-F238E27FC236}">
                <a16:creationId xmlns:a16="http://schemas.microsoft.com/office/drawing/2014/main" id="{9FECB5F7-22F4-4264-BBF5-F7D03BACF41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B12C50D-6DF2-456B-B002-E327DD8D0D19}"/>
              </a:ext>
            </a:extLst>
          </p:cNvPr>
          <p:cNvSpPr>
            <a:spLocks noGrp="1"/>
          </p:cNvSpPr>
          <p:nvPr>
            <p:ph type="sldNum" sz="quarter" idx="12"/>
          </p:nvPr>
        </p:nvSpPr>
        <p:spPr/>
        <p:txBody>
          <a:bodyPr/>
          <a:lstStyle/>
          <a:p>
            <a:fld id="{9EFF3B5E-D197-4D6E-AB56-90BB974338DB}" type="slidenum">
              <a:rPr lang="zh-CN" altLang="en-US" smtClean="0"/>
              <a:t>‹#›</a:t>
            </a:fld>
            <a:endParaRPr lang="zh-CN" altLang="en-US"/>
          </a:p>
        </p:txBody>
      </p:sp>
    </p:spTree>
    <p:extLst>
      <p:ext uri="{BB962C8B-B14F-4D97-AF65-F5344CB8AC3E}">
        <p14:creationId xmlns:p14="http://schemas.microsoft.com/office/powerpoint/2010/main" val="749367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5C03BC-ED60-4221-A7FB-7E9C578C0D9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4C2093-650B-4BC8-B5DE-E99C72B140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A7FE91E-EB85-478B-BFC7-7BBF0BF904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8C19C13-0538-4318-8B91-A6C5F72DFEB1}"/>
              </a:ext>
            </a:extLst>
          </p:cNvPr>
          <p:cNvSpPr>
            <a:spLocks noGrp="1"/>
          </p:cNvSpPr>
          <p:nvPr>
            <p:ph type="dt" sz="half" idx="10"/>
          </p:nvPr>
        </p:nvSpPr>
        <p:spPr/>
        <p:txBody>
          <a:bodyPr/>
          <a:lstStyle/>
          <a:p>
            <a:fld id="{26B2672A-AE70-426B-8E27-F932EC6E7EB6}"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5146EBFE-958B-4921-B51D-847881E6C8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55DB54F-3A78-4FD9-A76E-536DB54D13EE}"/>
              </a:ext>
            </a:extLst>
          </p:cNvPr>
          <p:cNvSpPr>
            <a:spLocks noGrp="1"/>
          </p:cNvSpPr>
          <p:nvPr>
            <p:ph type="sldNum" sz="quarter" idx="12"/>
          </p:nvPr>
        </p:nvSpPr>
        <p:spPr/>
        <p:txBody>
          <a:bodyPr/>
          <a:lstStyle/>
          <a:p>
            <a:fld id="{9EFF3B5E-D197-4D6E-AB56-90BB974338DB}" type="slidenum">
              <a:rPr lang="zh-CN" altLang="en-US" smtClean="0"/>
              <a:t>‹#›</a:t>
            </a:fld>
            <a:endParaRPr lang="zh-CN" altLang="en-US"/>
          </a:p>
        </p:txBody>
      </p:sp>
    </p:spTree>
    <p:extLst>
      <p:ext uri="{BB962C8B-B14F-4D97-AF65-F5344CB8AC3E}">
        <p14:creationId xmlns:p14="http://schemas.microsoft.com/office/powerpoint/2010/main" val="812075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BC262-7E4E-4611-9350-901D8E7959E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8C0BFD7-054D-41E4-952E-8FE358FBDE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23DAFAE-7029-4341-95EF-9CF88FDDAD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A9D0ECC-F9BA-46C4-A11A-BA4564E67C0D}"/>
              </a:ext>
            </a:extLst>
          </p:cNvPr>
          <p:cNvSpPr>
            <a:spLocks noGrp="1"/>
          </p:cNvSpPr>
          <p:nvPr>
            <p:ph type="dt" sz="half" idx="10"/>
          </p:nvPr>
        </p:nvSpPr>
        <p:spPr/>
        <p:txBody>
          <a:bodyPr/>
          <a:lstStyle/>
          <a:p>
            <a:fld id="{26B2672A-AE70-426B-8E27-F932EC6E7EB6}"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FB78EA07-F347-47EB-8A65-A868C494FF1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EB0148E-103A-48A1-910E-78CC6133F89A}"/>
              </a:ext>
            </a:extLst>
          </p:cNvPr>
          <p:cNvSpPr>
            <a:spLocks noGrp="1"/>
          </p:cNvSpPr>
          <p:nvPr>
            <p:ph type="sldNum" sz="quarter" idx="12"/>
          </p:nvPr>
        </p:nvSpPr>
        <p:spPr/>
        <p:txBody>
          <a:bodyPr/>
          <a:lstStyle/>
          <a:p>
            <a:fld id="{9EFF3B5E-D197-4D6E-AB56-90BB974338DB}" type="slidenum">
              <a:rPr lang="zh-CN" altLang="en-US" smtClean="0"/>
              <a:t>‹#›</a:t>
            </a:fld>
            <a:endParaRPr lang="zh-CN" altLang="en-US"/>
          </a:p>
        </p:txBody>
      </p:sp>
    </p:spTree>
    <p:extLst>
      <p:ext uri="{BB962C8B-B14F-4D97-AF65-F5344CB8AC3E}">
        <p14:creationId xmlns:p14="http://schemas.microsoft.com/office/powerpoint/2010/main" val="3537231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C3981-8145-4A16-A316-888EB1BA218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83B63A7-0E13-487B-8388-BFA4DB379E2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12486B8-F005-4AD5-A810-F08C86DEBFB6}"/>
              </a:ext>
            </a:extLst>
          </p:cNvPr>
          <p:cNvSpPr>
            <a:spLocks noGrp="1"/>
          </p:cNvSpPr>
          <p:nvPr>
            <p:ph type="dt" sz="half" idx="10"/>
          </p:nvPr>
        </p:nvSpPr>
        <p:spPr/>
        <p:txBody>
          <a:bodyPr/>
          <a:lstStyle/>
          <a:p>
            <a:fld id="{26B2672A-AE70-426B-8E27-F932EC6E7EB6}"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130DDBD1-4D7E-4641-8859-E36F000CCC7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13BFA52-AF76-4B7F-B4DC-D96A8B7E50D9}"/>
              </a:ext>
            </a:extLst>
          </p:cNvPr>
          <p:cNvSpPr>
            <a:spLocks noGrp="1"/>
          </p:cNvSpPr>
          <p:nvPr>
            <p:ph type="sldNum" sz="quarter" idx="12"/>
          </p:nvPr>
        </p:nvSpPr>
        <p:spPr/>
        <p:txBody>
          <a:bodyPr/>
          <a:lstStyle/>
          <a:p>
            <a:fld id="{9EFF3B5E-D197-4D6E-AB56-90BB974338DB}" type="slidenum">
              <a:rPr lang="zh-CN" altLang="en-US" smtClean="0"/>
              <a:t>‹#›</a:t>
            </a:fld>
            <a:endParaRPr lang="zh-CN" altLang="en-US"/>
          </a:p>
        </p:txBody>
      </p:sp>
    </p:spTree>
    <p:extLst>
      <p:ext uri="{BB962C8B-B14F-4D97-AF65-F5344CB8AC3E}">
        <p14:creationId xmlns:p14="http://schemas.microsoft.com/office/powerpoint/2010/main" val="137770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F5B09F8-EB6B-4438-86B6-FC03956712E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52356F1-E1DD-4AF8-9930-3D3C7CEE9B8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420ED79-EEA1-4499-A3B3-3464598B66F3}"/>
              </a:ext>
            </a:extLst>
          </p:cNvPr>
          <p:cNvSpPr>
            <a:spLocks noGrp="1"/>
          </p:cNvSpPr>
          <p:nvPr>
            <p:ph type="dt" sz="half" idx="10"/>
          </p:nvPr>
        </p:nvSpPr>
        <p:spPr/>
        <p:txBody>
          <a:bodyPr/>
          <a:lstStyle/>
          <a:p>
            <a:fld id="{26B2672A-AE70-426B-8E27-F932EC6E7EB6}"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2B5D8AA7-D4B9-4EA8-82D3-70D8F0C67A9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2E40E8C-9828-466F-A394-8466E94CD662}"/>
              </a:ext>
            </a:extLst>
          </p:cNvPr>
          <p:cNvSpPr>
            <a:spLocks noGrp="1"/>
          </p:cNvSpPr>
          <p:nvPr>
            <p:ph type="sldNum" sz="quarter" idx="12"/>
          </p:nvPr>
        </p:nvSpPr>
        <p:spPr/>
        <p:txBody>
          <a:bodyPr/>
          <a:lstStyle/>
          <a:p>
            <a:fld id="{9EFF3B5E-D197-4D6E-AB56-90BB974338DB}" type="slidenum">
              <a:rPr lang="zh-CN" altLang="en-US" smtClean="0"/>
              <a:t>‹#›</a:t>
            </a:fld>
            <a:endParaRPr lang="zh-CN" altLang="en-US"/>
          </a:p>
        </p:txBody>
      </p:sp>
    </p:spTree>
    <p:extLst>
      <p:ext uri="{BB962C8B-B14F-4D97-AF65-F5344CB8AC3E}">
        <p14:creationId xmlns:p14="http://schemas.microsoft.com/office/powerpoint/2010/main" val="2754965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7263545-D94A-4931-A16E-AC8A6A4AD5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2DA4BD0-FDC3-4009-9B9E-26B7BBE18B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0C94EDA-D1A2-433F-AB94-F6B5E35894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B2672A-AE70-426B-8E27-F932EC6E7EB6}"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D0D5EFE0-380B-4C74-BA49-EF9EF7CF50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184AE0A-8598-4A3D-A488-08A2ED2E9B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FF3B5E-D197-4D6E-AB56-90BB974338DB}" type="slidenum">
              <a:rPr lang="zh-CN" altLang="en-US" smtClean="0"/>
              <a:t>‹#›</a:t>
            </a:fld>
            <a:endParaRPr lang="zh-CN" altLang="en-US"/>
          </a:p>
        </p:txBody>
      </p:sp>
    </p:spTree>
    <p:extLst>
      <p:ext uri="{BB962C8B-B14F-4D97-AF65-F5344CB8AC3E}">
        <p14:creationId xmlns:p14="http://schemas.microsoft.com/office/powerpoint/2010/main" val="3544222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9000" b="-9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942109" y="1808163"/>
            <a:ext cx="9144000" cy="2387600"/>
          </a:xfrm>
        </p:spPr>
        <p:txBody>
          <a:bodyPr/>
          <a:lstStyle/>
          <a:p>
            <a:pPr>
              <a:lnSpc>
                <a:spcPct val="150000"/>
              </a:lnSpc>
            </a:pPr>
            <a:r>
              <a:rPr lang="zh-CN" altLang="en-US" b="1" dirty="0">
                <a:latin typeface="微软雅黑" panose="020B0503020204020204" pitchFamily="34" charset="-122"/>
                <a:ea typeface="微软雅黑" panose="020B0503020204020204" pitchFamily="34" charset="-122"/>
              </a:rPr>
              <a:t>高级英语</a:t>
            </a:r>
            <a:br>
              <a:rPr lang="en-US" altLang="zh-CN" b="1"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基础精讲九</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470B7240-D200-45CB-8074-5408859B1E3E}"/>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0314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749964" y="503875"/>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目录</a:t>
            </a:r>
          </a:p>
        </p:txBody>
      </p:sp>
      <p:sp>
        <p:nvSpPr>
          <p:cNvPr id="6" name="文本框 5">
            <a:extLst>
              <a:ext uri="{FF2B5EF4-FFF2-40B4-BE49-F238E27FC236}">
                <a16:creationId xmlns:a16="http://schemas.microsoft.com/office/drawing/2014/main" id="{CB6437EF-AFBD-4372-9991-212975DB5262}"/>
              </a:ext>
            </a:extLst>
          </p:cNvPr>
          <p:cNvSpPr txBox="1"/>
          <p:nvPr/>
        </p:nvSpPr>
        <p:spPr>
          <a:xfrm>
            <a:off x="2927854" y="1925694"/>
            <a:ext cx="8377455" cy="333187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一、英译汉</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3600" b="1" dirty="0">
                <a:solidFill>
                  <a:prstClr val="black"/>
                </a:solidFill>
                <a:latin typeface="等线" panose="020F0502020204030204"/>
                <a:ea typeface="等线" panose="02010600030101010101" pitchFamily="2" charset="-122"/>
              </a:rPr>
              <a:t>二、课文回顾</a:t>
            </a:r>
            <a:r>
              <a:rPr lang="en-US" altLang="zh-CN" sz="3600" b="1" dirty="0">
                <a:solidFill>
                  <a:prstClr val="black"/>
                </a:solidFill>
                <a:latin typeface="等线" panose="020F0502020204030204"/>
                <a:ea typeface="等线" panose="02010600030101010101" pitchFamily="2" charset="-122"/>
              </a:rPr>
              <a:t>——</a:t>
            </a:r>
            <a:r>
              <a:rPr lang="zh-CN" altLang="en-US" sz="3600" b="1" dirty="0">
                <a:solidFill>
                  <a:prstClr val="black"/>
                </a:solidFill>
                <a:latin typeface="等线" panose="020F0502020204030204"/>
                <a:ea typeface="等线" panose="02010600030101010101" pitchFamily="2" charset="-122"/>
              </a:rPr>
              <a:t>选词填空</a:t>
            </a:r>
            <a:endParaRPr lang="en-US" altLang="zh-CN" sz="3600" b="1" dirty="0">
              <a:solidFill>
                <a:prstClr val="black"/>
              </a:solidFill>
              <a:latin typeface="等线" panose="020F0502020204030204"/>
              <a:ea typeface="等线" panose="02010600030101010101" pitchFamily="2"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三、</a:t>
            </a:r>
            <a:r>
              <a:rPr lang="zh-CN" altLang="en-US" sz="3600" b="1" dirty="0">
                <a:solidFill>
                  <a:prstClr val="black"/>
                </a:solidFill>
                <a:latin typeface="等线" panose="020F0502020204030204"/>
                <a:ea typeface="等线" panose="02010600030101010101" pitchFamily="2" charset="-122"/>
              </a:rPr>
              <a:t>汉译英</a:t>
            </a:r>
            <a:endParaRPr lang="en-US" altLang="zh-CN" sz="3600" b="1" dirty="0">
              <a:solidFill>
                <a:prstClr val="black"/>
              </a:solidFill>
              <a:latin typeface="等线" panose="020F0502020204030204"/>
              <a:ea typeface="等线" panose="02010600030101010101" pitchFamily="2"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四、课外高频单词</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8F55EBB4-1DE7-4DA9-A4A7-03FDF9D7C99B}"/>
              </a:ext>
            </a:extLst>
          </p:cNvPr>
          <p:cNvSpPr/>
          <p:nvPr/>
        </p:nvSpPr>
        <p:spPr>
          <a:xfrm>
            <a:off x="277926" y="134543"/>
            <a:ext cx="4237057" cy="369332"/>
          </a:xfrm>
          <a:prstGeom prst="rect">
            <a:avLst/>
          </a:prstGeom>
        </p:spPr>
        <p:txBody>
          <a:bodyPr wrap="none">
            <a:spAutoFit/>
          </a:bodyPr>
          <a:lstStyle/>
          <a:p>
            <a:r>
              <a:rPr lang="en-US" altLang="zh-CN" dirty="0">
                <a:solidFill>
                  <a:schemeClr val="bg1">
                    <a:lumMod val="95000"/>
                  </a:schemeClr>
                </a:solidFill>
                <a:latin typeface="Helvetica Neue For Number"/>
              </a:rPr>
              <a:t>1.1.1.15</a:t>
            </a:r>
            <a:r>
              <a:rPr lang="zh-CN" altLang="en-US" dirty="0">
                <a:solidFill>
                  <a:schemeClr val="bg1">
                    <a:lumMod val="95000"/>
                  </a:schemeClr>
                </a:solidFill>
                <a:latin typeface="Helvetica Neue For Number"/>
              </a:rPr>
              <a:t>美容业（</a:t>
            </a:r>
            <a:r>
              <a:rPr lang="en-US" altLang="zh-CN" dirty="0">
                <a:solidFill>
                  <a:schemeClr val="bg1">
                    <a:lumMod val="95000"/>
                  </a:schemeClr>
                </a:solidFill>
                <a:latin typeface="Helvetica Neue For Number"/>
              </a:rPr>
              <a:t>The Beauty Industry</a:t>
            </a:r>
            <a:r>
              <a:rPr lang="zh-CN" altLang="en-US" dirty="0">
                <a:solidFill>
                  <a:schemeClr val="bg1">
                    <a:lumMod val="95000"/>
                  </a:schemeClr>
                </a:solidFill>
                <a:latin typeface="Helvetica Neue For Number"/>
              </a:rPr>
              <a:t>）</a:t>
            </a:r>
            <a:endParaRPr lang="zh-CN" altLang="en-US" dirty="0">
              <a:solidFill>
                <a:schemeClr val="bg1">
                  <a:lumMod val="95000"/>
                </a:schemeClr>
              </a:solidFill>
            </a:endParaRPr>
          </a:p>
        </p:txBody>
      </p:sp>
      <p:sp>
        <p:nvSpPr>
          <p:cNvPr id="7" name="矩形 6">
            <a:extLst>
              <a:ext uri="{FF2B5EF4-FFF2-40B4-BE49-F238E27FC236}">
                <a16:creationId xmlns:a16="http://schemas.microsoft.com/office/drawing/2014/main" id="{B57F1EFD-6235-42F7-B2BF-49F8F2DB1F87}"/>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5089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749964" y="495486"/>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目录</a:t>
            </a:r>
          </a:p>
        </p:txBody>
      </p:sp>
      <p:sp>
        <p:nvSpPr>
          <p:cNvPr id="6" name="文本框 5">
            <a:extLst>
              <a:ext uri="{FF2B5EF4-FFF2-40B4-BE49-F238E27FC236}">
                <a16:creationId xmlns:a16="http://schemas.microsoft.com/office/drawing/2014/main" id="{CB6437EF-AFBD-4372-9991-212975DB5262}"/>
              </a:ext>
            </a:extLst>
          </p:cNvPr>
          <p:cNvSpPr txBox="1"/>
          <p:nvPr/>
        </p:nvSpPr>
        <p:spPr>
          <a:xfrm>
            <a:off x="2927854" y="1925694"/>
            <a:ext cx="8377455" cy="333187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rPr>
              <a:t>一、英译汉</a:t>
            </a:r>
            <a:endParaRPr kumimoji="0" lang="en-US" altLang="zh-CN" sz="36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3600" b="1" dirty="0">
                <a:solidFill>
                  <a:prstClr val="black"/>
                </a:solidFill>
                <a:latin typeface="等线" panose="020F0502020204030204"/>
                <a:ea typeface="等线" panose="02010600030101010101" pitchFamily="2" charset="-122"/>
              </a:rPr>
              <a:t>二、课文回顾</a:t>
            </a:r>
            <a:r>
              <a:rPr lang="en-US" altLang="zh-CN" sz="3600" b="1" dirty="0">
                <a:solidFill>
                  <a:prstClr val="black"/>
                </a:solidFill>
                <a:latin typeface="等线" panose="020F0502020204030204"/>
                <a:ea typeface="等线" panose="02010600030101010101" pitchFamily="2" charset="-122"/>
              </a:rPr>
              <a:t>——</a:t>
            </a:r>
            <a:r>
              <a:rPr lang="zh-CN" altLang="en-US" sz="3600" b="1" dirty="0">
                <a:solidFill>
                  <a:prstClr val="black"/>
                </a:solidFill>
                <a:latin typeface="等线" panose="020F0502020204030204"/>
                <a:ea typeface="等线" panose="02010600030101010101" pitchFamily="2" charset="-122"/>
              </a:rPr>
              <a:t>选词填空</a:t>
            </a:r>
            <a:endParaRPr lang="en-US" altLang="zh-CN" sz="3600" b="1" dirty="0">
              <a:solidFill>
                <a:prstClr val="black"/>
              </a:solidFill>
              <a:latin typeface="等线" panose="020F0502020204030204"/>
              <a:ea typeface="等线" panose="02010600030101010101" pitchFamily="2"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三、</a:t>
            </a:r>
            <a:r>
              <a:rPr lang="zh-CN" altLang="en-US" sz="3600" b="1" dirty="0">
                <a:solidFill>
                  <a:prstClr val="black"/>
                </a:solidFill>
                <a:latin typeface="等线" panose="020F0502020204030204"/>
                <a:ea typeface="等线" panose="02010600030101010101" pitchFamily="2" charset="-122"/>
              </a:rPr>
              <a:t>汉译英</a:t>
            </a:r>
            <a:endParaRPr lang="en-US" altLang="zh-CN" sz="3600" b="1" dirty="0">
              <a:solidFill>
                <a:prstClr val="black"/>
              </a:solidFill>
              <a:latin typeface="等线" panose="020F0502020204030204"/>
              <a:ea typeface="等线" panose="02010600030101010101" pitchFamily="2"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四、课外高频单词</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748778DF-6C1D-4C2C-861B-B7B269DFFC2E}"/>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schemeClr val="bg1">
                  <a:lumMod val="95000"/>
                </a:scheme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169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5" name="文本框 4">
            <a:extLst>
              <a:ext uri="{FF2B5EF4-FFF2-40B4-BE49-F238E27FC236}">
                <a16:creationId xmlns:a16="http://schemas.microsoft.com/office/drawing/2014/main" id="{0F7714DD-B098-4ECA-9A97-1C8FD84B103C}"/>
              </a:ext>
            </a:extLst>
          </p:cNvPr>
          <p:cNvSpPr txBox="1"/>
          <p:nvPr/>
        </p:nvSpPr>
        <p:spPr>
          <a:xfrm>
            <a:off x="4010890" y="3325091"/>
            <a:ext cx="1773382" cy="400110"/>
          </a:xfrm>
          <a:prstGeom prst="rect">
            <a:avLst/>
          </a:prstGeom>
          <a:noFill/>
        </p:spPr>
        <p:txBody>
          <a:bodyPr wrap="square" rtlCol="0">
            <a:spAutoFit/>
          </a:bodyPr>
          <a:lstStyle/>
          <a:p>
            <a:r>
              <a:rPr lang="zh-CN" altLang="en-US" sz="2000" b="1" dirty="0"/>
              <a:t>英译汉</a:t>
            </a:r>
          </a:p>
        </p:txBody>
      </p:sp>
      <p:sp>
        <p:nvSpPr>
          <p:cNvPr id="3" name="左大括号 2">
            <a:extLst>
              <a:ext uri="{FF2B5EF4-FFF2-40B4-BE49-F238E27FC236}">
                <a16:creationId xmlns:a16="http://schemas.microsoft.com/office/drawing/2014/main" id="{2F1810FB-B6F9-47C9-A1A4-6ED736FEF9DA}"/>
              </a:ext>
            </a:extLst>
          </p:cNvPr>
          <p:cNvSpPr/>
          <p:nvPr/>
        </p:nvSpPr>
        <p:spPr>
          <a:xfrm>
            <a:off x="5267499" y="2475664"/>
            <a:ext cx="45719" cy="2098964"/>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D01CBB90-134E-435B-9592-B4C268069AFA}"/>
              </a:ext>
            </a:extLst>
          </p:cNvPr>
          <p:cNvSpPr txBox="1"/>
          <p:nvPr/>
        </p:nvSpPr>
        <p:spPr>
          <a:xfrm>
            <a:off x="5604162" y="2475664"/>
            <a:ext cx="1773382" cy="400110"/>
          </a:xfrm>
          <a:prstGeom prst="rect">
            <a:avLst/>
          </a:prstGeom>
          <a:noFill/>
        </p:spPr>
        <p:txBody>
          <a:bodyPr wrap="square" rtlCol="0">
            <a:spAutoFit/>
          </a:bodyPr>
          <a:lstStyle/>
          <a:p>
            <a:r>
              <a:rPr lang="en-US" altLang="zh-CN" sz="2000" b="1" dirty="0"/>
              <a:t>1. </a:t>
            </a:r>
            <a:r>
              <a:rPr lang="zh-CN" altLang="en-US" sz="2000" b="1" dirty="0"/>
              <a:t>划分意群</a:t>
            </a:r>
          </a:p>
        </p:txBody>
      </p:sp>
      <p:sp>
        <p:nvSpPr>
          <p:cNvPr id="7" name="文本框 6">
            <a:extLst>
              <a:ext uri="{FF2B5EF4-FFF2-40B4-BE49-F238E27FC236}">
                <a16:creationId xmlns:a16="http://schemas.microsoft.com/office/drawing/2014/main" id="{30022A9C-BD7D-4D04-B49E-D63DFC6A54AB}"/>
              </a:ext>
            </a:extLst>
          </p:cNvPr>
          <p:cNvSpPr txBox="1"/>
          <p:nvPr/>
        </p:nvSpPr>
        <p:spPr>
          <a:xfrm>
            <a:off x="5604162" y="3325091"/>
            <a:ext cx="1773382" cy="400110"/>
          </a:xfrm>
          <a:prstGeom prst="rect">
            <a:avLst/>
          </a:prstGeom>
          <a:noFill/>
        </p:spPr>
        <p:txBody>
          <a:bodyPr wrap="square" rtlCol="0">
            <a:spAutoFit/>
          </a:bodyPr>
          <a:lstStyle/>
          <a:p>
            <a:r>
              <a:rPr lang="en-US" altLang="zh-CN" sz="2000" b="1" dirty="0"/>
              <a:t>2. </a:t>
            </a:r>
            <a:r>
              <a:rPr lang="zh-CN" altLang="en-US" sz="2000" b="1" dirty="0"/>
              <a:t>意群翻译</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604162" y="4191745"/>
            <a:ext cx="1773382" cy="400110"/>
          </a:xfrm>
          <a:prstGeom prst="rect">
            <a:avLst/>
          </a:prstGeom>
          <a:noFill/>
        </p:spPr>
        <p:txBody>
          <a:bodyPr wrap="square" rtlCol="0">
            <a:spAutoFit/>
          </a:bodyPr>
          <a:lstStyle/>
          <a:p>
            <a:r>
              <a:rPr lang="en-US" altLang="zh-CN" sz="2000" b="1" dirty="0"/>
              <a:t>3. </a:t>
            </a:r>
            <a:r>
              <a:rPr lang="zh-CN" altLang="en-US" sz="2000" b="1" dirty="0"/>
              <a:t>得意忘形</a:t>
            </a:r>
          </a:p>
        </p:txBody>
      </p:sp>
      <p:sp>
        <p:nvSpPr>
          <p:cNvPr id="9" name="矩形 8">
            <a:extLst>
              <a:ext uri="{FF2B5EF4-FFF2-40B4-BE49-F238E27FC236}">
                <a16:creationId xmlns:a16="http://schemas.microsoft.com/office/drawing/2014/main" id="{35194A34-A4BB-4D4D-9DC0-114F9B7BFD20}"/>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58987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773382" cy="400110"/>
          </a:xfrm>
          <a:prstGeom prst="rect">
            <a:avLst/>
          </a:prstGeom>
          <a:noFill/>
        </p:spPr>
        <p:txBody>
          <a:bodyPr wrap="square" rtlCol="0">
            <a:spAutoFit/>
          </a:bodyPr>
          <a:lstStyle/>
          <a:p>
            <a:r>
              <a:rPr lang="en-US" altLang="zh-CN" sz="2000" b="1" dirty="0"/>
              <a:t>1. </a:t>
            </a:r>
            <a:r>
              <a:rPr lang="zh-CN" altLang="en-US" sz="2000" b="1" dirty="0"/>
              <a:t>划分意群</a:t>
            </a:r>
          </a:p>
        </p:txBody>
      </p:sp>
      <p:sp>
        <p:nvSpPr>
          <p:cNvPr id="7" name="文本框 6">
            <a:extLst>
              <a:ext uri="{FF2B5EF4-FFF2-40B4-BE49-F238E27FC236}">
                <a16:creationId xmlns:a16="http://schemas.microsoft.com/office/drawing/2014/main" id="{30022A9C-BD7D-4D04-B49E-D63DFC6A54AB}"/>
              </a:ext>
            </a:extLst>
          </p:cNvPr>
          <p:cNvSpPr txBox="1"/>
          <p:nvPr/>
        </p:nvSpPr>
        <p:spPr>
          <a:xfrm>
            <a:off x="595744" y="2124760"/>
            <a:ext cx="4031673" cy="400110"/>
          </a:xfrm>
          <a:prstGeom prst="rect">
            <a:avLst/>
          </a:prstGeom>
          <a:noFill/>
        </p:spPr>
        <p:txBody>
          <a:bodyPr wrap="square" rtlCol="0">
            <a:spAutoFit/>
          </a:bodyPr>
          <a:lstStyle/>
          <a:p>
            <a:r>
              <a:rPr lang="zh-CN" altLang="en-US" sz="2000" b="1" dirty="0"/>
              <a:t>按照以下六种标志划分</a:t>
            </a:r>
          </a:p>
        </p:txBody>
      </p:sp>
      <p:sp>
        <p:nvSpPr>
          <p:cNvPr id="8" name="文本框 7">
            <a:extLst>
              <a:ext uri="{FF2B5EF4-FFF2-40B4-BE49-F238E27FC236}">
                <a16:creationId xmlns:a16="http://schemas.microsoft.com/office/drawing/2014/main" id="{7F7BFCF1-F124-4F4B-8746-24B0959D73E3}"/>
              </a:ext>
            </a:extLst>
          </p:cNvPr>
          <p:cNvSpPr txBox="1"/>
          <p:nvPr/>
        </p:nvSpPr>
        <p:spPr>
          <a:xfrm>
            <a:off x="4177144" y="2598472"/>
            <a:ext cx="3422074" cy="3360022"/>
          </a:xfrm>
          <a:prstGeom prst="rect">
            <a:avLst/>
          </a:prstGeom>
          <a:noFill/>
        </p:spPr>
        <p:txBody>
          <a:bodyPr wrap="square" rtlCol="0">
            <a:spAutoFit/>
          </a:bodyPr>
          <a:lstStyle/>
          <a:p>
            <a:pPr>
              <a:lnSpc>
                <a:spcPct val="150000"/>
              </a:lnSpc>
            </a:pPr>
            <a:r>
              <a:rPr lang="zh-CN" altLang="en-US" sz="2400" b="1" dirty="0"/>
              <a:t>① 标点符号</a:t>
            </a:r>
            <a:endParaRPr lang="en-US" altLang="zh-CN" sz="2400" b="1" dirty="0"/>
          </a:p>
          <a:p>
            <a:pPr>
              <a:lnSpc>
                <a:spcPct val="150000"/>
              </a:lnSpc>
            </a:pPr>
            <a:r>
              <a:rPr lang="zh-CN" altLang="en-US" sz="2400" b="1" dirty="0"/>
              <a:t>② 介词短语</a:t>
            </a:r>
            <a:endParaRPr lang="en-US" altLang="zh-CN" sz="2400" b="1" dirty="0"/>
          </a:p>
          <a:p>
            <a:pPr>
              <a:lnSpc>
                <a:spcPct val="150000"/>
              </a:lnSpc>
            </a:pPr>
            <a:r>
              <a:rPr lang="zh-CN" altLang="en-US" sz="2400" b="1" dirty="0"/>
              <a:t>③ 连词</a:t>
            </a:r>
            <a:endParaRPr lang="en-US" altLang="zh-CN" sz="2400" b="1" dirty="0"/>
          </a:p>
          <a:p>
            <a:pPr>
              <a:lnSpc>
                <a:spcPct val="150000"/>
              </a:lnSpc>
            </a:pPr>
            <a:r>
              <a:rPr lang="zh-CN" altLang="en-US" sz="2400" b="1" dirty="0"/>
              <a:t>④ 非谓语动词</a:t>
            </a:r>
            <a:endParaRPr lang="en-US" altLang="zh-CN" sz="2400" b="1" dirty="0"/>
          </a:p>
          <a:p>
            <a:pPr>
              <a:lnSpc>
                <a:spcPct val="150000"/>
              </a:lnSpc>
            </a:pPr>
            <a:r>
              <a:rPr lang="zh-CN" altLang="en-US" sz="2400" b="1" dirty="0"/>
              <a:t>⑤ 引导词</a:t>
            </a:r>
            <a:endParaRPr lang="en-US" altLang="zh-CN" sz="2400" b="1" dirty="0"/>
          </a:p>
          <a:p>
            <a:pPr>
              <a:lnSpc>
                <a:spcPct val="150000"/>
              </a:lnSpc>
            </a:pPr>
            <a:r>
              <a:rPr lang="zh-CN" altLang="en-US" sz="2400" b="1" dirty="0"/>
              <a:t>⑥ 固定搭配</a:t>
            </a:r>
          </a:p>
        </p:txBody>
      </p:sp>
      <p:sp>
        <p:nvSpPr>
          <p:cNvPr id="9" name="矩形 8">
            <a:extLst>
              <a:ext uri="{FF2B5EF4-FFF2-40B4-BE49-F238E27FC236}">
                <a16:creationId xmlns:a16="http://schemas.microsoft.com/office/drawing/2014/main" id="{5F02D980-6AF6-4D6A-A46A-8E0B4D3A86C8}"/>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71310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1048172"/>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1. The speech appeared to mark his transition from the insecure prime minister to a visionary and a statesman, determined to change the world.</a:t>
            </a: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sp>
        <p:nvSpPr>
          <p:cNvPr id="5" name="矩形 4">
            <a:extLst>
              <a:ext uri="{FF2B5EF4-FFF2-40B4-BE49-F238E27FC236}">
                <a16:creationId xmlns:a16="http://schemas.microsoft.com/office/drawing/2014/main" id="{197E83FA-BEE0-4C5C-A897-F99F181A13C6}"/>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23470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1556003"/>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1. The speech appeared to mark his transition from the insecure prime minister to a visionary and a statesman, determined to change the world.</a:t>
            </a:r>
          </a:p>
          <a:p>
            <a:pPr>
              <a:lnSpc>
                <a:spcPct val="150000"/>
              </a:lnSpc>
            </a:pPr>
            <a:r>
              <a:rPr lang="zh-CN" altLang="en-US" sz="2200" dirty="0">
                <a:latin typeface="微软雅黑" panose="020B0503020204020204" pitchFamily="34" charset="-122"/>
                <a:ea typeface="微软雅黑" panose="020B0503020204020204" pitchFamily="34" charset="-122"/>
              </a:rPr>
              <a:t>这次演讲似乎标志着一个缺乏自信的首相向一位有远见、立志改变世界的政治家的过渡。</a:t>
            </a: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cxnSp>
        <p:nvCxnSpPr>
          <p:cNvPr id="3" name="直接连接符 2">
            <a:extLst>
              <a:ext uri="{FF2B5EF4-FFF2-40B4-BE49-F238E27FC236}">
                <a16:creationId xmlns:a16="http://schemas.microsoft.com/office/drawing/2014/main" id="{8F8A8B52-0D95-4747-AEB2-0FCA3E004EBA}"/>
              </a:ext>
            </a:extLst>
          </p:cNvPr>
          <p:cNvCxnSpPr/>
          <p:nvPr/>
        </p:nvCxnSpPr>
        <p:spPr>
          <a:xfrm flipH="1">
            <a:off x="6708371" y="1956298"/>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7" name="直接连接符 6">
            <a:extLst>
              <a:ext uri="{FF2B5EF4-FFF2-40B4-BE49-F238E27FC236}">
                <a16:creationId xmlns:a16="http://schemas.microsoft.com/office/drawing/2014/main" id="{AAFDB5A1-1154-4646-8916-C23A3A752D44}"/>
              </a:ext>
            </a:extLst>
          </p:cNvPr>
          <p:cNvCxnSpPr/>
          <p:nvPr/>
        </p:nvCxnSpPr>
        <p:spPr>
          <a:xfrm flipH="1">
            <a:off x="11108574" y="1956298"/>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直接连接符 9">
            <a:extLst>
              <a:ext uri="{FF2B5EF4-FFF2-40B4-BE49-F238E27FC236}">
                <a16:creationId xmlns:a16="http://schemas.microsoft.com/office/drawing/2014/main" id="{62DA0A45-F87F-4372-A1FD-1AD629AB4167}"/>
              </a:ext>
            </a:extLst>
          </p:cNvPr>
          <p:cNvCxnSpPr/>
          <p:nvPr/>
        </p:nvCxnSpPr>
        <p:spPr>
          <a:xfrm flipH="1">
            <a:off x="4379420" y="2447510"/>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11" name="矩形 10">
            <a:extLst>
              <a:ext uri="{FF2B5EF4-FFF2-40B4-BE49-F238E27FC236}">
                <a16:creationId xmlns:a16="http://schemas.microsoft.com/office/drawing/2014/main" id="{1CB13235-CABD-470D-B13B-4C7F11F2566F}"/>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51990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1048172"/>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2. The current world trade agreement was supposed to have prevented the EU and the US from </a:t>
            </a:r>
            <a:r>
              <a:rPr lang="en-US" altLang="zh-CN" sz="2200" dirty="0" err="1">
                <a:latin typeface="微软雅黑" panose="020B0503020204020204" pitchFamily="34" charset="-122"/>
                <a:ea typeface="微软雅黑" panose="020B0503020204020204" pitchFamily="34" charset="-122"/>
              </a:rPr>
              <a:t>subsidising</a:t>
            </a:r>
            <a:r>
              <a:rPr lang="zh-CN" altLang="en-US" sz="2200" dirty="0">
                <a:latin typeface="微软雅黑" panose="020B0503020204020204" pitchFamily="34" charset="-122"/>
                <a:ea typeface="微软雅黑" panose="020B0503020204020204" pitchFamily="34" charset="-122"/>
              </a:rPr>
              <a:t>（补贴）</a:t>
            </a:r>
            <a:r>
              <a:rPr lang="en-US" altLang="zh-CN" sz="2200" dirty="0">
                <a:latin typeface="微软雅黑" panose="020B0503020204020204" pitchFamily="34" charset="-122"/>
                <a:ea typeface="微软雅黑" panose="020B0503020204020204" pitchFamily="34" charset="-122"/>
              </a:rPr>
              <a:t> their exports to developing nations.</a:t>
            </a:r>
            <a:endParaRPr lang="zh-CN" altLang="en-US" sz="2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sp>
        <p:nvSpPr>
          <p:cNvPr id="5" name="矩形 4">
            <a:extLst>
              <a:ext uri="{FF2B5EF4-FFF2-40B4-BE49-F238E27FC236}">
                <a16:creationId xmlns:a16="http://schemas.microsoft.com/office/drawing/2014/main" id="{9622F236-9775-4C64-A154-EFA1AD04B0A4}"/>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80222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1556003"/>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2. The current world trade agreement was supposed to have prevented the EU and the US from </a:t>
            </a:r>
            <a:r>
              <a:rPr lang="en-US" altLang="zh-CN" sz="2200" dirty="0" err="1">
                <a:latin typeface="微软雅黑" panose="020B0503020204020204" pitchFamily="34" charset="-122"/>
                <a:ea typeface="微软雅黑" panose="020B0503020204020204" pitchFamily="34" charset="-122"/>
              </a:rPr>
              <a:t>subsidising</a:t>
            </a:r>
            <a:r>
              <a:rPr lang="zh-CN" altLang="en-US" sz="2200" dirty="0">
                <a:latin typeface="微软雅黑" panose="020B0503020204020204" pitchFamily="34" charset="-122"/>
                <a:ea typeface="微软雅黑" panose="020B0503020204020204" pitchFamily="34" charset="-122"/>
              </a:rPr>
              <a:t>（补贴）</a:t>
            </a:r>
            <a:r>
              <a:rPr lang="en-US" altLang="zh-CN" sz="2200" dirty="0">
                <a:latin typeface="微软雅黑" panose="020B0503020204020204" pitchFamily="34" charset="-122"/>
                <a:ea typeface="微软雅黑" panose="020B0503020204020204" pitchFamily="34" charset="-122"/>
              </a:rPr>
              <a:t> their exports to developing nations.</a:t>
            </a:r>
            <a:endParaRPr lang="zh-CN" altLang="en-US" sz="2200" dirty="0">
              <a:latin typeface="微软雅黑" panose="020B0503020204020204" pitchFamily="34" charset="-122"/>
              <a:ea typeface="微软雅黑" panose="020B0503020204020204" pitchFamily="34" charset="-122"/>
            </a:endParaRPr>
          </a:p>
          <a:p>
            <a:pPr>
              <a:lnSpc>
                <a:spcPct val="150000"/>
              </a:lnSpc>
            </a:pPr>
            <a:r>
              <a:rPr lang="zh-CN" altLang="en-US" sz="2200" dirty="0">
                <a:latin typeface="微软雅黑" panose="020B0503020204020204" pitchFamily="34" charset="-122"/>
                <a:ea typeface="微软雅黑" panose="020B0503020204020204" pitchFamily="34" charset="-122"/>
              </a:rPr>
              <a:t>当前的世界贸易协定本应防止欧盟和美国对它们出口到发展中国家的产品实行补贴。</a:t>
            </a:r>
            <a:endParaRPr lang="en-US" altLang="zh-CN" sz="2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cxnSp>
        <p:nvCxnSpPr>
          <p:cNvPr id="5" name="直接连接符 4">
            <a:extLst>
              <a:ext uri="{FF2B5EF4-FFF2-40B4-BE49-F238E27FC236}">
                <a16:creationId xmlns:a16="http://schemas.microsoft.com/office/drawing/2014/main" id="{06FF7F19-CFA8-45A7-AC05-42188377AE6B}"/>
              </a:ext>
            </a:extLst>
          </p:cNvPr>
          <p:cNvCxnSpPr/>
          <p:nvPr/>
        </p:nvCxnSpPr>
        <p:spPr>
          <a:xfrm flipH="1">
            <a:off x="2078182" y="2447510"/>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6" name="直接连接符 5">
            <a:extLst>
              <a:ext uri="{FF2B5EF4-FFF2-40B4-BE49-F238E27FC236}">
                <a16:creationId xmlns:a16="http://schemas.microsoft.com/office/drawing/2014/main" id="{C34922EA-12A2-4052-9796-8DD0A253F906}"/>
              </a:ext>
            </a:extLst>
          </p:cNvPr>
          <p:cNvCxnSpPr/>
          <p:nvPr/>
        </p:nvCxnSpPr>
        <p:spPr>
          <a:xfrm flipH="1">
            <a:off x="7290262" y="2447510"/>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7" name="矩形 6">
            <a:extLst>
              <a:ext uri="{FF2B5EF4-FFF2-40B4-BE49-F238E27FC236}">
                <a16:creationId xmlns:a16="http://schemas.microsoft.com/office/drawing/2014/main" id="{F6F8236C-7E5A-4DA4-8CF8-29156F539662}"/>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8538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1048172"/>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3. Some say the death penalty is what the criminal deserves while others object to it because death is irreversible.</a:t>
            </a: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sp>
        <p:nvSpPr>
          <p:cNvPr id="5" name="矩形 4">
            <a:extLst>
              <a:ext uri="{FF2B5EF4-FFF2-40B4-BE49-F238E27FC236}">
                <a16:creationId xmlns:a16="http://schemas.microsoft.com/office/drawing/2014/main" id="{30CB3164-BE31-41E8-B6D3-E69ECF4D419D}"/>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04511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2063835"/>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3. Some say the death penalty is what the criminal deserves while others object to it because death is irreversible.</a:t>
            </a:r>
          </a:p>
          <a:p>
            <a:pPr>
              <a:lnSpc>
                <a:spcPct val="150000"/>
              </a:lnSpc>
            </a:pPr>
            <a:r>
              <a:rPr lang="zh-CN" altLang="en-US" sz="2200" dirty="0">
                <a:latin typeface="微软雅黑" panose="020B0503020204020204" pitchFamily="34" charset="-122"/>
                <a:ea typeface="微软雅黑" panose="020B0503020204020204" pitchFamily="34" charset="-122"/>
              </a:rPr>
              <a:t>有些人称犯罪被判死刑是因为罪有应得，而有些人对死刑持反对意见，因为死亡是不可逆转的。</a:t>
            </a:r>
            <a:endParaRPr lang="en-US" altLang="zh-CN" sz="2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cxnSp>
        <p:nvCxnSpPr>
          <p:cNvPr id="5" name="直接连接符 4">
            <a:extLst>
              <a:ext uri="{FF2B5EF4-FFF2-40B4-BE49-F238E27FC236}">
                <a16:creationId xmlns:a16="http://schemas.microsoft.com/office/drawing/2014/main" id="{96E0B1CA-E5EC-46E0-B861-DE04AF464FC6}"/>
              </a:ext>
            </a:extLst>
          </p:cNvPr>
          <p:cNvCxnSpPr/>
          <p:nvPr/>
        </p:nvCxnSpPr>
        <p:spPr>
          <a:xfrm flipH="1">
            <a:off x="4937761" y="1956298"/>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6" name="直接连接符 5">
            <a:extLst>
              <a:ext uri="{FF2B5EF4-FFF2-40B4-BE49-F238E27FC236}">
                <a16:creationId xmlns:a16="http://schemas.microsoft.com/office/drawing/2014/main" id="{8972D944-EA72-409D-84A6-EB8DDE47F024}"/>
              </a:ext>
            </a:extLst>
          </p:cNvPr>
          <p:cNvCxnSpPr/>
          <p:nvPr/>
        </p:nvCxnSpPr>
        <p:spPr>
          <a:xfrm flipH="1">
            <a:off x="8556569" y="1956298"/>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7" name="直接连接符 6">
            <a:extLst>
              <a:ext uri="{FF2B5EF4-FFF2-40B4-BE49-F238E27FC236}">
                <a16:creationId xmlns:a16="http://schemas.microsoft.com/office/drawing/2014/main" id="{D40CCB67-D665-4CC2-9225-9E42AE1CE5DA}"/>
              </a:ext>
            </a:extLst>
          </p:cNvPr>
          <p:cNvCxnSpPr/>
          <p:nvPr/>
        </p:nvCxnSpPr>
        <p:spPr>
          <a:xfrm flipH="1">
            <a:off x="1133302" y="2414637"/>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10" name="矩形 9">
            <a:extLst>
              <a:ext uri="{FF2B5EF4-FFF2-40B4-BE49-F238E27FC236}">
                <a16:creationId xmlns:a16="http://schemas.microsoft.com/office/drawing/2014/main" id="{374D39B1-ECD4-4A09-A33B-BD3C6BE39A69}"/>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35277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1556003"/>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4. They have caused a great deal of grief to the family and friends of the victim or victims and it seems like the only way justice could be served is for the criminal to die.</a:t>
            </a: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sp>
        <p:nvSpPr>
          <p:cNvPr id="5" name="矩形 4">
            <a:extLst>
              <a:ext uri="{FF2B5EF4-FFF2-40B4-BE49-F238E27FC236}">
                <a16:creationId xmlns:a16="http://schemas.microsoft.com/office/drawing/2014/main" id="{2961CC45-17A8-4105-AD7D-D15F467BC49B}"/>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24232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2063835"/>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4. They have caused a great deal of grief to the family and friends of the victim or victims and it seems like the only way justice could be served is for the criminal to die.</a:t>
            </a:r>
          </a:p>
          <a:p>
            <a:pPr>
              <a:lnSpc>
                <a:spcPct val="150000"/>
              </a:lnSpc>
            </a:pPr>
            <a:r>
              <a:rPr lang="zh-CN" altLang="en-US" sz="2200" dirty="0">
                <a:latin typeface="微软雅黑" panose="020B0503020204020204" pitchFamily="34" charset="-122"/>
                <a:ea typeface="微软雅黑" panose="020B0503020204020204" pitchFamily="34" charset="-122"/>
              </a:rPr>
              <a:t>他们给受害者的家人和朋友造成巨大的伤痛，而伸张正义的唯一做法似乎就是让罪犯死掉。</a:t>
            </a:r>
            <a:endParaRPr lang="en-US" altLang="zh-CN" sz="2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cxnSp>
        <p:nvCxnSpPr>
          <p:cNvPr id="5" name="直接连接符 4">
            <a:extLst>
              <a:ext uri="{FF2B5EF4-FFF2-40B4-BE49-F238E27FC236}">
                <a16:creationId xmlns:a16="http://schemas.microsoft.com/office/drawing/2014/main" id="{30A4B097-012B-4B28-A650-8829D51D303D}"/>
              </a:ext>
            </a:extLst>
          </p:cNvPr>
          <p:cNvCxnSpPr/>
          <p:nvPr/>
        </p:nvCxnSpPr>
        <p:spPr>
          <a:xfrm flipH="1">
            <a:off x="9351820" y="1956298"/>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6" name="直接连接符 5">
            <a:extLst>
              <a:ext uri="{FF2B5EF4-FFF2-40B4-BE49-F238E27FC236}">
                <a16:creationId xmlns:a16="http://schemas.microsoft.com/office/drawing/2014/main" id="{B694D1D4-F23C-41AC-A708-962F0A56509D}"/>
              </a:ext>
            </a:extLst>
          </p:cNvPr>
          <p:cNvCxnSpPr/>
          <p:nvPr/>
        </p:nvCxnSpPr>
        <p:spPr>
          <a:xfrm flipH="1">
            <a:off x="5938058" y="1956298"/>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7" name="直接连接符 6">
            <a:extLst>
              <a:ext uri="{FF2B5EF4-FFF2-40B4-BE49-F238E27FC236}">
                <a16:creationId xmlns:a16="http://schemas.microsoft.com/office/drawing/2014/main" id="{D7CA588B-E6D7-4156-AD20-0816B9EBB529}"/>
              </a:ext>
            </a:extLst>
          </p:cNvPr>
          <p:cNvCxnSpPr/>
          <p:nvPr/>
        </p:nvCxnSpPr>
        <p:spPr>
          <a:xfrm flipH="1">
            <a:off x="1504605" y="2529876"/>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直接连接符 9">
            <a:extLst>
              <a:ext uri="{FF2B5EF4-FFF2-40B4-BE49-F238E27FC236}">
                <a16:creationId xmlns:a16="http://schemas.microsoft.com/office/drawing/2014/main" id="{15CAC2E1-1E48-4F06-A8FA-97AE8DA58039}"/>
              </a:ext>
            </a:extLst>
          </p:cNvPr>
          <p:cNvCxnSpPr/>
          <p:nvPr/>
        </p:nvCxnSpPr>
        <p:spPr>
          <a:xfrm flipH="1">
            <a:off x="5561215" y="2529876"/>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1" name="直接连接符 10">
            <a:extLst>
              <a:ext uri="{FF2B5EF4-FFF2-40B4-BE49-F238E27FC236}">
                <a16:creationId xmlns:a16="http://schemas.microsoft.com/office/drawing/2014/main" id="{E84515FA-057A-4AA0-BE17-19D4888B3F0D}"/>
              </a:ext>
            </a:extLst>
          </p:cNvPr>
          <p:cNvCxnSpPr/>
          <p:nvPr/>
        </p:nvCxnSpPr>
        <p:spPr>
          <a:xfrm flipH="1">
            <a:off x="9035937" y="2529876"/>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12" name="矩形 11">
            <a:extLst>
              <a:ext uri="{FF2B5EF4-FFF2-40B4-BE49-F238E27FC236}">
                <a16:creationId xmlns:a16="http://schemas.microsoft.com/office/drawing/2014/main" id="{B3601FF7-7C9C-4F28-8AA9-BA26CA64A51B}"/>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55343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1048172"/>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5. The horror story is less easily defined, perhaps because other types of fiction so often use the trappings of terror to enhance their plots.</a:t>
            </a: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sp>
        <p:nvSpPr>
          <p:cNvPr id="5" name="矩形 4">
            <a:extLst>
              <a:ext uri="{FF2B5EF4-FFF2-40B4-BE49-F238E27FC236}">
                <a16:creationId xmlns:a16="http://schemas.microsoft.com/office/drawing/2014/main" id="{4A6E51E4-FC10-4997-8E2D-3FABF0B9F440}"/>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20949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2063835"/>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5. The horror story is less easily defined, perhaps because other types of fiction so often use the trappings of terror to enhance their plots.</a:t>
            </a:r>
          </a:p>
          <a:p>
            <a:pPr>
              <a:lnSpc>
                <a:spcPct val="150000"/>
              </a:lnSpc>
            </a:pPr>
            <a:r>
              <a:rPr lang="zh-CN" altLang="en-US" sz="2200" dirty="0">
                <a:latin typeface="微软雅黑" panose="020B0503020204020204" pitchFamily="34" charset="-122"/>
                <a:ea typeface="微软雅黑" panose="020B0503020204020204" pitchFamily="34" charset="-122"/>
              </a:rPr>
              <a:t>恐怖故事定义起来不那么容易，可能是因为其他类型的小说常常采用恐怖手法来增强情节的吸引力。</a:t>
            </a:r>
            <a:endParaRPr lang="en-US" altLang="zh-CN" sz="2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cxnSp>
        <p:nvCxnSpPr>
          <p:cNvPr id="5" name="直接连接符 4">
            <a:extLst>
              <a:ext uri="{FF2B5EF4-FFF2-40B4-BE49-F238E27FC236}">
                <a16:creationId xmlns:a16="http://schemas.microsoft.com/office/drawing/2014/main" id="{113A70C5-4A5D-49E4-8094-3A0F8319C29D}"/>
              </a:ext>
            </a:extLst>
          </p:cNvPr>
          <p:cNvCxnSpPr/>
          <p:nvPr/>
        </p:nvCxnSpPr>
        <p:spPr>
          <a:xfrm flipH="1">
            <a:off x="5938058" y="1956298"/>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6" name="直接连接符 5">
            <a:extLst>
              <a:ext uri="{FF2B5EF4-FFF2-40B4-BE49-F238E27FC236}">
                <a16:creationId xmlns:a16="http://schemas.microsoft.com/office/drawing/2014/main" id="{CFCF5076-3F1A-4184-AD7E-93C0AA303A64}"/>
              </a:ext>
            </a:extLst>
          </p:cNvPr>
          <p:cNvCxnSpPr/>
          <p:nvPr/>
        </p:nvCxnSpPr>
        <p:spPr>
          <a:xfrm flipH="1">
            <a:off x="4910051" y="2414637"/>
            <a:ext cx="315883" cy="573578"/>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7" name="矩形 6">
            <a:extLst>
              <a:ext uri="{FF2B5EF4-FFF2-40B4-BE49-F238E27FC236}">
                <a16:creationId xmlns:a16="http://schemas.microsoft.com/office/drawing/2014/main" id="{D7700BBF-3A90-4EA9-8EB0-699AA623563C}"/>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76854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749964" y="503875"/>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目录</a:t>
            </a:r>
          </a:p>
        </p:txBody>
      </p:sp>
      <p:sp>
        <p:nvSpPr>
          <p:cNvPr id="6" name="文本框 5">
            <a:extLst>
              <a:ext uri="{FF2B5EF4-FFF2-40B4-BE49-F238E27FC236}">
                <a16:creationId xmlns:a16="http://schemas.microsoft.com/office/drawing/2014/main" id="{CB6437EF-AFBD-4372-9991-212975DB5262}"/>
              </a:ext>
            </a:extLst>
          </p:cNvPr>
          <p:cNvSpPr txBox="1"/>
          <p:nvPr/>
        </p:nvSpPr>
        <p:spPr>
          <a:xfrm>
            <a:off x="2345963" y="2665526"/>
            <a:ext cx="8377455" cy="333187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chemeClr val="bg1">
                    <a:lumMod val="95000"/>
                  </a:schemeClr>
                </a:solidFill>
                <a:effectLst/>
                <a:uLnTx/>
                <a:uFillTx/>
                <a:latin typeface="等线" panose="020F0502020204030204"/>
                <a:ea typeface="等线" panose="02010600030101010101" pitchFamily="2" charset="-122"/>
                <a:cs typeface="+mn-cs"/>
              </a:rPr>
              <a:t>一、英译汉</a:t>
            </a:r>
            <a:endParaRPr kumimoji="0" lang="en-US" altLang="zh-CN" sz="3600" b="1" i="0" u="none" strike="noStrike" kern="1200" cap="none" spc="0" normalizeH="0" baseline="0" noProof="0" dirty="0">
              <a:ln>
                <a:noFill/>
              </a:ln>
              <a:solidFill>
                <a:schemeClr val="bg1">
                  <a:lumMod val="95000"/>
                </a:schemeClr>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3600" b="1" dirty="0">
                <a:solidFill>
                  <a:srgbClr val="FF0000"/>
                </a:solidFill>
                <a:latin typeface="等线" panose="020F0502020204030204"/>
                <a:ea typeface="等线" panose="02010600030101010101" pitchFamily="2" charset="-122"/>
              </a:rPr>
              <a:t>二、课文回顾</a:t>
            </a:r>
            <a:r>
              <a:rPr lang="en-US" altLang="zh-CN" sz="3600" b="1" dirty="0">
                <a:solidFill>
                  <a:srgbClr val="FF0000"/>
                </a:solidFill>
                <a:latin typeface="等线" panose="020F0502020204030204"/>
                <a:ea typeface="等线" panose="02010600030101010101" pitchFamily="2" charset="-122"/>
              </a:rPr>
              <a:t>——</a:t>
            </a:r>
            <a:r>
              <a:rPr lang="zh-CN" altLang="en-US" sz="3600" b="1" dirty="0">
                <a:solidFill>
                  <a:srgbClr val="FF0000"/>
                </a:solidFill>
                <a:latin typeface="等线" panose="020F0502020204030204"/>
                <a:ea typeface="等线" panose="02010600030101010101" pitchFamily="2" charset="-122"/>
              </a:rPr>
              <a:t>选词填空</a:t>
            </a:r>
            <a:endParaRPr lang="en-US" altLang="zh-CN" sz="3600" b="1" dirty="0">
              <a:solidFill>
                <a:srgbClr val="FF0000"/>
              </a:solidFill>
              <a:latin typeface="等线" panose="020F0502020204030204"/>
              <a:ea typeface="等线" panose="02010600030101010101" pitchFamily="2"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三、汉译英</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lvl="0">
              <a:lnSpc>
                <a:spcPct val="150000"/>
              </a:lnSpc>
              <a:defRPr/>
            </a:pPr>
            <a:r>
              <a:rPr lang="zh-CN" altLang="en-US" sz="3600" b="1" dirty="0">
                <a:solidFill>
                  <a:prstClr val="black"/>
                </a:solidFill>
                <a:latin typeface="等线" panose="020F0502020204030204"/>
                <a:ea typeface="等线" panose="02010600030101010101" pitchFamily="2" charset="-122"/>
              </a:rPr>
              <a:t>四、</a:t>
            </a:r>
            <a:r>
              <a:rPr lang="zh-CN" altLang="en-US" sz="3600" b="1" dirty="0">
                <a:solidFill>
                  <a:prstClr val="black"/>
                </a:solidFill>
              </a:rPr>
              <a:t>阅读理解高频单词</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603DCB5A-297C-4F33-B610-4BDF6F5CFBEA}"/>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12720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二、课文回顾</a:t>
            </a:r>
            <a:r>
              <a:rPr lang="en-US" altLang="zh-CN" sz="2800" b="1" dirty="0"/>
              <a:t>——</a:t>
            </a:r>
            <a:r>
              <a:rPr lang="zh-CN" altLang="en-US" sz="2800" b="1" dirty="0"/>
              <a:t>选词填空</a:t>
            </a: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a:lnSpc>
                <a:spcPct val="150000"/>
              </a:lnSpc>
            </a:pPr>
            <a:r>
              <a:rPr lang="en-US" altLang="zh-CN"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Chavel</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was filled with a huge and shameful _______ . It seemed to him that already he was saved —twenty - nine men to draw and only two marked papers left. The chances had suddenly grown in his _______ from ten to one to—fourteen to one: the greengrocer had drawn a slip and indicated ________ and without pleasure that he was safe. Indeed from the first _______ any mark of pleasure was taboo: one couldn‘t mock the condemned man by any sign of _______</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3" name="文本框 2">
            <a:extLst>
              <a:ext uri="{FF2B5EF4-FFF2-40B4-BE49-F238E27FC236}">
                <a16:creationId xmlns:a16="http://schemas.microsoft.com/office/drawing/2014/main" id="{E19BA6BA-A2D4-42C0-923D-A7E022F0D194}"/>
              </a:ext>
            </a:extLst>
          </p:cNvPr>
          <p:cNvSpPr txBox="1"/>
          <p:nvPr/>
        </p:nvSpPr>
        <p:spPr>
          <a:xfrm>
            <a:off x="5940135" y="1288576"/>
            <a:ext cx="256310" cy="37407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2AC45FA8-FB14-407D-8AD0-257311BD17DE}"/>
              </a:ext>
            </a:extLst>
          </p:cNvPr>
          <p:cNvSpPr txBox="1"/>
          <p:nvPr/>
        </p:nvSpPr>
        <p:spPr>
          <a:xfrm>
            <a:off x="2282535" y="2067322"/>
            <a:ext cx="256310" cy="37407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078900D4-9913-432D-B359-23F7637EBC3F}"/>
              </a:ext>
            </a:extLst>
          </p:cNvPr>
          <p:cNvSpPr txBox="1"/>
          <p:nvPr/>
        </p:nvSpPr>
        <p:spPr>
          <a:xfrm>
            <a:off x="2026225" y="2504029"/>
            <a:ext cx="256310" cy="37407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EC854F2A-EEC3-4FCA-B1F7-4B011CC0274B}"/>
              </a:ext>
            </a:extLst>
          </p:cNvPr>
          <p:cNvSpPr txBox="1"/>
          <p:nvPr/>
        </p:nvSpPr>
        <p:spPr>
          <a:xfrm>
            <a:off x="9459190" y="2504029"/>
            <a:ext cx="256310" cy="37407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4</a:t>
            </a:r>
            <a:endParaRPr lang="zh-CN" altLang="en-US"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7D409C36-A51D-4BA2-9498-916BE6E3979B}"/>
              </a:ext>
            </a:extLst>
          </p:cNvPr>
          <p:cNvSpPr txBox="1"/>
          <p:nvPr/>
        </p:nvSpPr>
        <p:spPr>
          <a:xfrm>
            <a:off x="9382989" y="2903600"/>
            <a:ext cx="256310"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5</a:t>
            </a:r>
            <a:endParaRPr lang="zh-CN" altLang="en-US" dirty="0">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id="{164B8D1D-1887-4C45-98E7-ACEBD6C89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5236" y="3649921"/>
            <a:ext cx="9532772" cy="2425298"/>
          </a:xfrm>
          <a:prstGeom prst="rect">
            <a:avLst/>
          </a:prstGeom>
        </p:spPr>
      </p:pic>
      <p:sp>
        <p:nvSpPr>
          <p:cNvPr id="10" name="矩形 9">
            <a:extLst>
              <a:ext uri="{FF2B5EF4-FFF2-40B4-BE49-F238E27FC236}">
                <a16:creationId xmlns:a16="http://schemas.microsoft.com/office/drawing/2014/main" id="{D4453F40-8582-4A63-83B6-A528541CC8BE}"/>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05194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二、课文回顾</a:t>
            </a:r>
            <a:r>
              <a:rPr lang="en-US" altLang="zh-CN" sz="2800" b="1" dirty="0"/>
              <a:t>——</a:t>
            </a:r>
            <a:r>
              <a:rPr lang="zh-CN" altLang="en-US" sz="2800" b="1" dirty="0"/>
              <a:t>选词填空</a:t>
            </a: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a:lnSpc>
                <a:spcPct val="150000"/>
              </a:lnSpc>
            </a:pPr>
            <a:r>
              <a:rPr lang="en-US" altLang="zh-CN"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Chavel</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was filled with a huge and shameful _______ . It seemed to him that already he was saved —twenty - nine men to draw and only two marked papers left. The chances had suddenly grown in his _______ from ten to one to—fourteen to one: the greengrocer had drawn a slip and indicated ________ and without pleasure that he was safe. Indeed from the first _______ any mark of pleasure was taboo: one couldn‘t mock the condemned man by any sign of _______</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3" name="文本框 2">
            <a:extLst>
              <a:ext uri="{FF2B5EF4-FFF2-40B4-BE49-F238E27FC236}">
                <a16:creationId xmlns:a16="http://schemas.microsoft.com/office/drawing/2014/main" id="{E19BA6BA-A2D4-42C0-923D-A7E022F0D194}"/>
              </a:ext>
            </a:extLst>
          </p:cNvPr>
          <p:cNvSpPr txBox="1"/>
          <p:nvPr/>
        </p:nvSpPr>
        <p:spPr>
          <a:xfrm>
            <a:off x="5919193" y="1193907"/>
            <a:ext cx="558387"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joy</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2AC45FA8-FB14-407D-8AD0-257311BD17DE}"/>
              </a:ext>
            </a:extLst>
          </p:cNvPr>
          <p:cNvSpPr txBox="1"/>
          <p:nvPr/>
        </p:nvSpPr>
        <p:spPr>
          <a:xfrm>
            <a:off x="2101050" y="2067321"/>
            <a:ext cx="809673"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favor</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078900D4-9913-432D-B359-23F7637EBC3F}"/>
              </a:ext>
            </a:extLst>
          </p:cNvPr>
          <p:cNvSpPr txBox="1"/>
          <p:nvPr/>
        </p:nvSpPr>
        <p:spPr>
          <a:xfrm>
            <a:off x="1586474" y="2445002"/>
            <a:ext cx="1408011"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carelessly</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EC854F2A-EEC3-4FCA-B1F7-4B011CC0274B}"/>
              </a:ext>
            </a:extLst>
          </p:cNvPr>
          <p:cNvSpPr txBox="1"/>
          <p:nvPr/>
        </p:nvSpPr>
        <p:spPr>
          <a:xfrm>
            <a:off x="9255932" y="2463481"/>
            <a:ext cx="766734"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draw</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7D409C36-A51D-4BA2-9498-916BE6E3979B}"/>
              </a:ext>
            </a:extLst>
          </p:cNvPr>
          <p:cNvSpPr txBox="1"/>
          <p:nvPr/>
        </p:nvSpPr>
        <p:spPr>
          <a:xfrm>
            <a:off x="9159624" y="2889145"/>
            <a:ext cx="1175019"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relief</a:t>
            </a:r>
            <a:endParaRPr lang="zh-CN" altLang="en-US" dirty="0">
              <a:solidFill>
                <a:srgbClr val="FF0000"/>
              </a:solidFill>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id="{164B8D1D-1887-4C45-98E7-ACEBD6C89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5236" y="3649921"/>
            <a:ext cx="9532772" cy="2425298"/>
          </a:xfrm>
          <a:prstGeom prst="rect">
            <a:avLst/>
          </a:prstGeom>
        </p:spPr>
      </p:pic>
      <p:sp>
        <p:nvSpPr>
          <p:cNvPr id="10" name="矩形 9">
            <a:extLst>
              <a:ext uri="{FF2B5EF4-FFF2-40B4-BE49-F238E27FC236}">
                <a16:creationId xmlns:a16="http://schemas.microsoft.com/office/drawing/2014/main" id="{FCFAD2C0-B817-4685-B185-5A3C21B7A86A}"/>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37500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a:lnSpc>
                <a:spcPct val="150000"/>
              </a:lnSpc>
            </a:pPr>
            <a:r>
              <a:rPr lang="en-US" altLang="zh-CN"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But great ______ is the influence of the motives we have been considering, there is one which ________ them all... Power, like vanity, is _________ . Nothing short of omnipotence could satisfy it completely. And as it is especially the vice of energetic men, the casual efficacy of love of power is out of all ________  to its frequency. It is, indeed, by far the strongest _______ in the lives of important men. </a:t>
            </a:r>
          </a:p>
        </p:txBody>
      </p:sp>
      <p:sp>
        <p:nvSpPr>
          <p:cNvPr id="5" name="文本框 4">
            <a:extLst>
              <a:ext uri="{FF2B5EF4-FFF2-40B4-BE49-F238E27FC236}">
                <a16:creationId xmlns:a16="http://schemas.microsoft.com/office/drawing/2014/main" id="{030D7845-467D-49C0-B5F5-3F0B0CB12B2C}"/>
              </a:ext>
            </a:extLst>
          </p:cNvPr>
          <p:cNvSpPr txBox="1"/>
          <p:nvPr/>
        </p:nvSpPr>
        <p:spPr>
          <a:xfrm>
            <a:off x="2192480" y="1288576"/>
            <a:ext cx="256310"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6</a:t>
            </a:r>
            <a:endParaRPr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64653B52-48D5-4B89-B0D0-BF772A4FC78B}"/>
              </a:ext>
            </a:extLst>
          </p:cNvPr>
          <p:cNvSpPr txBox="1"/>
          <p:nvPr/>
        </p:nvSpPr>
        <p:spPr>
          <a:xfrm>
            <a:off x="917862" y="1720253"/>
            <a:ext cx="256310"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7</a:t>
            </a:r>
            <a:endParaRPr lang="zh-CN" altLang="en-US"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85945B7D-CA4C-4A7E-BFC9-C7C3D13145D7}"/>
              </a:ext>
            </a:extLst>
          </p:cNvPr>
          <p:cNvSpPr txBox="1"/>
          <p:nvPr/>
        </p:nvSpPr>
        <p:spPr>
          <a:xfrm>
            <a:off x="5212771" y="1690093"/>
            <a:ext cx="256310"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8</a:t>
            </a:r>
            <a:endParaRPr lang="zh-CN" altLang="en-US"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9A0D26F6-CF6B-419D-978D-A99A230BFB50}"/>
              </a:ext>
            </a:extLst>
          </p:cNvPr>
          <p:cNvSpPr txBox="1"/>
          <p:nvPr/>
        </p:nvSpPr>
        <p:spPr>
          <a:xfrm>
            <a:off x="1991590" y="2530744"/>
            <a:ext cx="256310"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9</a:t>
            </a:r>
            <a:endParaRPr lang="zh-CN" altLang="en-US"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008BD926-0587-4452-9449-8FFE98DB4FA8}"/>
              </a:ext>
            </a:extLst>
          </p:cNvPr>
          <p:cNvSpPr txBox="1"/>
          <p:nvPr/>
        </p:nvSpPr>
        <p:spPr>
          <a:xfrm>
            <a:off x="8252113" y="2530744"/>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10</a:t>
            </a:r>
            <a:endParaRPr lang="zh-CN" altLang="en-US"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8B849C62-D408-4EDE-8F1E-8A2220CD6974}"/>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二、课文回顾</a:t>
            </a:r>
            <a:r>
              <a:rPr lang="en-US" altLang="zh-CN" sz="2800" b="1" dirty="0"/>
              <a:t>——</a:t>
            </a:r>
            <a:r>
              <a:rPr lang="zh-CN" altLang="en-US" sz="2800" b="1" dirty="0"/>
              <a:t>选词填空</a:t>
            </a:r>
          </a:p>
        </p:txBody>
      </p:sp>
      <p:pic>
        <p:nvPicPr>
          <p:cNvPr id="11" name="图片 10">
            <a:extLst>
              <a:ext uri="{FF2B5EF4-FFF2-40B4-BE49-F238E27FC236}">
                <a16:creationId xmlns:a16="http://schemas.microsoft.com/office/drawing/2014/main" id="{F0FC7D1A-4EE3-4AF8-A283-2387F1EAD0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5236" y="3649921"/>
            <a:ext cx="9532772" cy="2425298"/>
          </a:xfrm>
          <a:prstGeom prst="rect">
            <a:avLst/>
          </a:prstGeom>
        </p:spPr>
      </p:pic>
      <p:cxnSp>
        <p:nvCxnSpPr>
          <p:cNvPr id="12" name="直接连接符 11">
            <a:extLst>
              <a:ext uri="{FF2B5EF4-FFF2-40B4-BE49-F238E27FC236}">
                <a16:creationId xmlns:a16="http://schemas.microsoft.com/office/drawing/2014/main" id="{F7D23961-3851-413C-9AA8-7746BDB6217D}"/>
              </a:ext>
            </a:extLst>
          </p:cNvPr>
          <p:cNvCxnSpPr>
            <a:cxnSpLocks/>
          </p:cNvCxnSpPr>
          <p:nvPr/>
        </p:nvCxnSpPr>
        <p:spPr>
          <a:xfrm>
            <a:off x="4754880" y="4691390"/>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3" name="直接连接符 12">
            <a:extLst>
              <a:ext uri="{FF2B5EF4-FFF2-40B4-BE49-F238E27FC236}">
                <a16:creationId xmlns:a16="http://schemas.microsoft.com/office/drawing/2014/main" id="{4B010F7D-046A-4634-B138-AE5A44A41000}"/>
              </a:ext>
            </a:extLst>
          </p:cNvPr>
          <p:cNvCxnSpPr>
            <a:cxnSpLocks/>
          </p:cNvCxnSpPr>
          <p:nvPr/>
        </p:nvCxnSpPr>
        <p:spPr>
          <a:xfrm>
            <a:off x="2895600" y="5664093"/>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4" name="直接连接符 13">
            <a:extLst>
              <a:ext uri="{FF2B5EF4-FFF2-40B4-BE49-F238E27FC236}">
                <a16:creationId xmlns:a16="http://schemas.microsoft.com/office/drawing/2014/main" id="{301CFB5E-9576-4DFE-B789-AD7927D4B643}"/>
              </a:ext>
            </a:extLst>
          </p:cNvPr>
          <p:cNvCxnSpPr>
            <a:cxnSpLocks/>
          </p:cNvCxnSpPr>
          <p:nvPr/>
        </p:nvCxnSpPr>
        <p:spPr>
          <a:xfrm>
            <a:off x="2895600" y="4768976"/>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5" name="直接连接符 14">
            <a:extLst>
              <a:ext uri="{FF2B5EF4-FFF2-40B4-BE49-F238E27FC236}">
                <a16:creationId xmlns:a16="http://schemas.microsoft.com/office/drawing/2014/main" id="{23C869A8-2155-416E-903B-E3310E512215}"/>
              </a:ext>
            </a:extLst>
          </p:cNvPr>
          <p:cNvCxnSpPr>
            <a:cxnSpLocks/>
          </p:cNvCxnSpPr>
          <p:nvPr/>
        </p:nvCxnSpPr>
        <p:spPr>
          <a:xfrm>
            <a:off x="6605847" y="3790845"/>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6" name="直接连接符 15">
            <a:extLst>
              <a:ext uri="{FF2B5EF4-FFF2-40B4-BE49-F238E27FC236}">
                <a16:creationId xmlns:a16="http://schemas.microsoft.com/office/drawing/2014/main" id="{E3B3B987-2FC8-461B-8975-A9529D0B53C6}"/>
              </a:ext>
            </a:extLst>
          </p:cNvPr>
          <p:cNvCxnSpPr>
            <a:cxnSpLocks/>
          </p:cNvCxnSpPr>
          <p:nvPr/>
        </p:nvCxnSpPr>
        <p:spPr>
          <a:xfrm>
            <a:off x="8581927" y="3790845"/>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17" name="矩形 16">
            <a:extLst>
              <a:ext uri="{FF2B5EF4-FFF2-40B4-BE49-F238E27FC236}">
                <a16:creationId xmlns:a16="http://schemas.microsoft.com/office/drawing/2014/main" id="{A45C2A08-B4CB-4295-A6DE-800628216510}"/>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051575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a:lnSpc>
                <a:spcPct val="150000"/>
              </a:lnSpc>
            </a:pPr>
            <a:r>
              <a:rPr lang="en-US" altLang="zh-CN"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But great ______ is the influence of the motives we have been considering, there is one which ________ them all... Power, like vanity, is _________ . Nothing short of omnipotence could satisfy it completely. And as it is especially the vice of energetic men, the casual efficacy of love of power is out of all ________  to its frequency. It is, indeed, by far the strongest _______ in the lives of important men. </a:t>
            </a:r>
          </a:p>
        </p:txBody>
      </p:sp>
      <p:sp>
        <p:nvSpPr>
          <p:cNvPr id="5" name="文本框 4">
            <a:extLst>
              <a:ext uri="{FF2B5EF4-FFF2-40B4-BE49-F238E27FC236}">
                <a16:creationId xmlns:a16="http://schemas.microsoft.com/office/drawing/2014/main" id="{030D7845-467D-49C0-B5F5-3F0B0CB12B2C}"/>
              </a:ext>
            </a:extLst>
          </p:cNvPr>
          <p:cNvSpPr txBox="1"/>
          <p:nvPr/>
        </p:nvSpPr>
        <p:spPr>
          <a:xfrm>
            <a:off x="2171539" y="1270675"/>
            <a:ext cx="432057"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as</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64653B52-48D5-4B89-B0D0-BF772A4FC78B}"/>
              </a:ext>
            </a:extLst>
          </p:cNvPr>
          <p:cNvSpPr txBox="1"/>
          <p:nvPr/>
        </p:nvSpPr>
        <p:spPr>
          <a:xfrm>
            <a:off x="295274" y="1636162"/>
            <a:ext cx="1459924"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outweighs</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85945B7D-CA4C-4A7E-BFC9-C7C3D13145D7}"/>
              </a:ext>
            </a:extLst>
          </p:cNvPr>
          <p:cNvSpPr txBox="1"/>
          <p:nvPr/>
        </p:nvSpPr>
        <p:spPr>
          <a:xfrm>
            <a:off x="4792682" y="1636442"/>
            <a:ext cx="1236890"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insatiable</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9A0D26F6-CF6B-419D-978D-A99A230BFB50}"/>
              </a:ext>
            </a:extLst>
          </p:cNvPr>
          <p:cNvSpPr txBox="1"/>
          <p:nvPr/>
        </p:nvSpPr>
        <p:spPr>
          <a:xfrm>
            <a:off x="1523919" y="2346078"/>
            <a:ext cx="1477546"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proportion</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008BD926-0587-4452-9449-8FFE98DB4FA8}"/>
              </a:ext>
            </a:extLst>
          </p:cNvPr>
          <p:cNvSpPr txBox="1"/>
          <p:nvPr/>
        </p:nvSpPr>
        <p:spPr>
          <a:xfrm>
            <a:off x="7980687" y="2433022"/>
            <a:ext cx="996589"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motive</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8B849C62-D408-4EDE-8F1E-8A2220CD6974}"/>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二、课文回顾</a:t>
            </a:r>
            <a:r>
              <a:rPr lang="en-US" altLang="zh-CN" sz="2800" b="1" dirty="0"/>
              <a:t>——</a:t>
            </a:r>
            <a:r>
              <a:rPr lang="zh-CN" altLang="en-US" sz="2800" b="1" dirty="0"/>
              <a:t>选词填空</a:t>
            </a:r>
          </a:p>
        </p:txBody>
      </p:sp>
      <p:pic>
        <p:nvPicPr>
          <p:cNvPr id="12" name="图片 11">
            <a:extLst>
              <a:ext uri="{FF2B5EF4-FFF2-40B4-BE49-F238E27FC236}">
                <a16:creationId xmlns:a16="http://schemas.microsoft.com/office/drawing/2014/main" id="{8A412364-F3BD-44B4-B527-30E9D84A06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5236" y="3649921"/>
            <a:ext cx="9532772" cy="2425298"/>
          </a:xfrm>
          <a:prstGeom prst="rect">
            <a:avLst/>
          </a:prstGeom>
        </p:spPr>
      </p:pic>
      <p:cxnSp>
        <p:nvCxnSpPr>
          <p:cNvPr id="13" name="直接连接符 12">
            <a:extLst>
              <a:ext uri="{FF2B5EF4-FFF2-40B4-BE49-F238E27FC236}">
                <a16:creationId xmlns:a16="http://schemas.microsoft.com/office/drawing/2014/main" id="{33559020-6580-473E-AD94-6D6D244FCED3}"/>
              </a:ext>
            </a:extLst>
          </p:cNvPr>
          <p:cNvCxnSpPr>
            <a:cxnSpLocks/>
          </p:cNvCxnSpPr>
          <p:nvPr/>
        </p:nvCxnSpPr>
        <p:spPr>
          <a:xfrm>
            <a:off x="4754880" y="4691390"/>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4" name="直接连接符 13">
            <a:extLst>
              <a:ext uri="{FF2B5EF4-FFF2-40B4-BE49-F238E27FC236}">
                <a16:creationId xmlns:a16="http://schemas.microsoft.com/office/drawing/2014/main" id="{931546B8-C284-48B8-9816-39D5218D141C}"/>
              </a:ext>
            </a:extLst>
          </p:cNvPr>
          <p:cNvCxnSpPr>
            <a:cxnSpLocks/>
          </p:cNvCxnSpPr>
          <p:nvPr/>
        </p:nvCxnSpPr>
        <p:spPr>
          <a:xfrm>
            <a:off x="2895600" y="5664093"/>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5" name="直接连接符 14">
            <a:extLst>
              <a:ext uri="{FF2B5EF4-FFF2-40B4-BE49-F238E27FC236}">
                <a16:creationId xmlns:a16="http://schemas.microsoft.com/office/drawing/2014/main" id="{FAE5B6C0-03EE-4C8A-8F80-38ACEFB00ED7}"/>
              </a:ext>
            </a:extLst>
          </p:cNvPr>
          <p:cNvCxnSpPr>
            <a:cxnSpLocks/>
          </p:cNvCxnSpPr>
          <p:nvPr/>
        </p:nvCxnSpPr>
        <p:spPr>
          <a:xfrm>
            <a:off x="2895600" y="4768976"/>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6" name="直接连接符 15">
            <a:extLst>
              <a:ext uri="{FF2B5EF4-FFF2-40B4-BE49-F238E27FC236}">
                <a16:creationId xmlns:a16="http://schemas.microsoft.com/office/drawing/2014/main" id="{F31A826A-4E29-4303-BB66-E52AABCDF16C}"/>
              </a:ext>
            </a:extLst>
          </p:cNvPr>
          <p:cNvCxnSpPr>
            <a:cxnSpLocks/>
          </p:cNvCxnSpPr>
          <p:nvPr/>
        </p:nvCxnSpPr>
        <p:spPr>
          <a:xfrm>
            <a:off x="6605847" y="3790845"/>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7" name="直接连接符 16">
            <a:extLst>
              <a:ext uri="{FF2B5EF4-FFF2-40B4-BE49-F238E27FC236}">
                <a16:creationId xmlns:a16="http://schemas.microsoft.com/office/drawing/2014/main" id="{6826B093-2611-466F-A6EC-306726CF2F05}"/>
              </a:ext>
            </a:extLst>
          </p:cNvPr>
          <p:cNvCxnSpPr>
            <a:cxnSpLocks/>
          </p:cNvCxnSpPr>
          <p:nvPr/>
        </p:nvCxnSpPr>
        <p:spPr>
          <a:xfrm>
            <a:off x="8581927" y="3790845"/>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18" name="矩形 17">
            <a:extLst>
              <a:ext uri="{FF2B5EF4-FFF2-40B4-BE49-F238E27FC236}">
                <a16:creationId xmlns:a16="http://schemas.microsoft.com/office/drawing/2014/main" id="{5D91E22E-7ABD-47E7-9F2D-2CB1CB6ABF0A}"/>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33420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1021291" cy="2346283"/>
          </a:xfrm>
          <a:prstGeom prst="rect">
            <a:avLst/>
          </a:prstGeom>
        </p:spPr>
        <p:txBody>
          <a:bodyPr wrap="square">
            <a:spAutoFit/>
          </a:bodyPr>
          <a:lstStyle/>
          <a:p>
            <a:pPr>
              <a:lnSpc>
                <a:spcPct val="150000"/>
              </a:lnSpc>
            </a:pPr>
            <a:r>
              <a:rPr lang="en-US" altLang="zh-CN" sz="2000" b="1" kern="100" dirty="0">
                <a:latin typeface="微软雅黑" panose="020B0503020204020204" pitchFamily="34" charset="-122"/>
                <a:ea typeface="微软雅黑" panose="020B0503020204020204" pitchFamily="34" charset="-122"/>
                <a:cs typeface="Times New Roman" panose="02020603050405020304" pitchFamily="18" charset="0"/>
              </a:rPr>
              <a:t>3. </a:t>
            </a:r>
            <a:r>
              <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rPr>
              <a:t>Ghetto rioting then was the first representation I _______ of movement and activity among the mass of Negroes in the North. It marked a break with the passive tradition of dependency and _______ . The ghetto was at least no longer content ______ its status as bastard child of urban</a:t>
            </a: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rPr>
              <a:t>America. The ________ set in motion had a hopeful , irreversible quality about them. The ghetto wanted legitimation. That was a ________. </a:t>
            </a:r>
          </a:p>
        </p:txBody>
      </p:sp>
      <p:sp>
        <p:nvSpPr>
          <p:cNvPr id="5" name="文本框 4">
            <a:extLst>
              <a:ext uri="{FF2B5EF4-FFF2-40B4-BE49-F238E27FC236}">
                <a16:creationId xmlns:a16="http://schemas.microsoft.com/office/drawing/2014/main" id="{212A2E1F-1163-4C96-9E31-775378FF7CBF}"/>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二、课文回顾</a:t>
            </a:r>
            <a:r>
              <a:rPr lang="en-US" altLang="zh-CN" sz="2800" b="1" dirty="0"/>
              <a:t>——</a:t>
            </a:r>
            <a:r>
              <a:rPr lang="zh-CN" altLang="en-US" sz="2800" b="1" dirty="0"/>
              <a:t>选词填空</a:t>
            </a:r>
          </a:p>
        </p:txBody>
      </p:sp>
      <p:sp>
        <p:nvSpPr>
          <p:cNvPr id="6" name="文本框 5">
            <a:extLst>
              <a:ext uri="{FF2B5EF4-FFF2-40B4-BE49-F238E27FC236}">
                <a16:creationId xmlns:a16="http://schemas.microsoft.com/office/drawing/2014/main" id="{09C26A61-4F51-4F4B-B7C5-267D06E7958F}"/>
              </a:ext>
            </a:extLst>
          </p:cNvPr>
          <p:cNvSpPr txBox="1"/>
          <p:nvPr/>
        </p:nvSpPr>
        <p:spPr>
          <a:xfrm>
            <a:off x="7088331" y="1332326"/>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11</a:t>
            </a:r>
            <a:endParaRPr lang="zh-CN" altLang="en-US"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22510C2B-6029-4ABC-80AE-C625251EB43A}"/>
              </a:ext>
            </a:extLst>
          </p:cNvPr>
          <p:cNvSpPr txBox="1"/>
          <p:nvPr/>
        </p:nvSpPr>
        <p:spPr>
          <a:xfrm>
            <a:off x="2959676" y="2246726"/>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12</a:t>
            </a:r>
            <a:endParaRPr lang="zh-CN" altLang="en-US"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8F2FAB68-A55C-4C2F-B77D-21662AD9193F}"/>
              </a:ext>
            </a:extLst>
          </p:cNvPr>
          <p:cNvSpPr txBox="1"/>
          <p:nvPr/>
        </p:nvSpPr>
        <p:spPr>
          <a:xfrm>
            <a:off x="9069531" y="2246726"/>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13</a:t>
            </a:r>
            <a:endParaRPr lang="zh-CN" altLang="en-US"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1AA91C25-1FE7-4D52-A9F5-48A94CC4A6DA}"/>
              </a:ext>
            </a:extLst>
          </p:cNvPr>
          <p:cNvSpPr txBox="1"/>
          <p:nvPr/>
        </p:nvSpPr>
        <p:spPr>
          <a:xfrm>
            <a:off x="5301095" y="2683145"/>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14</a:t>
            </a:r>
            <a:endParaRPr lang="zh-CN" altLang="en-US"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04D46114-91F7-40CF-97C5-231B5487C108}"/>
              </a:ext>
            </a:extLst>
          </p:cNvPr>
          <p:cNvSpPr txBox="1"/>
          <p:nvPr/>
        </p:nvSpPr>
        <p:spPr>
          <a:xfrm>
            <a:off x="8695459" y="3170858"/>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15</a:t>
            </a:r>
            <a:endParaRPr lang="zh-CN" altLang="en-US" dirty="0">
              <a:latin typeface="微软雅黑" panose="020B0503020204020204" pitchFamily="34" charset="-122"/>
              <a:ea typeface="微软雅黑" panose="020B0503020204020204" pitchFamily="34" charset="-122"/>
            </a:endParaRPr>
          </a:p>
        </p:txBody>
      </p:sp>
      <p:pic>
        <p:nvPicPr>
          <p:cNvPr id="12" name="图片 11">
            <a:extLst>
              <a:ext uri="{FF2B5EF4-FFF2-40B4-BE49-F238E27FC236}">
                <a16:creationId xmlns:a16="http://schemas.microsoft.com/office/drawing/2014/main" id="{300E2349-4F1C-4DC7-8904-81FF795618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236" y="3649921"/>
            <a:ext cx="9532772" cy="2425298"/>
          </a:xfrm>
          <a:prstGeom prst="rect">
            <a:avLst/>
          </a:prstGeom>
        </p:spPr>
      </p:pic>
      <p:cxnSp>
        <p:nvCxnSpPr>
          <p:cNvPr id="13" name="直接连接符 12">
            <a:extLst>
              <a:ext uri="{FF2B5EF4-FFF2-40B4-BE49-F238E27FC236}">
                <a16:creationId xmlns:a16="http://schemas.microsoft.com/office/drawing/2014/main" id="{56F96CC4-4EC5-44E7-87CD-71394DE76E05}"/>
              </a:ext>
            </a:extLst>
          </p:cNvPr>
          <p:cNvCxnSpPr>
            <a:cxnSpLocks/>
          </p:cNvCxnSpPr>
          <p:nvPr/>
        </p:nvCxnSpPr>
        <p:spPr>
          <a:xfrm>
            <a:off x="4754880" y="4691390"/>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4" name="直接连接符 13">
            <a:extLst>
              <a:ext uri="{FF2B5EF4-FFF2-40B4-BE49-F238E27FC236}">
                <a16:creationId xmlns:a16="http://schemas.microsoft.com/office/drawing/2014/main" id="{FC5BD7B0-D73B-4320-BF46-4FA862DE1CE4}"/>
              </a:ext>
            </a:extLst>
          </p:cNvPr>
          <p:cNvCxnSpPr>
            <a:cxnSpLocks/>
          </p:cNvCxnSpPr>
          <p:nvPr/>
        </p:nvCxnSpPr>
        <p:spPr>
          <a:xfrm>
            <a:off x="2895600" y="5664093"/>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5" name="直接连接符 14">
            <a:extLst>
              <a:ext uri="{FF2B5EF4-FFF2-40B4-BE49-F238E27FC236}">
                <a16:creationId xmlns:a16="http://schemas.microsoft.com/office/drawing/2014/main" id="{E03DC5D0-B4AA-4249-AC23-80C179492D65}"/>
              </a:ext>
            </a:extLst>
          </p:cNvPr>
          <p:cNvCxnSpPr>
            <a:cxnSpLocks/>
          </p:cNvCxnSpPr>
          <p:nvPr/>
        </p:nvCxnSpPr>
        <p:spPr>
          <a:xfrm>
            <a:off x="2895600" y="4768976"/>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6" name="直接连接符 15">
            <a:extLst>
              <a:ext uri="{FF2B5EF4-FFF2-40B4-BE49-F238E27FC236}">
                <a16:creationId xmlns:a16="http://schemas.microsoft.com/office/drawing/2014/main" id="{F3867AE5-52B5-49ED-AE38-DF22CCCA2547}"/>
              </a:ext>
            </a:extLst>
          </p:cNvPr>
          <p:cNvCxnSpPr>
            <a:cxnSpLocks/>
          </p:cNvCxnSpPr>
          <p:nvPr/>
        </p:nvCxnSpPr>
        <p:spPr>
          <a:xfrm>
            <a:off x="6605847" y="3790845"/>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7" name="直接连接符 16">
            <a:extLst>
              <a:ext uri="{FF2B5EF4-FFF2-40B4-BE49-F238E27FC236}">
                <a16:creationId xmlns:a16="http://schemas.microsoft.com/office/drawing/2014/main" id="{4408B2B4-9551-4F7B-81FB-F55E3F378F83}"/>
              </a:ext>
            </a:extLst>
          </p:cNvPr>
          <p:cNvCxnSpPr>
            <a:cxnSpLocks/>
          </p:cNvCxnSpPr>
          <p:nvPr/>
        </p:nvCxnSpPr>
        <p:spPr>
          <a:xfrm>
            <a:off x="8581927" y="3790845"/>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8" name="直接连接符 17">
            <a:extLst>
              <a:ext uri="{FF2B5EF4-FFF2-40B4-BE49-F238E27FC236}">
                <a16:creationId xmlns:a16="http://schemas.microsoft.com/office/drawing/2014/main" id="{D7ADD0DD-7824-4422-AA95-723A9769AA27}"/>
              </a:ext>
            </a:extLst>
          </p:cNvPr>
          <p:cNvCxnSpPr>
            <a:cxnSpLocks/>
          </p:cNvCxnSpPr>
          <p:nvPr/>
        </p:nvCxnSpPr>
        <p:spPr>
          <a:xfrm>
            <a:off x="1025236" y="4231420"/>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9" name="直接连接符 18">
            <a:extLst>
              <a:ext uri="{FF2B5EF4-FFF2-40B4-BE49-F238E27FC236}">
                <a16:creationId xmlns:a16="http://schemas.microsoft.com/office/drawing/2014/main" id="{020DC5FA-638F-4893-AD42-A5E911BB9F8B}"/>
              </a:ext>
            </a:extLst>
          </p:cNvPr>
          <p:cNvCxnSpPr>
            <a:cxnSpLocks/>
          </p:cNvCxnSpPr>
          <p:nvPr/>
        </p:nvCxnSpPr>
        <p:spPr>
          <a:xfrm>
            <a:off x="1113212" y="3801751"/>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0" name="直接连接符 19">
            <a:extLst>
              <a:ext uri="{FF2B5EF4-FFF2-40B4-BE49-F238E27FC236}">
                <a16:creationId xmlns:a16="http://schemas.microsoft.com/office/drawing/2014/main" id="{42226917-03E3-463D-A174-D054E5B5BF47}"/>
              </a:ext>
            </a:extLst>
          </p:cNvPr>
          <p:cNvCxnSpPr>
            <a:cxnSpLocks/>
          </p:cNvCxnSpPr>
          <p:nvPr/>
        </p:nvCxnSpPr>
        <p:spPr>
          <a:xfrm>
            <a:off x="4754880" y="4271559"/>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1" name="直接连接符 20">
            <a:extLst>
              <a:ext uri="{FF2B5EF4-FFF2-40B4-BE49-F238E27FC236}">
                <a16:creationId xmlns:a16="http://schemas.microsoft.com/office/drawing/2014/main" id="{F89C22B1-3911-49CD-8BCB-71EC0349090D}"/>
              </a:ext>
            </a:extLst>
          </p:cNvPr>
          <p:cNvCxnSpPr>
            <a:cxnSpLocks/>
          </p:cNvCxnSpPr>
          <p:nvPr/>
        </p:nvCxnSpPr>
        <p:spPr>
          <a:xfrm>
            <a:off x="4765964" y="5654789"/>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2" name="直接连接符 21">
            <a:extLst>
              <a:ext uri="{FF2B5EF4-FFF2-40B4-BE49-F238E27FC236}">
                <a16:creationId xmlns:a16="http://schemas.microsoft.com/office/drawing/2014/main" id="{65713BAE-E4C8-45E0-AC3B-3569D7DC4C88}"/>
              </a:ext>
            </a:extLst>
          </p:cNvPr>
          <p:cNvCxnSpPr>
            <a:cxnSpLocks/>
          </p:cNvCxnSpPr>
          <p:nvPr/>
        </p:nvCxnSpPr>
        <p:spPr>
          <a:xfrm>
            <a:off x="8525124" y="4287193"/>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23" name="矩形 22">
            <a:extLst>
              <a:ext uri="{FF2B5EF4-FFF2-40B4-BE49-F238E27FC236}">
                <a16:creationId xmlns:a16="http://schemas.microsoft.com/office/drawing/2014/main" id="{FD389426-EE7E-4E1D-AF16-D18871EBC8F8}"/>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198116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1021291" cy="2346283"/>
          </a:xfrm>
          <a:prstGeom prst="rect">
            <a:avLst/>
          </a:prstGeom>
        </p:spPr>
        <p:txBody>
          <a:bodyPr wrap="square">
            <a:spAutoFit/>
          </a:bodyPr>
          <a:lstStyle/>
          <a:p>
            <a:pPr>
              <a:lnSpc>
                <a:spcPct val="150000"/>
              </a:lnSpc>
            </a:pPr>
            <a:r>
              <a:rPr lang="en-US" altLang="zh-CN" sz="2000" b="1" kern="100" dirty="0">
                <a:latin typeface="微软雅黑" panose="020B0503020204020204" pitchFamily="34" charset="-122"/>
                <a:ea typeface="微软雅黑" panose="020B0503020204020204" pitchFamily="34" charset="-122"/>
                <a:cs typeface="Times New Roman" panose="02020603050405020304" pitchFamily="18" charset="0"/>
              </a:rPr>
              <a:t>3. </a:t>
            </a:r>
            <a:r>
              <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rPr>
              <a:t>Ghetto rioting then was the first representation I _______ of movement and activity among the mass of Negroes in the North. It marked a break with the passive tradition of dependency and _______ . The ghetto was at least no longer content ______ its status as bastard child of urban</a:t>
            </a: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rPr>
              <a:t>America. The ________ set in motion had a hopeful , irreversible quality about them. The ghetto wanted legitimation. That was a ________. </a:t>
            </a:r>
          </a:p>
        </p:txBody>
      </p:sp>
      <p:sp>
        <p:nvSpPr>
          <p:cNvPr id="5" name="文本框 4">
            <a:extLst>
              <a:ext uri="{FF2B5EF4-FFF2-40B4-BE49-F238E27FC236}">
                <a16:creationId xmlns:a16="http://schemas.microsoft.com/office/drawing/2014/main" id="{212A2E1F-1163-4C96-9E31-775378FF7CBF}"/>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二、课文回顾</a:t>
            </a:r>
            <a:r>
              <a:rPr lang="en-US" altLang="zh-CN" sz="2800" b="1" dirty="0"/>
              <a:t>——</a:t>
            </a:r>
            <a:r>
              <a:rPr lang="zh-CN" altLang="en-US" sz="2800" b="1" dirty="0"/>
              <a:t>选词填空</a:t>
            </a:r>
          </a:p>
        </p:txBody>
      </p:sp>
      <p:sp>
        <p:nvSpPr>
          <p:cNvPr id="6" name="文本框 5">
            <a:extLst>
              <a:ext uri="{FF2B5EF4-FFF2-40B4-BE49-F238E27FC236}">
                <a16:creationId xmlns:a16="http://schemas.microsoft.com/office/drawing/2014/main" id="{09C26A61-4F51-4F4B-B7C5-267D06E7958F}"/>
              </a:ext>
            </a:extLst>
          </p:cNvPr>
          <p:cNvSpPr txBox="1"/>
          <p:nvPr/>
        </p:nvSpPr>
        <p:spPr>
          <a:xfrm>
            <a:off x="6807221" y="1193907"/>
            <a:ext cx="1476316"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perceived</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22510C2B-6029-4ABC-80AE-C625251EB43A}"/>
              </a:ext>
            </a:extLst>
          </p:cNvPr>
          <p:cNvSpPr txBox="1"/>
          <p:nvPr/>
        </p:nvSpPr>
        <p:spPr>
          <a:xfrm>
            <a:off x="2550068" y="2062060"/>
            <a:ext cx="1619304"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indifference</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8F2FAB68-A55C-4C2F-B77D-21662AD9193F}"/>
              </a:ext>
            </a:extLst>
          </p:cNvPr>
          <p:cNvSpPr txBox="1"/>
          <p:nvPr/>
        </p:nvSpPr>
        <p:spPr>
          <a:xfrm>
            <a:off x="8978788" y="2182382"/>
            <a:ext cx="723623"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with</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1AA91C25-1FE7-4D52-A9F5-48A94CC4A6DA}"/>
              </a:ext>
            </a:extLst>
          </p:cNvPr>
          <p:cNvSpPr txBox="1"/>
          <p:nvPr/>
        </p:nvSpPr>
        <p:spPr>
          <a:xfrm>
            <a:off x="5021888" y="2627304"/>
            <a:ext cx="1371931"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currents</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04D46114-91F7-40CF-97C5-231B5487C108}"/>
              </a:ext>
            </a:extLst>
          </p:cNvPr>
          <p:cNvSpPr txBox="1"/>
          <p:nvPr/>
        </p:nvSpPr>
        <p:spPr>
          <a:xfrm>
            <a:off x="8402293" y="3041058"/>
            <a:ext cx="1663088"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beginning</a:t>
            </a:r>
            <a:endParaRPr lang="zh-CN" altLang="en-US" dirty="0">
              <a:solidFill>
                <a:srgbClr val="FF0000"/>
              </a:solidFill>
              <a:latin typeface="微软雅黑" panose="020B0503020204020204" pitchFamily="34" charset="-122"/>
              <a:ea typeface="微软雅黑" panose="020B0503020204020204" pitchFamily="34" charset="-122"/>
            </a:endParaRPr>
          </a:p>
        </p:txBody>
      </p:sp>
      <p:pic>
        <p:nvPicPr>
          <p:cNvPr id="12" name="图片 11">
            <a:extLst>
              <a:ext uri="{FF2B5EF4-FFF2-40B4-BE49-F238E27FC236}">
                <a16:creationId xmlns:a16="http://schemas.microsoft.com/office/drawing/2014/main" id="{2DBBBE89-4A7A-4A9D-B453-ABB3057CB7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236" y="3649921"/>
            <a:ext cx="9532772" cy="2425298"/>
          </a:xfrm>
          <a:prstGeom prst="rect">
            <a:avLst/>
          </a:prstGeom>
        </p:spPr>
      </p:pic>
      <p:cxnSp>
        <p:nvCxnSpPr>
          <p:cNvPr id="13" name="直接连接符 12">
            <a:extLst>
              <a:ext uri="{FF2B5EF4-FFF2-40B4-BE49-F238E27FC236}">
                <a16:creationId xmlns:a16="http://schemas.microsoft.com/office/drawing/2014/main" id="{20E9113D-BC02-4C7A-ADF7-5BF833C4963F}"/>
              </a:ext>
            </a:extLst>
          </p:cNvPr>
          <p:cNvCxnSpPr>
            <a:cxnSpLocks/>
          </p:cNvCxnSpPr>
          <p:nvPr/>
        </p:nvCxnSpPr>
        <p:spPr>
          <a:xfrm>
            <a:off x="4754880" y="4691390"/>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4" name="直接连接符 13">
            <a:extLst>
              <a:ext uri="{FF2B5EF4-FFF2-40B4-BE49-F238E27FC236}">
                <a16:creationId xmlns:a16="http://schemas.microsoft.com/office/drawing/2014/main" id="{964792AA-54FF-43E1-B986-29085575E095}"/>
              </a:ext>
            </a:extLst>
          </p:cNvPr>
          <p:cNvCxnSpPr>
            <a:cxnSpLocks/>
          </p:cNvCxnSpPr>
          <p:nvPr/>
        </p:nvCxnSpPr>
        <p:spPr>
          <a:xfrm>
            <a:off x="2895600" y="5664093"/>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5" name="直接连接符 14">
            <a:extLst>
              <a:ext uri="{FF2B5EF4-FFF2-40B4-BE49-F238E27FC236}">
                <a16:creationId xmlns:a16="http://schemas.microsoft.com/office/drawing/2014/main" id="{813CD566-2FC0-40BE-AB90-E5B06046C210}"/>
              </a:ext>
            </a:extLst>
          </p:cNvPr>
          <p:cNvCxnSpPr>
            <a:cxnSpLocks/>
          </p:cNvCxnSpPr>
          <p:nvPr/>
        </p:nvCxnSpPr>
        <p:spPr>
          <a:xfrm>
            <a:off x="2895600" y="4768976"/>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6" name="直接连接符 15">
            <a:extLst>
              <a:ext uri="{FF2B5EF4-FFF2-40B4-BE49-F238E27FC236}">
                <a16:creationId xmlns:a16="http://schemas.microsoft.com/office/drawing/2014/main" id="{D94562AB-FE7B-4F62-9EE2-D94CC3A3725C}"/>
              </a:ext>
            </a:extLst>
          </p:cNvPr>
          <p:cNvCxnSpPr>
            <a:cxnSpLocks/>
          </p:cNvCxnSpPr>
          <p:nvPr/>
        </p:nvCxnSpPr>
        <p:spPr>
          <a:xfrm>
            <a:off x="6605847" y="3790845"/>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7" name="直接连接符 16">
            <a:extLst>
              <a:ext uri="{FF2B5EF4-FFF2-40B4-BE49-F238E27FC236}">
                <a16:creationId xmlns:a16="http://schemas.microsoft.com/office/drawing/2014/main" id="{45BBCB8B-5563-4E43-AB4C-259CC4639338}"/>
              </a:ext>
            </a:extLst>
          </p:cNvPr>
          <p:cNvCxnSpPr>
            <a:cxnSpLocks/>
          </p:cNvCxnSpPr>
          <p:nvPr/>
        </p:nvCxnSpPr>
        <p:spPr>
          <a:xfrm>
            <a:off x="8581927" y="3790845"/>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8" name="直接连接符 17">
            <a:extLst>
              <a:ext uri="{FF2B5EF4-FFF2-40B4-BE49-F238E27FC236}">
                <a16:creationId xmlns:a16="http://schemas.microsoft.com/office/drawing/2014/main" id="{9B0096F8-35F1-48A4-8C84-06D428C76C27}"/>
              </a:ext>
            </a:extLst>
          </p:cNvPr>
          <p:cNvCxnSpPr>
            <a:cxnSpLocks/>
          </p:cNvCxnSpPr>
          <p:nvPr/>
        </p:nvCxnSpPr>
        <p:spPr>
          <a:xfrm>
            <a:off x="1025236" y="4231420"/>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9" name="直接连接符 18">
            <a:extLst>
              <a:ext uri="{FF2B5EF4-FFF2-40B4-BE49-F238E27FC236}">
                <a16:creationId xmlns:a16="http://schemas.microsoft.com/office/drawing/2014/main" id="{3B8B6D51-AC2E-4BFC-97E7-E8B7422C9B73}"/>
              </a:ext>
            </a:extLst>
          </p:cNvPr>
          <p:cNvCxnSpPr>
            <a:cxnSpLocks/>
          </p:cNvCxnSpPr>
          <p:nvPr/>
        </p:nvCxnSpPr>
        <p:spPr>
          <a:xfrm>
            <a:off x="1113212" y="3801751"/>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0" name="直接连接符 19">
            <a:extLst>
              <a:ext uri="{FF2B5EF4-FFF2-40B4-BE49-F238E27FC236}">
                <a16:creationId xmlns:a16="http://schemas.microsoft.com/office/drawing/2014/main" id="{A972AE99-986D-4DAD-98B7-B58FBC6C43FF}"/>
              </a:ext>
            </a:extLst>
          </p:cNvPr>
          <p:cNvCxnSpPr>
            <a:cxnSpLocks/>
          </p:cNvCxnSpPr>
          <p:nvPr/>
        </p:nvCxnSpPr>
        <p:spPr>
          <a:xfrm>
            <a:off x="4754880" y="4271559"/>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1" name="直接连接符 20">
            <a:extLst>
              <a:ext uri="{FF2B5EF4-FFF2-40B4-BE49-F238E27FC236}">
                <a16:creationId xmlns:a16="http://schemas.microsoft.com/office/drawing/2014/main" id="{38C0ED9C-1F0F-43CB-BBFD-99DE43163685}"/>
              </a:ext>
            </a:extLst>
          </p:cNvPr>
          <p:cNvCxnSpPr>
            <a:cxnSpLocks/>
          </p:cNvCxnSpPr>
          <p:nvPr/>
        </p:nvCxnSpPr>
        <p:spPr>
          <a:xfrm>
            <a:off x="4765964" y="5654789"/>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2" name="直接连接符 21">
            <a:extLst>
              <a:ext uri="{FF2B5EF4-FFF2-40B4-BE49-F238E27FC236}">
                <a16:creationId xmlns:a16="http://schemas.microsoft.com/office/drawing/2014/main" id="{78865032-C0D4-406E-AC86-338ACA51833B}"/>
              </a:ext>
            </a:extLst>
          </p:cNvPr>
          <p:cNvCxnSpPr>
            <a:cxnSpLocks/>
          </p:cNvCxnSpPr>
          <p:nvPr/>
        </p:nvCxnSpPr>
        <p:spPr>
          <a:xfrm>
            <a:off x="8525124" y="4287193"/>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23" name="矩形 22">
            <a:extLst>
              <a:ext uri="{FF2B5EF4-FFF2-40B4-BE49-F238E27FC236}">
                <a16:creationId xmlns:a16="http://schemas.microsoft.com/office/drawing/2014/main" id="{717E08C6-1BC8-4623-A4FA-5AECB9328053}"/>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33410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951898"/>
          </a:xfrm>
          <a:prstGeom prst="rect">
            <a:avLst/>
          </a:prstGeom>
        </p:spPr>
        <p:txBody>
          <a:bodyPr wrap="square">
            <a:spAutoFit/>
          </a:bodyPr>
          <a:lstStyle/>
          <a:p>
            <a:pPr>
              <a:lnSpc>
                <a:spcPct val="150000"/>
              </a:lnSpc>
            </a:pPr>
            <a:r>
              <a:rPr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Plot a Revolution </a:t>
            </a:r>
            <a:endParaRPr lang="zh-CN"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This strategy is always popular _______ those who have no patience with the tedious working of the _________ process or who believe that basic institutions can only be changed by force. It attracts some of the more active and idealistic young people of every generation. To them it offers a romantic _______ , usually symbolized by some dashing and charismatic ________</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It has the even greater appeal of simplicity: “Since this society is hopelessly bad, let’s smash it and build something better on the ______</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5" name="文本框 4">
            <a:extLst>
              <a:ext uri="{FF2B5EF4-FFF2-40B4-BE49-F238E27FC236}">
                <a16:creationId xmlns:a16="http://schemas.microsoft.com/office/drawing/2014/main" id="{AE91E018-A084-4E2F-99F2-0E831D9B7D3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二、课文回顾</a:t>
            </a:r>
            <a:r>
              <a:rPr lang="en-US" altLang="zh-CN" sz="2800" b="1" dirty="0"/>
              <a:t>——</a:t>
            </a:r>
            <a:r>
              <a:rPr lang="zh-CN" altLang="en-US" sz="2800" b="1" dirty="0"/>
              <a:t>选词填空</a:t>
            </a:r>
          </a:p>
        </p:txBody>
      </p:sp>
      <p:sp>
        <p:nvSpPr>
          <p:cNvPr id="6" name="文本框 5">
            <a:extLst>
              <a:ext uri="{FF2B5EF4-FFF2-40B4-BE49-F238E27FC236}">
                <a16:creationId xmlns:a16="http://schemas.microsoft.com/office/drawing/2014/main" id="{D627910D-E257-406A-97AA-11D729A550D1}"/>
              </a:ext>
            </a:extLst>
          </p:cNvPr>
          <p:cNvSpPr txBox="1"/>
          <p:nvPr/>
        </p:nvSpPr>
        <p:spPr>
          <a:xfrm>
            <a:off x="4220440" y="1692545"/>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16</a:t>
            </a:r>
            <a:endParaRPr lang="zh-CN" altLang="en-US"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7FB996A8-A429-4F64-B841-644985C78B96}"/>
              </a:ext>
            </a:extLst>
          </p:cNvPr>
          <p:cNvSpPr txBox="1"/>
          <p:nvPr/>
        </p:nvSpPr>
        <p:spPr>
          <a:xfrm>
            <a:off x="1359476" y="2061877"/>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17</a:t>
            </a:r>
            <a:endParaRPr lang="zh-CN" altLang="en-US"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BDCAB2D7-FD11-4324-81BD-F39FB483B1C1}"/>
              </a:ext>
            </a:extLst>
          </p:cNvPr>
          <p:cNvSpPr txBox="1"/>
          <p:nvPr/>
        </p:nvSpPr>
        <p:spPr>
          <a:xfrm>
            <a:off x="2772640" y="2907005"/>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18</a:t>
            </a:r>
            <a:endParaRPr lang="zh-CN" altLang="en-US"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D828C3D5-A623-43E9-A65F-1C5CDBBD4195}"/>
              </a:ext>
            </a:extLst>
          </p:cNvPr>
          <p:cNvSpPr txBox="1"/>
          <p:nvPr/>
        </p:nvSpPr>
        <p:spPr>
          <a:xfrm>
            <a:off x="9568295" y="2907005"/>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19</a:t>
            </a:r>
            <a:endParaRPr lang="zh-CN" altLang="en-US"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D3CE8284-0577-46FE-B335-E20003340B4B}"/>
              </a:ext>
            </a:extLst>
          </p:cNvPr>
          <p:cNvSpPr txBox="1"/>
          <p:nvPr/>
        </p:nvSpPr>
        <p:spPr>
          <a:xfrm>
            <a:off x="3513859" y="3717496"/>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20</a:t>
            </a:r>
            <a:endParaRPr lang="zh-CN" altLang="en-US" dirty="0">
              <a:latin typeface="微软雅黑" panose="020B0503020204020204" pitchFamily="34" charset="-122"/>
              <a:ea typeface="微软雅黑" panose="020B0503020204020204" pitchFamily="34" charset="-122"/>
            </a:endParaRPr>
          </a:p>
        </p:txBody>
      </p:sp>
      <p:pic>
        <p:nvPicPr>
          <p:cNvPr id="12" name="图片 11">
            <a:extLst>
              <a:ext uri="{FF2B5EF4-FFF2-40B4-BE49-F238E27FC236}">
                <a16:creationId xmlns:a16="http://schemas.microsoft.com/office/drawing/2014/main" id="{D44207BB-651C-4AFD-A28D-783486D291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5236" y="4086828"/>
            <a:ext cx="9532772" cy="2425298"/>
          </a:xfrm>
          <a:prstGeom prst="rect">
            <a:avLst/>
          </a:prstGeom>
        </p:spPr>
      </p:pic>
      <p:cxnSp>
        <p:nvCxnSpPr>
          <p:cNvPr id="13" name="直接连接符 12">
            <a:extLst>
              <a:ext uri="{FF2B5EF4-FFF2-40B4-BE49-F238E27FC236}">
                <a16:creationId xmlns:a16="http://schemas.microsoft.com/office/drawing/2014/main" id="{7137FC26-14CA-4815-983A-DCDE54EC2F15}"/>
              </a:ext>
            </a:extLst>
          </p:cNvPr>
          <p:cNvCxnSpPr>
            <a:cxnSpLocks/>
          </p:cNvCxnSpPr>
          <p:nvPr/>
        </p:nvCxnSpPr>
        <p:spPr>
          <a:xfrm>
            <a:off x="4754880" y="5128297"/>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4" name="直接连接符 13">
            <a:extLst>
              <a:ext uri="{FF2B5EF4-FFF2-40B4-BE49-F238E27FC236}">
                <a16:creationId xmlns:a16="http://schemas.microsoft.com/office/drawing/2014/main" id="{531A43FD-4507-40CF-B4FC-AFFDDF1D4DA9}"/>
              </a:ext>
            </a:extLst>
          </p:cNvPr>
          <p:cNvCxnSpPr>
            <a:cxnSpLocks/>
          </p:cNvCxnSpPr>
          <p:nvPr/>
        </p:nvCxnSpPr>
        <p:spPr>
          <a:xfrm>
            <a:off x="2895600" y="6101000"/>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5" name="直接连接符 14">
            <a:extLst>
              <a:ext uri="{FF2B5EF4-FFF2-40B4-BE49-F238E27FC236}">
                <a16:creationId xmlns:a16="http://schemas.microsoft.com/office/drawing/2014/main" id="{0191EDEB-B8DC-41EF-B56B-E316930E1086}"/>
              </a:ext>
            </a:extLst>
          </p:cNvPr>
          <p:cNvCxnSpPr>
            <a:cxnSpLocks/>
          </p:cNvCxnSpPr>
          <p:nvPr/>
        </p:nvCxnSpPr>
        <p:spPr>
          <a:xfrm>
            <a:off x="2895600" y="5205883"/>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6" name="直接连接符 15">
            <a:extLst>
              <a:ext uri="{FF2B5EF4-FFF2-40B4-BE49-F238E27FC236}">
                <a16:creationId xmlns:a16="http://schemas.microsoft.com/office/drawing/2014/main" id="{6F63F1B8-6906-491F-8444-EF271E06E8F0}"/>
              </a:ext>
            </a:extLst>
          </p:cNvPr>
          <p:cNvCxnSpPr>
            <a:cxnSpLocks/>
          </p:cNvCxnSpPr>
          <p:nvPr/>
        </p:nvCxnSpPr>
        <p:spPr>
          <a:xfrm>
            <a:off x="6605847" y="4227752"/>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7" name="直接连接符 16">
            <a:extLst>
              <a:ext uri="{FF2B5EF4-FFF2-40B4-BE49-F238E27FC236}">
                <a16:creationId xmlns:a16="http://schemas.microsoft.com/office/drawing/2014/main" id="{7136478E-E5DC-48AD-B51C-270EE199AFC8}"/>
              </a:ext>
            </a:extLst>
          </p:cNvPr>
          <p:cNvCxnSpPr>
            <a:cxnSpLocks/>
          </p:cNvCxnSpPr>
          <p:nvPr/>
        </p:nvCxnSpPr>
        <p:spPr>
          <a:xfrm>
            <a:off x="8581927" y="4227752"/>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8" name="直接连接符 17">
            <a:extLst>
              <a:ext uri="{FF2B5EF4-FFF2-40B4-BE49-F238E27FC236}">
                <a16:creationId xmlns:a16="http://schemas.microsoft.com/office/drawing/2014/main" id="{CC292E98-A172-4ECE-ADA0-D6B6A2C831D2}"/>
              </a:ext>
            </a:extLst>
          </p:cNvPr>
          <p:cNvCxnSpPr>
            <a:cxnSpLocks/>
          </p:cNvCxnSpPr>
          <p:nvPr/>
        </p:nvCxnSpPr>
        <p:spPr>
          <a:xfrm>
            <a:off x="1025236" y="4668327"/>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9" name="直接连接符 18">
            <a:extLst>
              <a:ext uri="{FF2B5EF4-FFF2-40B4-BE49-F238E27FC236}">
                <a16:creationId xmlns:a16="http://schemas.microsoft.com/office/drawing/2014/main" id="{1F9D4132-9D5B-4B31-BD01-5DF0770A7D9B}"/>
              </a:ext>
            </a:extLst>
          </p:cNvPr>
          <p:cNvCxnSpPr>
            <a:cxnSpLocks/>
          </p:cNvCxnSpPr>
          <p:nvPr/>
        </p:nvCxnSpPr>
        <p:spPr>
          <a:xfrm>
            <a:off x="1113212" y="4238658"/>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0" name="直接连接符 19">
            <a:extLst>
              <a:ext uri="{FF2B5EF4-FFF2-40B4-BE49-F238E27FC236}">
                <a16:creationId xmlns:a16="http://schemas.microsoft.com/office/drawing/2014/main" id="{E8CF7078-EAB8-4268-BA0B-CF05F5AFB2A1}"/>
              </a:ext>
            </a:extLst>
          </p:cNvPr>
          <p:cNvCxnSpPr>
            <a:cxnSpLocks/>
          </p:cNvCxnSpPr>
          <p:nvPr/>
        </p:nvCxnSpPr>
        <p:spPr>
          <a:xfrm>
            <a:off x="4754880" y="4708466"/>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1" name="直接连接符 20">
            <a:extLst>
              <a:ext uri="{FF2B5EF4-FFF2-40B4-BE49-F238E27FC236}">
                <a16:creationId xmlns:a16="http://schemas.microsoft.com/office/drawing/2014/main" id="{E5FBB437-265B-4E6F-859D-A1A00A9FDD1A}"/>
              </a:ext>
            </a:extLst>
          </p:cNvPr>
          <p:cNvCxnSpPr>
            <a:cxnSpLocks/>
          </p:cNvCxnSpPr>
          <p:nvPr/>
        </p:nvCxnSpPr>
        <p:spPr>
          <a:xfrm>
            <a:off x="4765964" y="6091696"/>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2" name="直接连接符 21">
            <a:extLst>
              <a:ext uri="{FF2B5EF4-FFF2-40B4-BE49-F238E27FC236}">
                <a16:creationId xmlns:a16="http://schemas.microsoft.com/office/drawing/2014/main" id="{912D89F8-DE6C-420F-B10C-C00DEC10F63D}"/>
              </a:ext>
            </a:extLst>
          </p:cNvPr>
          <p:cNvCxnSpPr>
            <a:cxnSpLocks/>
          </p:cNvCxnSpPr>
          <p:nvPr/>
        </p:nvCxnSpPr>
        <p:spPr>
          <a:xfrm>
            <a:off x="8525124" y="4724100"/>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3" name="直接连接符 22">
            <a:extLst>
              <a:ext uri="{FF2B5EF4-FFF2-40B4-BE49-F238E27FC236}">
                <a16:creationId xmlns:a16="http://schemas.microsoft.com/office/drawing/2014/main" id="{5FC55BBB-9E74-4DF7-9616-F3C77DAF4333}"/>
              </a:ext>
            </a:extLst>
          </p:cNvPr>
          <p:cNvCxnSpPr>
            <a:cxnSpLocks/>
          </p:cNvCxnSpPr>
          <p:nvPr/>
        </p:nvCxnSpPr>
        <p:spPr>
          <a:xfrm>
            <a:off x="2895600" y="4677278"/>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4" name="直接连接符 23">
            <a:extLst>
              <a:ext uri="{FF2B5EF4-FFF2-40B4-BE49-F238E27FC236}">
                <a16:creationId xmlns:a16="http://schemas.microsoft.com/office/drawing/2014/main" id="{5A266F6A-89BF-4599-A577-63550B65A689}"/>
              </a:ext>
            </a:extLst>
          </p:cNvPr>
          <p:cNvCxnSpPr>
            <a:cxnSpLocks/>
          </p:cNvCxnSpPr>
          <p:nvPr/>
        </p:nvCxnSpPr>
        <p:spPr>
          <a:xfrm>
            <a:off x="6562974" y="5151348"/>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5" name="直接连接符 24">
            <a:extLst>
              <a:ext uri="{FF2B5EF4-FFF2-40B4-BE49-F238E27FC236}">
                <a16:creationId xmlns:a16="http://schemas.microsoft.com/office/drawing/2014/main" id="{96A5691A-569D-463B-9E4A-0C90B50674EE}"/>
              </a:ext>
            </a:extLst>
          </p:cNvPr>
          <p:cNvCxnSpPr>
            <a:cxnSpLocks/>
          </p:cNvCxnSpPr>
          <p:nvPr/>
        </p:nvCxnSpPr>
        <p:spPr>
          <a:xfrm>
            <a:off x="2895600" y="5575215"/>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6" name="直接连接符 25">
            <a:extLst>
              <a:ext uri="{FF2B5EF4-FFF2-40B4-BE49-F238E27FC236}">
                <a16:creationId xmlns:a16="http://schemas.microsoft.com/office/drawing/2014/main" id="{548BAC96-25B4-4DE6-932D-9EB41E72E9EE}"/>
              </a:ext>
            </a:extLst>
          </p:cNvPr>
          <p:cNvCxnSpPr>
            <a:cxnSpLocks/>
          </p:cNvCxnSpPr>
          <p:nvPr/>
        </p:nvCxnSpPr>
        <p:spPr>
          <a:xfrm>
            <a:off x="6536785" y="4689330"/>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7" name="直接连接符 26">
            <a:extLst>
              <a:ext uri="{FF2B5EF4-FFF2-40B4-BE49-F238E27FC236}">
                <a16:creationId xmlns:a16="http://schemas.microsoft.com/office/drawing/2014/main" id="{E194D260-9C3D-434C-BF8D-5CEA86CA6396}"/>
              </a:ext>
            </a:extLst>
          </p:cNvPr>
          <p:cNvCxnSpPr>
            <a:cxnSpLocks/>
          </p:cNvCxnSpPr>
          <p:nvPr/>
        </p:nvCxnSpPr>
        <p:spPr>
          <a:xfrm>
            <a:off x="8581927" y="5192911"/>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28" name="矩形 27">
            <a:extLst>
              <a:ext uri="{FF2B5EF4-FFF2-40B4-BE49-F238E27FC236}">
                <a16:creationId xmlns:a16="http://schemas.microsoft.com/office/drawing/2014/main" id="{CD45323F-CCF0-4BA4-A475-16D4095C57ED}"/>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787091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951898"/>
          </a:xfrm>
          <a:prstGeom prst="rect">
            <a:avLst/>
          </a:prstGeom>
        </p:spPr>
        <p:txBody>
          <a:bodyPr wrap="square">
            <a:spAutoFit/>
          </a:bodyPr>
          <a:lstStyle/>
          <a:p>
            <a:pPr>
              <a:lnSpc>
                <a:spcPct val="150000"/>
              </a:lnSpc>
            </a:pPr>
            <a:r>
              <a:rPr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Plot a Revolution </a:t>
            </a:r>
            <a:endParaRPr lang="zh-CN"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This strategy is always popular _______ those who have no patience with the tedious working of the _________ process or who believe that basic institutions can only be changed by force. It attracts some of the more active and idealistic young people of every generation. To them it offers a romantic _______ , usually symbolized by some dashing and charismatic ________</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It has the even greater appeal of simplicity: “Since this society is hopelessly bad, let’s smash it and build something better on the ______</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5" name="文本框 4">
            <a:extLst>
              <a:ext uri="{FF2B5EF4-FFF2-40B4-BE49-F238E27FC236}">
                <a16:creationId xmlns:a16="http://schemas.microsoft.com/office/drawing/2014/main" id="{AE91E018-A084-4E2F-99F2-0E831D9B7D3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二、课文回顾</a:t>
            </a:r>
            <a:r>
              <a:rPr lang="en-US" altLang="zh-CN" sz="2800" b="1" dirty="0"/>
              <a:t>——</a:t>
            </a:r>
            <a:r>
              <a:rPr lang="zh-CN" altLang="en-US" sz="2800" b="1" dirty="0"/>
              <a:t>选词填空</a:t>
            </a:r>
          </a:p>
        </p:txBody>
      </p:sp>
      <p:sp>
        <p:nvSpPr>
          <p:cNvPr id="6" name="文本框 5">
            <a:extLst>
              <a:ext uri="{FF2B5EF4-FFF2-40B4-BE49-F238E27FC236}">
                <a16:creationId xmlns:a16="http://schemas.microsoft.com/office/drawing/2014/main" id="{D627910D-E257-406A-97AA-11D729A550D1}"/>
              </a:ext>
            </a:extLst>
          </p:cNvPr>
          <p:cNvSpPr txBox="1"/>
          <p:nvPr/>
        </p:nvSpPr>
        <p:spPr>
          <a:xfrm>
            <a:off x="4018016" y="1535841"/>
            <a:ext cx="1272940"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among</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7FB996A8-A429-4F64-B841-644985C78B96}"/>
              </a:ext>
            </a:extLst>
          </p:cNvPr>
          <p:cNvSpPr txBox="1"/>
          <p:nvPr/>
        </p:nvSpPr>
        <p:spPr>
          <a:xfrm>
            <a:off x="954178" y="1957175"/>
            <a:ext cx="1774613"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democratic</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BDCAB2D7-FD11-4324-81BD-F39FB483B1C1}"/>
              </a:ext>
            </a:extLst>
          </p:cNvPr>
          <p:cNvSpPr txBox="1"/>
          <p:nvPr/>
        </p:nvSpPr>
        <p:spPr>
          <a:xfrm>
            <a:off x="2521353" y="2835465"/>
            <a:ext cx="940801"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appeal</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D828C3D5-A623-43E9-A65F-1C5CDBBD4195}"/>
              </a:ext>
            </a:extLst>
          </p:cNvPr>
          <p:cNvSpPr txBox="1"/>
          <p:nvPr/>
        </p:nvSpPr>
        <p:spPr>
          <a:xfrm>
            <a:off x="9407751" y="2861466"/>
            <a:ext cx="867033"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figure</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D3CE8284-0577-46FE-B335-E20003340B4B}"/>
              </a:ext>
            </a:extLst>
          </p:cNvPr>
          <p:cNvSpPr txBox="1"/>
          <p:nvPr/>
        </p:nvSpPr>
        <p:spPr>
          <a:xfrm>
            <a:off x="3513859" y="3717496"/>
            <a:ext cx="806856"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ruin</a:t>
            </a:r>
            <a:endParaRPr lang="zh-CN" altLang="en-US" dirty="0">
              <a:solidFill>
                <a:srgbClr val="FF0000"/>
              </a:solidFill>
              <a:latin typeface="微软雅黑" panose="020B0503020204020204" pitchFamily="34" charset="-122"/>
              <a:ea typeface="微软雅黑" panose="020B0503020204020204" pitchFamily="34" charset="-122"/>
            </a:endParaRPr>
          </a:p>
        </p:txBody>
      </p:sp>
      <p:pic>
        <p:nvPicPr>
          <p:cNvPr id="12" name="图片 11">
            <a:extLst>
              <a:ext uri="{FF2B5EF4-FFF2-40B4-BE49-F238E27FC236}">
                <a16:creationId xmlns:a16="http://schemas.microsoft.com/office/drawing/2014/main" id="{B3D1055B-1524-4275-A54A-1D02618BD1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5236" y="4086828"/>
            <a:ext cx="9532772" cy="2425298"/>
          </a:xfrm>
          <a:prstGeom prst="rect">
            <a:avLst/>
          </a:prstGeom>
        </p:spPr>
      </p:pic>
      <p:cxnSp>
        <p:nvCxnSpPr>
          <p:cNvPr id="13" name="直接连接符 12">
            <a:extLst>
              <a:ext uri="{FF2B5EF4-FFF2-40B4-BE49-F238E27FC236}">
                <a16:creationId xmlns:a16="http://schemas.microsoft.com/office/drawing/2014/main" id="{36DF23FE-3A71-4C58-AC3D-A3FE58B2D19A}"/>
              </a:ext>
            </a:extLst>
          </p:cNvPr>
          <p:cNvCxnSpPr>
            <a:cxnSpLocks/>
          </p:cNvCxnSpPr>
          <p:nvPr/>
        </p:nvCxnSpPr>
        <p:spPr>
          <a:xfrm>
            <a:off x="4754880" y="5128297"/>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4" name="直接连接符 13">
            <a:extLst>
              <a:ext uri="{FF2B5EF4-FFF2-40B4-BE49-F238E27FC236}">
                <a16:creationId xmlns:a16="http://schemas.microsoft.com/office/drawing/2014/main" id="{E048E556-9698-421C-B62A-9A1AFA55C164}"/>
              </a:ext>
            </a:extLst>
          </p:cNvPr>
          <p:cNvCxnSpPr>
            <a:cxnSpLocks/>
          </p:cNvCxnSpPr>
          <p:nvPr/>
        </p:nvCxnSpPr>
        <p:spPr>
          <a:xfrm>
            <a:off x="2895600" y="6101000"/>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5" name="直接连接符 14">
            <a:extLst>
              <a:ext uri="{FF2B5EF4-FFF2-40B4-BE49-F238E27FC236}">
                <a16:creationId xmlns:a16="http://schemas.microsoft.com/office/drawing/2014/main" id="{15E8485B-3EF6-4909-BF91-1B9DAB38C060}"/>
              </a:ext>
            </a:extLst>
          </p:cNvPr>
          <p:cNvCxnSpPr>
            <a:cxnSpLocks/>
          </p:cNvCxnSpPr>
          <p:nvPr/>
        </p:nvCxnSpPr>
        <p:spPr>
          <a:xfrm>
            <a:off x="2895600" y="5205883"/>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6" name="直接连接符 15">
            <a:extLst>
              <a:ext uri="{FF2B5EF4-FFF2-40B4-BE49-F238E27FC236}">
                <a16:creationId xmlns:a16="http://schemas.microsoft.com/office/drawing/2014/main" id="{DE56ACAB-615C-40F2-9CAA-CB48854E1C5A}"/>
              </a:ext>
            </a:extLst>
          </p:cNvPr>
          <p:cNvCxnSpPr>
            <a:cxnSpLocks/>
          </p:cNvCxnSpPr>
          <p:nvPr/>
        </p:nvCxnSpPr>
        <p:spPr>
          <a:xfrm>
            <a:off x="6605847" y="4227752"/>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7" name="直接连接符 16">
            <a:extLst>
              <a:ext uri="{FF2B5EF4-FFF2-40B4-BE49-F238E27FC236}">
                <a16:creationId xmlns:a16="http://schemas.microsoft.com/office/drawing/2014/main" id="{59098D78-A462-44C4-83F8-9FA1B5993990}"/>
              </a:ext>
            </a:extLst>
          </p:cNvPr>
          <p:cNvCxnSpPr>
            <a:cxnSpLocks/>
          </p:cNvCxnSpPr>
          <p:nvPr/>
        </p:nvCxnSpPr>
        <p:spPr>
          <a:xfrm>
            <a:off x="8581927" y="4227752"/>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8" name="直接连接符 17">
            <a:extLst>
              <a:ext uri="{FF2B5EF4-FFF2-40B4-BE49-F238E27FC236}">
                <a16:creationId xmlns:a16="http://schemas.microsoft.com/office/drawing/2014/main" id="{4CD25922-5DBD-4B49-ACBE-5045414F4286}"/>
              </a:ext>
            </a:extLst>
          </p:cNvPr>
          <p:cNvCxnSpPr>
            <a:cxnSpLocks/>
          </p:cNvCxnSpPr>
          <p:nvPr/>
        </p:nvCxnSpPr>
        <p:spPr>
          <a:xfrm>
            <a:off x="1025236" y="4668327"/>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9" name="直接连接符 18">
            <a:extLst>
              <a:ext uri="{FF2B5EF4-FFF2-40B4-BE49-F238E27FC236}">
                <a16:creationId xmlns:a16="http://schemas.microsoft.com/office/drawing/2014/main" id="{B2B7E944-842B-429E-9EAA-6D67A76390FE}"/>
              </a:ext>
            </a:extLst>
          </p:cNvPr>
          <p:cNvCxnSpPr>
            <a:cxnSpLocks/>
          </p:cNvCxnSpPr>
          <p:nvPr/>
        </p:nvCxnSpPr>
        <p:spPr>
          <a:xfrm>
            <a:off x="1113212" y="4238658"/>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0" name="直接连接符 19">
            <a:extLst>
              <a:ext uri="{FF2B5EF4-FFF2-40B4-BE49-F238E27FC236}">
                <a16:creationId xmlns:a16="http://schemas.microsoft.com/office/drawing/2014/main" id="{25CEFD44-EBD7-4672-BE0E-D3A61C882165}"/>
              </a:ext>
            </a:extLst>
          </p:cNvPr>
          <p:cNvCxnSpPr>
            <a:cxnSpLocks/>
          </p:cNvCxnSpPr>
          <p:nvPr/>
        </p:nvCxnSpPr>
        <p:spPr>
          <a:xfrm>
            <a:off x="4754880" y="4708466"/>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1" name="直接连接符 20">
            <a:extLst>
              <a:ext uri="{FF2B5EF4-FFF2-40B4-BE49-F238E27FC236}">
                <a16:creationId xmlns:a16="http://schemas.microsoft.com/office/drawing/2014/main" id="{4743C4F4-77E6-4205-9BA4-E11A15F9E388}"/>
              </a:ext>
            </a:extLst>
          </p:cNvPr>
          <p:cNvCxnSpPr>
            <a:cxnSpLocks/>
          </p:cNvCxnSpPr>
          <p:nvPr/>
        </p:nvCxnSpPr>
        <p:spPr>
          <a:xfrm>
            <a:off x="4765964" y="6091696"/>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2" name="直接连接符 21">
            <a:extLst>
              <a:ext uri="{FF2B5EF4-FFF2-40B4-BE49-F238E27FC236}">
                <a16:creationId xmlns:a16="http://schemas.microsoft.com/office/drawing/2014/main" id="{BD216343-E3A9-4786-8D34-A9998D21A38E}"/>
              </a:ext>
            </a:extLst>
          </p:cNvPr>
          <p:cNvCxnSpPr>
            <a:cxnSpLocks/>
          </p:cNvCxnSpPr>
          <p:nvPr/>
        </p:nvCxnSpPr>
        <p:spPr>
          <a:xfrm>
            <a:off x="8525124" y="4724100"/>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3" name="直接连接符 22">
            <a:extLst>
              <a:ext uri="{FF2B5EF4-FFF2-40B4-BE49-F238E27FC236}">
                <a16:creationId xmlns:a16="http://schemas.microsoft.com/office/drawing/2014/main" id="{B757A2CA-54BE-438B-82DE-211F473A9BF2}"/>
              </a:ext>
            </a:extLst>
          </p:cNvPr>
          <p:cNvCxnSpPr>
            <a:cxnSpLocks/>
          </p:cNvCxnSpPr>
          <p:nvPr/>
        </p:nvCxnSpPr>
        <p:spPr>
          <a:xfrm>
            <a:off x="2895600" y="4677278"/>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4" name="直接连接符 23">
            <a:extLst>
              <a:ext uri="{FF2B5EF4-FFF2-40B4-BE49-F238E27FC236}">
                <a16:creationId xmlns:a16="http://schemas.microsoft.com/office/drawing/2014/main" id="{1D4BA6DB-1369-44ED-A521-38EC63ED1AF2}"/>
              </a:ext>
            </a:extLst>
          </p:cNvPr>
          <p:cNvCxnSpPr>
            <a:cxnSpLocks/>
          </p:cNvCxnSpPr>
          <p:nvPr/>
        </p:nvCxnSpPr>
        <p:spPr>
          <a:xfrm>
            <a:off x="6562974" y="5151348"/>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5" name="直接连接符 24">
            <a:extLst>
              <a:ext uri="{FF2B5EF4-FFF2-40B4-BE49-F238E27FC236}">
                <a16:creationId xmlns:a16="http://schemas.microsoft.com/office/drawing/2014/main" id="{A6F1D322-B04C-4AAA-8328-844130C87881}"/>
              </a:ext>
            </a:extLst>
          </p:cNvPr>
          <p:cNvCxnSpPr>
            <a:cxnSpLocks/>
          </p:cNvCxnSpPr>
          <p:nvPr/>
        </p:nvCxnSpPr>
        <p:spPr>
          <a:xfrm>
            <a:off x="2895600" y="5575215"/>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6" name="直接连接符 25">
            <a:extLst>
              <a:ext uri="{FF2B5EF4-FFF2-40B4-BE49-F238E27FC236}">
                <a16:creationId xmlns:a16="http://schemas.microsoft.com/office/drawing/2014/main" id="{E25EAD9F-F1DF-4E99-BFFD-51D187930B77}"/>
              </a:ext>
            </a:extLst>
          </p:cNvPr>
          <p:cNvCxnSpPr>
            <a:cxnSpLocks/>
          </p:cNvCxnSpPr>
          <p:nvPr/>
        </p:nvCxnSpPr>
        <p:spPr>
          <a:xfrm>
            <a:off x="6536785" y="4689330"/>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7" name="直接连接符 26">
            <a:extLst>
              <a:ext uri="{FF2B5EF4-FFF2-40B4-BE49-F238E27FC236}">
                <a16:creationId xmlns:a16="http://schemas.microsoft.com/office/drawing/2014/main" id="{3C20E9A3-61FE-4442-BFBE-19EA53E16564}"/>
              </a:ext>
            </a:extLst>
          </p:cNvPr>
          <p:cNvCxnSpPr>
            <a:cxnSpLocks/>
          </p:cNvCxnSpPr>
          <p:nvPr/>
        </p:nvCxnSpPr>
        <p:spPr>
          <a:xfrm>
            <a:off x="8581927" y="5192911"/>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28" name="矩形 27">
            <a:extLst>
              <a:ext uri="{FF2B5EF4-FFF2-40B4-BE49-F238E27FC236}">
                <a16:creationId xmlns:a16="http://schemas.microsoft.com/office/drawing/2014/main" id="{C522445C-8DD3-4AEE-BD90-AAFF0D6DAFE6}"/>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81075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a:lnSpc>
                <a:spcPct val="150000"/>
              </a:lnSpc>
            </a:pPr>
            <a:r>
              <a:rPr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5. </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The investigation was not _______ so that veterans could spill out their hearts or purge their souls; it was done to prove that the _______ of the United States in Indochina is tantamount to genocide and that not only the soldiers are responsible for what is happening, ______ that everyone here in America who has allowed the _________ and de-personalization</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to go on is __________ . </a:t>
            </a:r>
          </a:p>
        </p:txBody>
      </p:sp>
      <p:sp>
        <p:nvSpPr>
          <p:cNvPr id="5" name="文本框 4">
            <a:extLst>
              <a:ext uri="{FF2B5EF4-FFF2-40B4-BE49-F238E27FC236}">
                <a16:creationId xmlns:a16="http://schemas.microsoft.com/office/drawing/2014/main" id="{90D33D77-F012-41B5-8DE0-7FE5365F4938}"/>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二、课文回顾</a:t>
            </a:r>
            <a:r>
              <a:rPr lang="en-US" altLang="zh-CN" sz="2800" b="1" dirty="0"/>
              <a:t>——</a:t>
            </a:r>
            <a:r>
              <a:rPr lang="zh-CN" altLang="en-US" sz="2800" b="1" dirty="0"/>
              <a:t>选词填空</a:t>
            </a:r>
          </a:p>
        </p:txBody>
      </p:sp>
      <p:sp>
        <p:nvSpPr>
          <p:cNvPr id="6" name="文本框 5">
            <a:extLst>
              <a:ext uri="{FF2B5EF4-FFF2-40B4-BE49-F238E27FC236}">
                <a16:creationId xmlns:a16="http://schemas.microsoft.com/office/drawing/2014/main" id="{1790C8AD-3E2B-4B61-8A89-636435DBE7DA}"/>
              </a:ext>
            </a:extLst>
          </p:cNvPr>
          <p:cNvSpPr txBox="1"/>
          <p:nvPr/>
        </p:nvSpPr>
        <p:spPr>
          <a:xfrm>
            <a:off x="3984913" y="1286024"/>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21</a:t>
            </a:r>
            <a:endParaRPr lang="zh-CN" altLang="en-US"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7784BB02-F997-460C-B251-9D71C9567C5B}"/>
              </a:ext>
            </a:extLst>
          </p:cNvPr>
          <p:cNvSpPr txBox="1"/>
          <p:nvPr/>
        </p:nvSpPr>
        <p:spPr>
          <a:xfrm>
            <a:off x="4781550" y="1717701"/>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22</a:t>
            </a:r>
            <a:endParaRPr lang="zh-CN" altLang="en-US"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22BC6EFB-4BBE-471C-B99D-AC22AC7E159A}"/>
              </a:ext>
            </a:extLst>
          </p:cNvPr>
          <p:cNvSpPr txBox="1"/>
          <p:nvPr/>
        </p:nvSpPr>
        <p:spPr>
          <a:xfrm>
            <a:off x="9485168" y="2087033"/>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23</a:t>
            </a:r>
            <a:endParaRPr lang="zh-CN" altLang="en-US"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9C69A194-1588-43C3-B5E2-1B129F1DAAA6}"/>
              </a:ext>
            </a:extLst>
          </p:cNvPr>
          <p:cNvSpPr txBox="1"/>
          <p:nvPr/>
        </p:nvSpPr>
        <p:spPr>
          <a:xfrm>
            <a:off x="6096000" y="2509596"/>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24</a:t>
            </a:r>
            <a:endParaRPr lang="zh-CN" altLang="en-US"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F91CE581-5787-4742-BE60-EBDA01A514EA}"/>
              </a:ext>
            </a:extLst>
          </p:cNvPr>
          <p:cNvSpPr txBox="1"/>
          <p:nvPr/>
        </p:nvSpPr>
        <p:spPr>
          <a:xfrm>
            <a:off x="955964" y="2945477"/>
            <a:ext cx="45373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25</a:t>
            </a:r>
            <a:endParaRPr lang="zh-CN" altLang="en-US" dirty="0">
              <a:latin typeface="微软雅黑" panose="020B0503020204020204" pitchFamily="34" charset="-122"/>
              <a:ea typeface="微软雅黑" panose="020B0503020204020204" pitchFamily="34" charset="-122"/>
            </a:endParaRPr>
          </a:p>
        </p:txBody>
      </p:sp>
      <p:pic>
        <p:nvPicPr>
          <p:cNvPr id="12" name="图片 11">
            <a:extLst>
              <a:ext uri="{FF2B5EF4-FFF2-40B4-BE49-F238E27FC236}">
                <a16:creationId xmlns:a16="http://schemas.microsoft.com/office/drawing/2014/main" id="{EAE27C99-DBB7-4FFE-A671-834AAE2D83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5236" y="3704443"/>
            <a:ext cx="9532772" cy="2425298"/>
          </a:xfrm>
          <a:prstGeom prst="rect">
            <a:avLst/>
          </a:prstGeom>
        </p:spPr>
      </p:pic>
      <p:cxnSp>
        <p:nvCxnSpPr>
          <p:cNvPr id="13" name="直接连接符 12">
            <a:extLst>
              <a:ext uri="{FF2B5EF4-FFF2-40B4-BE49-F238E27FC236}">
                <a16:creationId xmlns:a16="http://schemas.microsoft.com/office/drawing/2014/main" id="{9E50B449-891F-4BB9-BEE5-6FCA8C12627A}"/>
              </a:ext>
            </a:extLst>
          </p:cNvPr>
          <p:cNvCxnSpPr>
            <a:cxnSpLocks/>
          </p:cNvCxnSpPr>
          <p:nvPr/>
        </p:nvCxnSpPr>
        <p:spPr>
          <a:xfrm>
            <a:off x="4754880" y="4745912"/>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4" name="直接连接符 13">
            <a:extLst>
              <a:ext uri="{FF2B5EF4-FFF2-40B4-BE49-F238E27FC236}">
                <a16:creationId xmlns:a16="http://schemas.microsoft.com/office/drawing/2014/main" id="{486D909E-25A1-4DAE-90E7-0841078F634F}"/>
              </a:ext>
            </a:extLst>
          </p:cNvPr>
          <p:cNvCxnSpPr>
            <a:cxnSpLocks/>
          </p:cNvCxnSpPr>
          <p:nvPr/>
        </p:nvCxnSpPr>
        <p:spPr>
          <a:xfrm>
            <a:off x="2895600" y="5718615"/>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5" name="直接连接符 14">
            <a:extLst>
              <a:ext uri="{FF2B5EF4-FFF2-40B4-BE49-F238E27FC236}">
                <a16:creationId xmlns:a16="http://schemas.microsoft.com/office/drawing/2014/main" id="{F047CA17-F87A-4FB6-8B7D-711E4AC9CB9A}"/>
              </a:ext>
            </a:extLst>
          </p:cNvPr>
          <p:cNvCxnSpPr>
            <a:cxnSpLocks/>
          </p:cNvCxnSpPr>
          <p:nvPr/>
        </p:nvCxnSpPr>
        <p:spPr>
          <a:xfrm>
            <a:off x="2895600" y="4823498"/>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6" name="直接连接符 15">
            <a:extLst>
              <a:ext uri="{FF2B5EF4-FFF2-40B4-BE49-F238E27FC236}">
                <a16:creationId xmlns:a16="http://schemas.microsoft.com/office/drawing/2014/main" id="{81E0DC6A-FDC3-4DB2-92DD-33868FFEDD92}"/>
              </a:ext>
            </a:extLst>
          </p:cNvPr>
          <p:cNvCxnSpPr>
            <a:cxnSpLocks/>
          </p:cNvCxnSpPr>
          <p:nvPr/>
        </p:nvCxnSpPr>
        <p:spPr>
          <a:xfrm>
            <a:off x="6605847" y="3845367"/>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7" name="直接连接符 16">
            <a:extLst>
              <a:ext uri="{FF2B5EF4-FFF2-40B4-BE49-F238E27FC236}">
                <a16:creationId xmlns:a16="http://schemas.microsoft.com/office/drawing/2014/main" id="{10EC9841-10FE-49C4-A0C7-C3E601EDC1AA}"/>
              </a:ext>
            </a:extLst>
          </p:cNvPr>
          <p:cNvCxnSpPr>
            <a:cxnSpLocks/>
          </p:cNvCxnSpPr>
          <p:nvPr/>
        </p:nvCxnSpPr>
        <p:spPr>
          <a:xfrm>
            <a:off x="8581927" y="3845367"/>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8" name="直接连接符 17">
            <a:extLst>
              <a:ext uri="{FF2B5EF4-FFF2-40B4-BE49-F238E27FC236}">
                <a16:creationId xmlns:a16="http://schemas.microsoft.com/office/drawing/2014/main" id="{8BE713A6-3B7C-4451-953C-2C9C137DD448}"/>
              </a:ext>
            </a:extLst>
          </p:cNvPr>
          <p:cNvCxnSpPr>
            <a:cxnSpLocks/>
          </p:cNvCxnSpPr>
          <p:nvPr/>
        </p:nvCxnSpPr>
        <p:spPr>
          <a:xfrm>
            <a:off x="1025236" y="4285942"/>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9" name="直接连接符 18">
            <a:extLst>
              <a:ext uri="{FF2B5EF4-FFF2-40B4-BE49-F238E27FC236}">
                <a16:creationId xmlns:a16="http://schemas.microsoft.com/office/drawing/2014/main" id="{D70516CF-7C1F-4DB5-B370-0610C0CBB379}"/>
              </a:ext>
            </a:extLst>
          </p:cNvPr>
          <p:cNvCxnSpPr>
            <a:cxnSpLocks/>
          </p:cNvCxnSpPr>
          <p:nvPr/>
        </p:nvCxnSpPr>
        <p:spPr>
          <a:xfrm>
            <a:off x="1113212" y="3856273"/>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0" name="直接连接符 19">
            <a:extLst>
              <a:ext uri="{FF2B5EF4-FFF2-40B4-BE49-F238E27FC236}">
                <a16:creationId xmlns:a16="http://schemas.microsoft.com/office/drawing/2014/main" id="{9C26671B-92AD-45BB-8772-CB899822A94C}"/>
              </a:ext>
            </a:extLst>
          </p:cNvPr>
          <p:cNvCxnSpPr>
            <a:cxnSpLocks/>
          </p:cNvCxnSpPr>
          <p:nvPr/>
        </p:nvCxnSpPr>
        <p:spPr>
          <a:xfrm>
            <a:off x="4754880" y="4326081"/>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1" name="直接连接符 20">
            <a:extLst>
              <a:ext uri="{FF2B5EF4-FFF2-40B4-BE49-F238E27FC236}">
                <a16:creationId xmlns:a16="http://schemas.microsoft.com/office/drawing/2014/main" id="{9DCBAB19-F430-4346-B218-278A010F2235}"/>
              </a:ext>
            </a:extLst>
          </p:cNvPr>
          <p:cNvCxnSpPr>
            <a:cxnSpLocks/>
          </p:cNvCxnSpPr>
          <p:nvPr/>
        </p:nvCxnSpPr>
        <p:spPr>
          <a:xfrm>
            <a:off x="4765964" y="5709311"/>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2" name="直接连接符 21">
            <a:extLst>
              <a:ext uri="{FF2B5EF4-FFF2-40B4-BE49-F238E27FC236}">
                <a16:creationId xmlns:a16="http://schemas.microsoft.com/office/drawing/2014/main" id="{E019B79B-564D-40CA-BB27-5F69C202C90F}"/>
              </a:ext>
            </a:extLst>
          </p:cNvPr>
          <p:cNvCxnSpPr>
            <a:cxnSpLocks/>
          </p:cNvCxnSpPr>
          <p:nvPr/>
        </p:nvCxnSpPr>
        <p:spPr>
          <a:xfrm>
            <a:off x="8525124" y="4341715"/>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3" name="直接连接符 22">
            <a:extLst>
              <a:ext uri="{FF2B5EF4-FFF2-40B4-BE49-F238E27FC236}">
                <a16:creationId xmlns:a16="http://schemas.microsoft.com/office/drawing/2014/main" id="{18B329D9-D0D1-40C2-99AC-69FA70D60362}"/>
              </a:ext>
            </a:extLst>
          </p:cNvPr>
          <p:cNvCxnSpPr>
            <a:cxnSpLocks/>
          </p:cNvCxnSpPr>
          <p:nvPr/>
        </p:nvCxnSpPr>
        <p:spPr>
          <a:xfrm>
            <a:off x="2895600" y="4294893"/>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4" name="直接连接符 23">
            <a:extLst>
              <a:ext uri="{FF2B5EF4-FFF2-40B4-BE49-F238E27FC236}">
                <a16:creationId xmlns:a16="http://schemas.microsoft.com/office/drawing/2014/main" id="{57E5815A-8097-431D-B9BD-655AA73BC97E}"/>
              </a:ext>
            </a:extLst>
          </p:cNvPr>
          <p:cNvCxnSpPr>
            <a:cxnSpLocks/>
          </p:cNvCxnSpPr>
          <p:nvPr/>
        </p:nvCxnSpPr>
        <p:spPr>
          <a:xfrm>
            <a:off x="6562974" y="4768963"/>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5" name="直接连接符 24">
            <a:extLst>
              <a:ext uri="{FF2B5EF4-FFF2-40B4-BE49-F238E27FC236}">
                <a16:creationId xmlns:a16="http://schemas.microsoft.com/office/drawing/2014/main" id="{29E578FD-BE13-4DC0-95C9-907D49E9A930}"/>
              </a:ext>
            </a:extLst>
          </p:cNvPr>
          <p:cNvCxnSpPr>
            <a:cxnSpLocks/>
          </p:cNvCxnSpPr>
          <p:nvPr/>
        </p:nvCxnSpPr>
        <p:spPr>
          <a:xfrm>
            <a:off x="2895600" y="5192830"/>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6" name="直接连接符 25">
            <a:extLst>
              <a:ext uri="{FF2B5EF4-FFF2-40B4-BE49-F238E27FC236}">
                <a16:creationId xmlns:a16="http://schemas.microsoft.com/office/drawing/2014/main" id="{EAB44E3F-6C69-4262-B031-9A488C4833A3}"/>
              </a:ext>
            </a:extLst>
          </p:cNvPr>
          <p:cNvCxnSpPr>
            <a:cxnSpLocks/>
          </p:cNvCxnSpPr>
          <p:nvPr/>
        </p:nvCxnSpPr>
        <p:spPr>
          <a:xfrm>
            <a:off x="6536785" y="4306945"/>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7" name="直接连接符 26">
            <a:extLst>
              <a:ext uri="{FF2B5EF4-FFF2-40B4-BE49-F238E27FC236}">
                <a16:creationId xmlns:a16="http://schemas.microsoft.com/office/drawing/2014/main" id="{D1923DE1-B106-49C4-95DC-B62EA6543750}"/>
              </a:ext>
            </a:extLst>
          </p:cNvPr>
          <p:cNvCxnSpPr>
            <a:cxnSpLocks/>
          </p:cNvCxnSpPr>
          <p:nvPr/>
        </p:nvCxnSpPr>
        <p:spPr>
          <a:xfrm>
            <a:off x="8581927" y="4810526"/>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8" name="直接连接符 27">
            <a:extLst>
              <a:ext uri="{FF2B5EF4-FFF2-40B4-BE49-F238E27FC236}">
                <a16:creationId xmlns:a16="http://schemas.microsoft.com/office/drawing/2014/main" id="{0F74C9A3-4AED-43D0-B3FF-C48A4EC24F07}"/>
              </a:ext>
            </a:extLst>
          </p:cNvPr>
          <p:cNvCxnSpPr>
            <a:cxnSpLocks/>
          </p:cNvCxnSpPr>
          <p:nvPr/>
        </p:nvCxnSpPr>
        <p:spPr>
          <a:xfrm>
            <a:off x="1025236" y="5222579"/>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9" name="直接连接符 28">
            <a:extLst>
              <a:ext uri="{FF2B5EF4-FFF2-40B4-BE49-F238E27FC236}">
                <a16:creationId xmlns:a16="http://schemas.microsoft.com/office/drawing/2014/main" id="{FA690C41-5F19-415D-A9BC-A14A7D9D8271}"/>
              </a:ext>
            </a:extLst>
          </p:cNvPr>
          <p:cNvCxnSpPr>
            <a:cxnSpLocks/>
          </p:cNvCxnSpPr>
          <p:nvPr/>
        </p:nvCxnSpPr>
        <p:spPr>
          <a:xfrm>
            <a:off x="4754880" y="3804026"/>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0" name="直接连接符 29">
            <a:extLst>
              <a:ext uri="{FF2B5EF4-FFF2-40B4-BE49-F238E27FC236}">
                <a16:creationId xmlns:a16="http://schemas.microsoft.com/office/drawing/2014/main" id="{0C657520-6EA0-4BB8-8FBF-8AB8C96A95ED}"/>
              </a:ext>
            </a:extLst>
          </p:cNvPr>
          <p:cNvCxnSpPr>
            <a:cxnSpLocks/>
          </p:cNvCxnSpPr>
          <p:nvPr/>
        </p:nvCxnSpPr>
        <p:spPr>
          <a:xfrm>
            <a:off x="4778088" y="5290186"/>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1" name="直接连接符 30">
            <a:extLst>
              <a:ext uri="{FF2B5EF4-FFF2-40B4-BE49-F238E27FC236}">
                <a16:creationId xmlns:a16="http://schemas.microsoft.com/office/drawing/2014/main" id="{CC168143-9410-41B4-8207-155B8D42AE04}"/>
              </a:ext>
            </a:extLst>
          </p:cNvPr>
          <p:cNvCxnSpPr>
            <a:cxnSpLocks/>
          </p:cNvCxnSpPr>
          <p:nvPr/>
        </p:nvCxnSpPr>
        <p:spPr>
          <a:xfrm>
            <a:off x="6520371" y="5230541"/>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2" name="直接连接符 31">
            <a:extLst>
              <a:ext uri="{FF2B5EF4-FFF2-40B4-BE49-F238E27FC236}">
                <a16:creationId xmlns:a16="http://schemas.microsoft.com/office/drawing/2014/main" id="{559371D6-2681-4942-ADB1-8030CC8E9015}"/>
              </a:ext>
            </a:extLst>
          </p:cNvPr>
          <p:cNvCxnSpPr>
            <a:cxnSpLocks/>
          </p:cNvCxnSpPr>
          <p:nvPr/>
        </p:nvCxnSpPr>
        <p:spPr>
          <a:xfrm>
            <a:off x="1061913" y="4823498"/>
            <a:ext cx="206433" cy="34236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33" name="矩形 32">
            <a:extLst>
              <a:ext uri="{FF2B5EF4-FFF2-40B4-BE49-F238E27FC236}">
                <a16:creationId xmlns:a16="http://schemas.microsoft.com/office/drawing/2014/main" id="{C4B1D056-980C-4E32-BE67-917E4006D1FE}"/>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85902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a:lnSpc>
                <a:spcPct val="150000"/>
              </a:lnSpc>
            </a:pPr>
            <a:r>
              <a:rPr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5. </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The investigation was not _______ so that veterans could spill out their hearts or purge their souls; it was done to prove that the _______ of the United States in Indochina is tantamount to genocide and that not only the soldiers are responsible for what is happening, ______ that everyone here in America who has allowed the _________ and de-personalization</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to go on is __________ . </a:t>
            </a:r>
          </a:p>
        </p:txBody>
      </p:sp>
      <p:sp>
        <p:nvSpPr>
          <p:cNvPr id="5" name="文本框 4">
            <a:extLst>
              <a:ext uri="{FF2B5EF4-FFF2-40B4-BE49-F238E27FC236}">
                <a16:creationId xmlns:a16="http://schemas.microsoft.com/office/drawing/2014/main" id="{90D33D77-F012-41B5-8DE0-7FE5365F4938}"/>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二、课文回顾</a:t>
            </a:r>
            <a:r>
              <a:rPr lang="en-US" altLang="zh-CN" sz="2800" b="1" dirty="0"/>
              <a:t>——</a:t>
            </a:r>
            <a:r>
              <a:rPr lang="zh-CN" altLang="en-US" sz="2800" b="1" dirty="0"/>
              <a:t>选词填空</a:t>
            </a:r>
          </a:p>
        </p:txBody>
      </p:sp>
      <p:sp>
        <p:nvSpPr>
          <p:cNvPr id="6" name="文本框 5">
            <a:extLst>
              <a:ext uri="{FF2B5EF4-FFF2-40B4-BE49-F238E27FC236}">
                <a16:creationId xmlns:a16="http://schemas.microsoft.com/office/drawing/2014/main" id="{1790C8AD-3E2B-4B61-8A89-636435DBE7DA}"/>
              </a:ext>
            </a:extLst>
          </p:cNvPr>
          <p:cNvSpPr txBox="1"/>
          <p:nvPr/>
        </p:nvSpPr>
        <p:spPr>
          <a:xfrm>
            <a:off x="3747588" y="1151648"/>
            <a:ext cx="977976"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staged</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7784BB02-F997-460C-B251-9D71C9567C5B}"/>
              </a:ext>
            </a:extLst>
          </p:cNvPr>
          <p:cNvSpPr txBox="1"/>
          <p:nvPr/>
        </p:nvSpPr>
        <p:spPr>
          <a:xfrm>
            <a:off x="4607045" y="1671111"/>
            <a:ext cx="1095739"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policy</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22BC6EFB-4BBE-471C-B99D-AC22AC7E159A}"/>
              </a:ext>
            </a:extLst>
          </p:cNvPr>
          <p:cNvSpPr txBox="1"/>
          <p:nvPr/>
        </p:nvSpPr>
        <p:spPr>
          <a:xfrm>
            <a:off x="9401405" y="2069692"/>
            <a:ext cx="615113"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but</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9C69A194-1588-43C3-B5E2-1B129F1DAAA6}"/>
              </a:ext>
            </a:extLst>
          </p:cNvPr>
          <p:cNvSpPr txBox="1"/>
          <p:nvPr/>
        </p:nvSpPr>
        <p:spPr>
          <a:xfrm>
            <a:off x="5764427" y="2356032"/>
            <a:ext cx="2112660"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brutalization</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F91CE581-5787-4742-BE60-EBDA01A514EA}"/>
              </a:ext>
            </a:extLst>
          </p:cNvPr>
          <p:cNvSpPr txBox="1"/>
          <p:nvPr/>
        </p:nvSpPr>
        <p:spPr>
          <a:xfrm>
            <a:off x="595745" y="2854735"/>
            <a:ext cx="1647633" cy="369332"/>
          </a:xfrm>
          <a:prstGeom prst="rect">
            <a:avLst/>
          </a:prstGeom>
          <a:noFill/>
        </p:spPr>
        <p:txBody>
          <a:bodyPr wrap="squar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responsible</a:t>
            </a:r>
            <a:endParaRPr lang="zh-CN" altLang="en-US" dirty="0">
              <a:solidFill>
                <a:srgbClr val="FF0000"/>
              </a:solidFill>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E7FB1440-D28A-4782-8768-D23B8A6D99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5236" y="3649921"/>
            <a:ext cx="9532772" cy="2425298"/>
          </a:xfrm>
          <a:prstGeom prst="rect">
            <a:avLst/>
          </a:prstGeom>
        </p:spPr>
      </p:pic>
      <p:sp>
        <p:nvSpPr>
          <p:cNvPr id="12" name="矩形 11">
            <a:extLst>
              <a:ext uri="{FF2B5EF4-FFF2-40B4-BE49-F238E27FC236}">
                <a16:creationId xmlns:a16="http://schemas.microsoft.com/office/drawing/2014/main" id="{D6E0C1DB-35E7-4168-B212-5F2A7ECD0910}"/>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832672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0D33D77-F012-41B5-8DE0-7FE5365F4938}"/>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二、课文回顾</a:t>
            </a:r>
            <a:r>
              <a:rPr lang="en-US" altLang="zh-CN" sz="2800" b="1" dirty="0"/>
              <a:t>——</a:t>
            </a:r>
            <a:r>
              <a:rPr lang="zh-CN" altLang="en-US" sz="2800" b="1" dirty="0"/>
              <a:t>选词填空</a:t>
            </a:r>
          </a:p>
        </p:txBody>
      </p:sp>
      <p:pic>
        <p:nvPicPr>
          <p:cNvPr id="4" name="图片 3">
            <a:extLst>
              <a:ext uri="{FF2B5EF4-FFF2-40B4-BE49-F238E27FC236}">
                <a16:creationId xmlns:a16="http://schemas.microsoft.com/office/drawing/2014/main" id="{AD94E937-D426-4DF9-9BE9-2ACEBCD0A1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8809" y="2663213"/>
            <a:ext cx="9774382" cy="2472344"/>
          </a:xfrm>
          <a:prstGeom prst="rect">
            <a:avLst/>
          </a:prstGeom>
        </p:spPr>
      </p:pic>
      <p:sp>
        <p:nvSpPr>
          <p:cNvPr id="12" name="文本框 11">
            <a:extLst>
              <a:ext uri="{FF2B5EF4-FFF2-40B4-BE49-F238E27FC236}">
                <a16:creationId xmlns:a16="http://schemas.microsoft.com/office/drawing/2014/main" id="{FE451482-17DC-4FBB-93E2-525C7DCDEA2D}"/>
              </a:ext>
            </a:extLst>
          </p:cNvPr>
          <p:cNvSpPr txBox="1"/>
          <p:nvPr/>
        </p:nvSpPr>
        <p:spPr>
          <a:xfrm>
            <a:off x="1208809" y="1570597"/>
            <a:ext cx="7883237" cy="523220"/>
          </a:xfrm>
          <a:prstGeom prst="rect">
            <a:avLst/>
          </a:prstGeom>
          <a:noFill/>
        </p:spPr>
        <p:txBody>
          <a:bodyPr wrap="square" rtlCol="0">
            <a:spAutoFit/>
          </a:bodyPr>
          <a:lstStyle/>
          <a:p>
            <a:r>
              <a:rPr lang="zh-CN" altLang="en-US" sz="2800" b="1" dirty="0"/>
              <a:t>答案</a:t>
            </a:r>
          </a:p>
        </p:txBody>
      </p:sp>
      <p:sp>
        <p:nvSpPr>
          <p:cNvPr id="6" name="矩形 5">
            <a:extLst>
              <a:ext uri="{FF2B5EF4-FFF2-40B4-BE49-F238E27FC236}">
                <a16:creationId xmlns:a16="http://schemas.microsoft.com/office/drawing/2014/main" id="{1F61370B-972A-4F5D-B357-0ABB24811427}"/>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44685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749964" y="503875"/>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目录</a:t>
            </a:r>
          </a:p>
        </p:txBody>
      </p:sp>
      <p:sp>
        <p:nvSpPr>
          <p:cNvPr id="6" name="文本框 5">
            <a:extLst>
              <a:ext uri="{FF2B5EF4-FFF2-40B4-BE49-F238E27FC236}">
                <a16:creationId xmlns:a16="http://schemas.microsoft.com/office/drawing/2014/main" id="{CB6437EF-AFBD-4372-9991-212975DB5262}"/>
              </a:ext>
            </a:extLst>
          </p:cNvPr>
          <p:cNvSpPr txBox="1"/>
          <p:nvPr/>
        </p:nvSpPr>
        <p:spPr>
          <a:xfrm>
            <a:off x="2345963" y="2665526"/>
            <a:ext cx="8377455" cy="333187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chemeClr val="bg1">
                    <a:lumMod val="95000"/>
                  </a:schemeClr>
                </a:solidFill>
                <a:effectLst/>
                <a:uLnTx/>
                <a:uFillTx/>
                <a:latin typeface="等线" panose="020F0502020204030204"/>
                <a:ea typeface="等线" panose="02010600030101010101" pitchFamily="2" charset="-122"/>
                <a:cs typeface="+mn-cs"/>
              </a:rPr>
              <a:t>一、英译汉</a:t>
            </a:r>
            <a:endParaRPr kumimoji="0" lang="en-US" altLang="zh-CN" sz="3600" b="1" i="0" u="none" strike="noStrike" kern="1200" cap="none" spc="0" normalizeH="0" baseline="0" noProof="0" dirty="0">
              <a:ln>
                <a:noFill/>
              </a:ln>
              <a:solidFill>
                <a:schemeClr val="bg1">
                  <a:lumMod val="95000"/>
                </a:schemeClr>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3600" b="1" dirty="0">
                <a:solidFill>
                  <a:schemeClr val="bg1">
                    <a:lumMod val="95000"/>
                  </a:schemeClr>
                </a:solidFill>
                <a:latin typeface="等线" panose="020F0502020204030204"/>
                <a:ea typeface="等线" panose="02010600030101010101" pitchFamily="2" charset="-122"/>
              </a:rPr>
              <a:t>二、课文回顾</a:t>
            </a:r>
            <a:r>
              <a:rPr lang="en-US" altLang="zh-CN" sz="3600" b="1" dirty="0">
                <a:solidFill>
                  <a:schemeClr val="bg1">
                    <a:lumMod val="95000"/>
                  </a:schemeClr>
                </a:solidFill>
                <a:latin typeface="等线" panose="020F0502020204030204"/>
                <a:ea typeface="等线" panose="02010600030101010101" pitchFamily="2" charset="-122"/>
              </a:rPr>
              <a:t>——</a:t>
            </a:r>
            <a:r>
              <a:rPr lang="zh-CN" altLang="en-US" sz="3600" b="1" dirty="0">
                <a:solidFill>
                  <a:schemeClr val="bg1">
                    <a:lumMod val="95000"/>
                  </a:schemeClr>
                </a:solidFill>
                <a:latin typeface="等线" panose="020F0502020204030204"/>
                <a:ea typeface="等线" panose="02010600030101010101" pitchFamily="2" charset="-122"/>
              </a:rPr>
              <a:t>选词填空</a:t>
            </a:r>
            <a:endParaRPr lang="en-US" altLang="zh-CN" sz="3600" b="1" dirty="0">
              <a:solidFill>
                <a:schemeClr val="bg1">
                  <a:lumMod val="95000"/>
                </a:schemeClr>
              </a:solidFill>
              <a:latin typeface="等线" panose="020F0502020204030204"/>
              <a:ea typeface="等线" panose="02010600030101010101" pitchFamily="2"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rPr>
              <a:t>三、汉译英</a:t>
            </a:r>
            <a:endParaRPr kumimoji="0" lang="en-US" altLang="zh-CN" sz="36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endParaRPr>
          </a:p>
          <a:p>
            <a:pPr>
              <a:lnSpc>
                <a:spcPct val="150000"/>
              </a:lnSpc>
              <a:defRPr/>
            </a:pPr>
            <a:r>
              <a:rPr lang="zh-CN" altLang="en-US" sz="3600" b="1" dirty="0"/>
              <a:t>四、阅读理解高频单词</a:t>
            </a:r>
            <a:endParaRPr lang="en-US" altLang="zh-CN" sz="3600" b="1" dirty="0"/>
          </a:p>
        </p:txBody>
      </p:sp>
      <p:sp>
        <p:nvSpPr>
          <p:cNvPr id="5" name="矩形 4">
            <a:extLst>
              <a:ext uri="{FF2B5EF4-FFF2-40B4-BE49-F238E27FC236}">
                <a16:creationId xmlns:a16="http://schemas.microsoft.com/office/drawing/2014/main" id="{8BB162F3-CEF1-410F-9B2D-2EF649565F49}"/>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579034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三、汉译英</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540341"/>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1. </a:t>
            </a:r>
            <a:r>
              <a:rPr lang="zh-CN" altLang="en-US" sz="2200" dirty="0">
                <a:latin typeface="微软雅黑" panose="020B0503020204020204" pitchFamily="34" charset="-122"/>
                <a:ea typeface="微软雅黑" panose="020B0503020204020204" pitchFamily="34" charset="-122"/>
              </a:rPr>
              <a:t>正在这时，一个男孩和一个女孩走了过来，然后坐在了刚才那对老夫妻坐过的地方。</a:t>
            </a:r>
            <a:endParaRPr lang="en-US" altLang="zh-CN" sz="2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sp>
        <p:nvSpPr>
          <p:cNvPr id="5" name="矩形 4">
            <a:extLst>
              <a:ext uri="{FF2B5EF4-FFF2-40B4-BE49-F238E27FC236}">
                <a16:creationId xmlns:a16="http://schemas.microsoft.com/office/drawing/2014/main" id="{F07F829C-8931-49CE-957B-0F7A1FC6ACD2}"/>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774247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三、汉译英</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1556003"/>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1. </a:t>
            </a:r>
            <a:r>
              <a:rPr lang="zh-CN" altLang="en-US" sz="2200" dirty="0">
                <a:latin typeface="微软雅黑" panose="020B0503020204020204" pitchFamily="34" charset="-122"/>
                <a:ea typeface="微软雅黑" panose="020B0503020204020204" pitchFamily="34" charset="-122"/>
              </a:rPr>
              <a:t>正在这时，一个男孩和一个女孩走了过来，然后坐在了刚才那对老夫妻坐过的地方。</a:t>
            </a:r>
            <a:endParaRPr lang="en-US" altLang="zh-CN" sz="2200" dirty="0">
              <a:latin typeface="微软雅黑" panose="020B0503020204020204" pitchFamily="34" charset="-122"/>
              <a:ea typeface="微软雅黑" panose="020B0503020204020204" pitchFamily="34" charset="-122"/>
            </a:endParaRPr>
          </a:p>
          <a:p>
            <a:pPr>
              <a:lnSpc>
                <a:spcPct val="150000"/>
              </a:lnSpc>
            </a:pPr>
            <a:r>
              <a:rPr lang="en-US" altLang="zh-CN" sz="2200" dirty="0">
                <a:latin typeface="微软雅黑" panose="020B0503020204020204" pitchFamily="34" charset="-122"/>
                <a:ea typeface="微软雅黑" panose="020B0503020204020204" pitchFamily="34" charset="-122"/>
              </a:rPr>
              <a:t>Just at that moment a boy and a girl came and sat down where the old couple had been. </a:t>
            </a:r>
            <a:endParaRPr lang="zh-CN" altLang="en-US" sz="2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sp>
        <p:nvSpPr>
          <p:cNvPr id="5" name="矩形 4">
            <a:extLst>
              <a:ext uri="{FF2B5EF4-FFF2-40B4-BE49-F238E27FC236}">
                <a16:creationId xmlns:a16="http://schemas.microsoft.com/office/drawing/2014/main" id="{E77A8639-7F10-4E42-A664-FDE200A2E8E7}"/>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932993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三、汉译英</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540341"/>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2.</a:t>
            </a:r>
            <a:r>
              <a:rPr lang="zh-CN" altLang="en-US" sz="2200" dirty="0">
                <a:latin typeface="微软雅黑" panose="020B0503020204020204" pitchFamily="34" charset="-122"/>
                <a:ea typeface="微软雅黑" panose="020B0503020204020204" pitchFamily="34" charset="-122"/>
              </a:rPr>
              <a:t>例如，每当我们开展新的广告宣传时，最先上当的总是公司内部的人。</a:t>
            </a:r>
            <a:endParaRPr lang="en-US" altLang="zh-CN" sz="2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sp>
        <p:nvSpPr>
          <p:cNvPr id="5" name="矩形 4">
            <a:extLst>
              <a:ext uri="{FF2B5EF4-FFF2-40B4-BE49-F238E27FC236}">
                <a16:creationId xmlns:a16="http://schemas.microsoft.com/office/drawing/2014/main" id="{BF6FB696-F98B-449F-9A24-59099E5EFDBF}"/>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741983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三、汉译英</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1556003"/>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2.</a:t>
            </a:r>
            <a:r>
              <a:rPr lang="zh-CN" altLang="en-US" sz="2200" dirty="0">
                <a:latin typeface="微软雅黑" panose="020B0503020204020204" pitchFamily="34" charset="-122"/>
                <a:ea typeface="微软雅黑" panose="020B0503020204020204" pitchFamily="34" charset="-122"/>
              </a:rPr>
              <a:t>例如，每当我们开展新的广告宣传时，最先上当的总是公司内部的人。</a:t>
            </a:r>
            <a:endParaRPr lang="en-US" altLang="zh-CN" sz="2200" dirty="0">
              <a:latin typeface="微软雅黑" panose="020B0503020204020204" pitchFamily="34" charset="-122"/>
              <a:ea typeface="微软雅黑" panose="020B0503020204020204" pitchFamily="34" charset="-122"/>
            </a:endParaRPr>
          </a:p>
          <a:p>
            <a:pPr>
              <a:lnSpc>
                <a:spcPct val="150000"/>
              </a:lnSpc>
            </a:pPr>
            <a:r>
              <a:rPr lang="en-US" altLang="zh-CN" sz="2200" dirty="0">
                <a:latin typeface="微软雅黑" panose="020B0503020204020204" pitchFamily="34" charset="-122"/>
                <a:ea typeface="微软雅黑" panose="020B0503020204020204" pitchFamily="34" charset="-122"/>
              </a:rPr>
              <a:t>Every time we launch a new advertising campaign, for example, people inside the company are the first ones to be taken in by it.</a:t>
            </a:r>
            <a:endParaRPr lang="zh-CN" altLang="en-US" sz="2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sp>
        <p:nvSpPr>
          <p:cNvPr id="5" name="矩形 4">
            <a:extLst>
              <a:ext uri="{FF2B5EF4-FFF2-40B4-BE49-F238E27FC236}">
                <a16:creationId xmlns:a16="http://schemas.microsoft.com/office/drawing/2014/main" id="{B51AA96A-9AEA-49B1-B7BE-0DFC3A36AFFA}"/>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330578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三、汉译英</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1048172"/>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3.</a:t>
            </a:r>
            <a:r>
              <a:rPr lang="zh-CN" altLang="en-US" sz="2200" dirty="0">
                <a:latin typeface="微软雅黑" panose="020B0503020204020204" pitchFamily="34" charset="-122"/>
                <a:ea typeface="微软雅黑" panose="020B0503020204020204" pitchFamily="34" charset="-122"/>
              </a:rPr>
              <a:t>生活中几乎任何有趣和有益的事情都需要建设性的、持之以恒的努力。我们中最迟钝、最缺乏天分的人也能有所作为，令那些从不专注的人感到惊奇。</a:t>
            </a:r>
            <a:endParaRPr lang="en-US" altLang="zh-CN" sz="2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sp>
        <p:nvSpPr>
          <p:cNvPr id="5" name="矩形 4">
            <a:extLst>
              <a:ext uri="{FF2B5EF4-FFF2-40B4-BE49-F238E27FC236}">
                <a16:creationId xmlns:a16="http://schemas.microsoft.com/office/drawing/2014/main" id="{CDFD6EB2-BCF8-4628-A1A5-725964EC7F1F}"/>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620939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三、汉译英</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95744" y="1956298"/>
            <a:ext cx="11137893" cy="2571666"/>
          </a:xfrm>
          <a:prstGeom prst="rect">
            <a:avLst/>
          </a:prstGeom>
          <a:noFill/>
        </p:spPr>
        <p:txBody>
          <a:bodyPr wrap="square" rtlCol="0">
            <a:spAutoFit/>
          </a:bodyPr>
          <a:lstStyle/>
          <a:p>
            <a:pPr>
              <a:lnSpc>
                <a:spcPct val="150000"/>
              </a:lnSpc>
            </a:pPr>
            <a:r>
              <a:rPr lang="en-US" altLang="zh-CN" sz="2200" dirty="0">
                <a:latin typeface="微软雅黑" panose="020B0503020204020204" pitchFamily="34" charset="-122"/>
                <a:ea typeface="微软雅黑" panose="020B0503020204020204" pitchFamily="34" charset="-122"/>
              </a:rPr>
              <a:t>3.</a:t>
            </a:r>
            <a:r>
              <a:rPr lang="zh-CN" altLang="en-US" sz="2200" dirty="0">
                <a:latin typeface="微软雅黑" panose="020B0503020204020204" pitchFamily="34" charset="-122"/>
                <a:ea typeface="微软雅黑" panose="020B0503020204020204" pitchFamily="34" charset="-122"/>
              </a:rPr>
              <a:t>生活中几乎任何有趣和有益的事情都需要建设性的、持之以恒的努力。我们中最迟钝、最缺乏天分的人也能有所作为，令那些从不专注的人感到惊奇。</a:t>
            </a:r>
            <a:endParaRPr lang="en-US" altLang="zh-CN" sz="2200" dirty="0">
              <a:latin typeface="微软雅黑" panose="020B0503020204020204" pitchFamily="34" charset="-122"/>
              <a:ea typeface="微软雅黑" panose="020B0503020204020204" pitchFamily="34" charset="-122"/>
            </a:endParaRPr>
          </a:p>
          <a:p>
            <a:pPr>
              <a:lnSpc>
                <a:spcPct val="150000"/>
              </a:lnSpc>
            </a:pPr>
            <a:r>
              <a:rPr lang="en-US" altLang="zh-CN" sz="2200" dirty="0">
                <a:latin typeface="微软雅黑" panose="020B0503020204020204" pitchFamily="34" charset="-122"/>
                <a:ea typeface="微软雅黑" panose="020B0503020204020204" pitchFamily="34" charset="-122"/>
              </a:rPr>
              <a:t>Almost anything interesting and rewarding in life requires some constructive, consistently applied effort. The dullest, the least gifted of us can achieve things that seem miraculous to those who never concentrate on anything.</a:t>
            </a:r>
            <a:endParaRPr lang="zh-CN" altLang="en-US" sz="2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31651B8-12D5-43BD-BCB5-B5343806BFF2}"/>
              </a:ext>
            </a:extLst>
          </p:cNvPr>
          <p:cNvSpPr txBox="1"/>
          <p:nvPr/>
        </p:nvSpPr>
        <p:spPr>
          <a:xfrm>
            <a:off x="595744" y="1139933"/>
            <a:ext cx="7883237" cy="523220"/>
          </a:xfrm>
          <a:prstGeom prst="rect">
            <a:avLst/>
          </a:prstGeom>
          <a:noFill/>
        </p:spPr>
        <p:txBody>
          <a:bodyPr wrap="square" rtlCol="0">
            <a:spAutoFit/>
          </a:bodyPr>
          <a:lstStyle/>
          <a:p>
            <a:r>
              <a:rPr lang="zh-CN" altLang="en-US" sz="2800" b="1" dirty="0"/>
              <a:t>练习</a:t>
            </a:r>
          </a:p>
        </p:txBody>
      </p:sp>
      <p:sp>
        <p:nvSpPr>
          <p:cNvPr id="5" name="矩形 4">
            <a:extLst>
              <a:ext uri="{FF2B5EF4-FFF2-40B4-BE49-F238E27FC236}">
                <a16:creationId xmlns:a16="http://schemas.microsoft.com/office/drawing/2014/main" id="{BD238CFE-698C-4748-917B-510C0C1AA3AB}"/>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876972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749964" y="503875"/>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目录</a:t>
            </a:r>
          </a:p>
        </p:txBody>
      </p:sp>
      <p:sp>
        <p:nvSpPr>
          <p:cNvPr id="6" name="文本框 5">
            <a:extLst>
              <a:ext uri="{FF2B5EF4-FFF2-40B4-BE49-F238E27FC236}">
                <a16:creationId xmlns:a16="http://schemas.microsoft.com/office/drawing/2014/main" id="{CB6437EF-AFBD-4372-9991-212975DB5262}"/>
              </a:ext>
            </a:extLst>
          </p:cNvPr>
          <p:cNvSpPr txBox="1"/>
          <p:nvPr/>
        </p:nvSpPr>
        <p:spPr>
          <a:xfrm>
            <a:off x="3501432" y="2025446"/>
            <a:ext cx="8377455" cy="333187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chemeClr val="bg1">
                    <a:lumMod val="95000"/>
                  </a:schemeClr>
                </a:solidFill>
                <a:effectLst/>
                <a:uLnTx/>
                <a:uFillTx/>
                <a:latin typeface="等线" panose="020F0502020204030204"/>
                <a:ea typeface="等线" panose="02010600030101010101" pitchFamily="2" charset="-122"/>
                <a:cs typeface="+mn-cs"/>
              </a:rPr>
              <a:t>一、英译汉</a:t>
            </a:r>
            <a:endParaRPr kumimoji="0" lang="en-US" altLang="zh-CN" sz="3600" b="1" i="0" u="none" strike="noStrike" kern="1200" cap="none" spc="0" normalizeH="0" baseline="0" noProof="0" dirty="0">
              <a:ln>
                <a:noFill/>
              </a:ln>
              <a:solidFill>
                <a:schemeClr val="bg1">
                  <a:lumMod val="95000"/>
                </a:schemeClr>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3600" b="1" dirty="0">
                <a:solidFill>
                  <a:schemeClr val="bg1">
                    <a:lumMod val="95000"/>
                  </a:schemeClr>
                </a:solidFill>
                <a:latin typeface="等线" panose="020F0502020204030204"/>
                <a:ea typeface="等线" panose="02010600030101010101" pitchFamily="2" charset="-122"/>
              </a:rPr>
              <a:t>二、课文回顾</a:t>
            </a:r>
            <a:r>
              <a:rPr lang="en-US" altLang="zh-CN" sz="3600" b="1" dirty="0">
                <a:solidFill>
                  <a:schemeClr val="bg1">
                    <a:lumMod val="95000"/>
                  </a:schemeClr>
                </a:solidFill>
                <a:latin typeface="等线" panose="020F0502020204030204"/>
                <a:ea typeface="等线" panose="02010600030101010101" pitchFamily="2" charset="-122"/>
              </a:rPr>
              <a:t>——</a:t>
            </a:r>
            <a:r>
              <a:rPr lang="zh-CN" altLang="en-US" sz="3600" b="1" dirty="0">
                <a:solidFill>
                  <a:schemeClr val="bg1">
                    <a:lumMod val="95000"/>
                  </a:schemeClr>
                </a:solidFill>
                <a:latin typeface="等线" panose="020F0502020204030204"/>
                <a:ea typeface="等线" panose="02010600030101010101" pitchFamily="2" charset="-122"/>
              </a:rPr>
              <a:t>选词填空</a:t>
            </a:r>
            <a:endParaRPr lang="en-US" altLang="zh-CN" sz="3600" b="1" dirty="0">
              <a:solidFill>
                <a:schemeClr val="bg1">
                  <a:lumMod val="95000"/>
                </a:schemeClr>
              </a:solidFill>
              <a:latin typeface="等线" panose="020F0502020204030204"/>
              <a:ea typeface="等线" panose="02010600030101010101" pitchFamily="2"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chemeClr val="bg1">
                    <a:lumMod val="95000"/>
                  </a:schemeClr>
                </a:solidFill>
                <a:effectLst/>
                <a:uLnTx/>
                <a:uFillTx/>
                <a:latin typeface="等线" panose="020F0502020204030204"/>
                <a:ea typeface="等线" panose="02010600030101010101" pitchFamily="2" charset="-122"/>
                <a:cs typeface="+mn-cs"/>
              </a:rPr>
              <a:t>三、汉译英</a:t>
            </a:r>
            <a:endParaRPr kumimoji="0" lang="en-US" altLang="zh-CN" sz="3600" b="1" i="0" u="none" strike="noStrike" kern="1200" cap="none" spc="0" normalizeH="0" baseline="0" noProof="0" dirty="0">
              <a:ln>
                <a:noFill/>
              </a:ln>
              <a:solidFill>
                <a:schemeClr val="bg1">
                  <a:lumMod val="95000"/>
                </a:schemeClr>
              </a:solidFill>
              <a:effectLst/>
              <a:uLnTx/>
              <a:uFillTx/>
              <a:latin typeface="等线" panose="020F0502020204030204"/>
              <a:ea typeface="等线" panose="02010600030101010101" pitchFamily="2" charset="-122"/>
              <a:cs typeface="+mn-cs"/>
            </a:endParaRPr>
          </a:p>
          <a:p>
            <a:pPr lvl="0">
              <a:lnSpc>
                <a:spcPct val="150000"/>
              </a:lnSpc>
              <a:defRPr/>
            </a:pPr>
            <a:r>
              <a:rPr lang="zh-CN" altLang="en-US" sz="3600" b="1" dirty="0">
                <a:solidFill>
                  <a:srgbClr val="FF0000"/>
                </a:solidFill>
                <a:latin typeface="等线" panose="020F0502020204030204"/>
                <a:ea typeface="等线" panose="02010600030101010101" pitchFamily="2" charset="-122"/>
              </a:rPr>
              <a:t>四、</a:t>
            </a:r>
            <a:r>
              <a:rPr lang="zh-CN" altLang="en-US" sz="3600" b="1" dirty="0">
                <a:solidFill>
                  <a:srgbClr val="FF0000"/>
                </a:solidFill>
              </a:rPr>
              <a:t>阅读理解高频单词</a:t>
            </a:r>
            <a:endParaRPr kumimoji="0" lang="en-US" altLang="zh-CN" sz="36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endParaRPr>
          </a:p>
        </p:txBody>
      </p:sp>
      <p:sp>
        <p:nvSpPr>
          <p:cNvPr id="5" name="矩形 4">
            <a:extLst>
              <a:ext uri="{FF2B5EF4-FFF2-40B4-BE49-F238E27FC236}">
                <a16:creationId xmlns:a16="http://schemas.microsoft.com/office/drawing/2014/main" id="{DF5FDB3A-9B16-4D47-904B-B2555DFA6F89}"/>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641357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四、课外高频单词</a:t>
            </a: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1705403"/>
          </a:xfrm>
          <a:prstGeom prst="rect">
            <a:avLst/>
          </a:prstGeom>
        </p:spPr>
        <p:txBody>
          <a:bodyPr wrap="square">
            <a:spAutoFit/>
          </a:bodyPr>
          <a:lstStyle/>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 aerial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eərɪəl</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adj.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空中的，航空的；空气的；空想的</a:t>
            </a:r>
          </a:p>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E.g. So it came to pass that the </a:t>
            </a:r>
            <a:r>
              <a:rPr lang="en-US"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aerial</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messenger who took charge of the man made a mistake and found him a place in Workers’ Paradise.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2010</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p>
          <a:p>
            <a:pPr>
              <a:lnSpc>
                <a:spcPct val="150000"/>
              </a:lnSpc>
            </a:pP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因而发生了这样的事情：掌管此人的天使（</a:t>
            </a:r>
            <a:r>
              <a:rPr lang="zh-CN" altLang="en-US"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天上的</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信使）出了错，把他安置在了“劳作者的天堂”。</a:t>
            </a:r>
            <a:endPar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A01CBCC8-80EE-4364-9BC9-3FDF84509FF7}"/>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475464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1705403"/>
          </a:xfrm>
          <a:prstGeom prst="rect">
            <a:avLst/>
          </a:prstGeom>
        </p:spPr>
        <p:txBody>
          <a:bodyPr wrap="square">
            <a:spAutoFit/>
          </a:bodyPr>
          <a:lstStyle/>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 appropriate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ə'prəʊprɪət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adj.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适当的；恰当的；合适的</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占用，拨出</a:t>
            </a:r>
          </a:p>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E.g. In order to continue the good for which this program was intended, we have to pursue the reforms that allow for </a:t>
            </a:r>
            <a:r>
              <a:rPr lang="en-US"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appropriate</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oversight.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2011</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p>
          <a:p>
            <a:pPr>
              <a:lnSpc>
                <a:spcPct val="150000"/>
              </a:lnSpc>
            </a:pP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为了让这一项目继续给人们造福，我们必须进行可以实施</a:t>
            </a:r>
            <a:r>
              <a:rPr lang="zh-CN" altLang="en-US"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适当</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监管的改革。</a:t>
            </a:r>
            <a:endPar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81B33447-BB8E-44B1-A6C5-564E2506E79C}"/>
              </a:ext>
            </a:extLst>
          </p:cNvPr>
          <p:cNvSpPr txBox="1"/>
          <p:nvPr/>
        </p:nvSpPr>
        <p:spPr>
          <a:xfrm>
            <a:off x="595745" y="477982"/>
            <a:ext cx="7883237" cy="523220"/>
          </a:xfrm>
          <a:prstGeom prst="rect">
            <a:avLst/>
          </a:prstGeom>
          <a:noFill/>
        </p:spPr>
        <p:txBody>
          <a:bodyPr wrap="square" rtlCol="0">
            <a:spAutoFit/>
          </a:bodyPr>
          <a:lstStyle/>
          <a:p>
            <a:r>
              <a:rPr lang="zh-CN" altLang="en-US" sz="2800" b="1" dirty="0"/>
              <a:t>四、课外高频单词</a:t>
            </a:r>
          </a:p>
        </p:txBody>
      </p:sp>
      <p:sp>
        <p:nvSpPr>
          <p:cNvPr id="4" name="矩形 3">
            <a:extLst>
              <a:ext uri="{FF2B5EF4-FFF2-40B4-BE49-F238E27FC236}">
                <a16:creationId xmlns:a16="http://schemas.microsoft.com/office/drawing/2014/main" id="{47E726F3-BB53-457A-8FEE-F997B92B05E5}"/>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565329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 department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dɪ'pɑːtm</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(ə)</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nt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n.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部；部门；系；科；局</a:t>
            </a:r>
          </a:p>
          <a:p>
            <a:pPr>
              <a:lnSpc>
                <a:spcPct val="150000"/>
              </a:lnSpc>
            </a:pP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E.g.They</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need to be adept at collaborating with colleagues outside their own </a:t>
            </a:r>
            <a:r>
              <a:rPr lang="en-US"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department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2012</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p>
          <a:p>
            <a:pPr>
              <a:lnSpc>
                <a:spcPct val="150000"/>
              </a:lnSpc>
            </a:pP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他们需要能和自己</a:t>
            </a:r>
            <a:r>
              <a:rPr lang="zh-CN" altLang="en-US"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部门</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外的同事熟练合作。 </a:t>
            </a:r>
          </a:p>
          <a:p>
            <a:pPr>
              <a:lnSpc>
                <a:spcPct val="150000"/>
              </a:lnSpc>
            </a:pPr>
            <a:endPar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A456E8C3-1386-4BD0-B298-937F79AC8C2C}"/>
              </a:ext>
            </a:extLst>
          </p:cNvPr>
          <p:cNvSpPr txBox="1"/>
          <p:nvPr/>
        </p:nvSpPr>
        <p:spPr>
          <a:xfrm>
            <a:off x="595745" y="477982"/>
            <a:ext cx="7883237" cy="523220"/>
          </a:xfrm>
          <a:prstGeom prst="rect">
            <a:avLst/>
          </a:prstGeom>
          <a:noFill/>
        </p:spPr>
        <p:txBody>
          <a:bodyPr wrap="square" rtlCol="0">
            <a:spAutoFit/>
          </a:bodyPr>
          <a:lstStyle/>
          <a:p>
            <a:r>
              <a:rPr lang="zh-CN" altLang="en-US" sz="2800" b="1" dirty="0"/>
              <a:t>四、课外高频单词</a:t>
            </a:r>
          </a:p>
        </p:txBody>
      </p:sp>
      <p:sp>
        <p:nvSpPr>
          <p:cNvPr id="4" name="矩形 3">
            <a:extLst>
              <a:ext uri="{FF2B5EF4-FFF2-40B4-BE49-F238E27FC236}">
                <a16:creationId xmlns:a16="http://schemas.microsoft.com/office/drawing/2014/main" id="{BD55312A-F4A1-4AA1-8E62-40AE7BA812DA}"/>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552975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1705403"/>
          </a:xfrm>
          <a:prstGeom prst="rect">
            <a:avLst/>
          </a:prstGeom>
        </p:spPr>
        <p:txBody>
          <a:bodyPr wrap="square">
            <a:spAutoFit/>
          </a:bodyPr>
          <a:lstStyle/>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 embrace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ɪm'breɪs</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拥抱；信奉，皈依；包含</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vi.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拥抱</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n.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拥抱</a:t>
            </a:r>
          </a:p>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E.g. Yet if a patient’s philosophical views </a:t>
            </a:r>
            <a:r>
              <a:rPr lang="en-US"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embrace</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euthanasia, it is not the clear why the religious objections of others should intrude on his death.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2012</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p>
          <a:p>
            <a:pPr>
              <a:lnSpc>
                <a:spcPct val="150000"/>
              </a:lnSpc>
            </a:pP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然而假如一位病人的哲学观</a:t>
            </a:r>
            <a:r>
              <a:rPr lang="zh-CN" altLang="en-US"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接受</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安乐死，那么我们不明白为什么他人要用宗教上的反对意见来干预他的死亡。</a:t>
            </a:r>
            <a:endPar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F0857F82-F5E1-4819-BFA5-DD1066600E3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四、课外高频单词</a:t>
            </a:r>
          </a:p>
        </p:txBody>
      </p:sp>
      <p:sp>
        <p:nvSpPr>
          <p:cNvPr id="4" name="矩形 3">
            <a:extLst>
              <a:ext uri="{FF2B5EF4-FFF2-40B4-BE49-F238E27FC236}">
                <a16:creationId xmlns:a16="http://schemas.microsoft.com/office/drawing/2014/main" id="{635D72B4-AE71-4B73-A75D-B8BF822A54A4}"/>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470583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1705403"/>
          </a:xfrm>
          <a:prstGeom prst="rect">
            <a:avLst/>
          </a:prstGeom>
        </p:spPr>
        <p:txBody>
          <a:bodyPr wrap="square">
            <a:spAutoFit/>
          </a:bodyPr>
          <a:lstStyle/>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 entomb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ɪn'tuːm</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埋葬；成为</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的坟墓</a:t>
            </a:r>
          </a:p>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E.g. The vampire is described as undead, an </a:t>
            </a:r>
            <a:r>
              <a:rPr lang="en-US"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entombed</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individual who rises each night to feed on the blood of the living.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2012</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p>
          <a:p>
            <a:pPr>
              <a:lnSpc>
                <a:spcPct val="150000"/>
              </a:lnSpc>
            </a:pP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吸血鬼被描述成一个不死的，</a:t>
            </a:r>
            <a:r>
              <a:rPr lang="zh-CN" altLang="en-US"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被埋葬</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的个体，它每天晚上起来吸食活人的血。</a:t>
            </a:r>
          </a:p>
        </p:txBody>
      </p:sp>
      <p:sp>
        <p:nvSpPr>
          <p:cNvPr id="5" name="文本框 4">
            <a:extLst>
              <a:ext uri="{FF2B5EF4-FFF2-40B4-BE49-F238E27FC236}">
                <a16:creationId xmlns:a16="http://schemas.microsoft.com/office/drawing/2014/main" id="{0C33F87E-02D0-4A13-9A9F-EC9BFE9EBBA4}"/>
              </a:ext>
            </a:extLst>
          </p:cNvPr>
          <p:cNvSpPr txBox="1"/>
          <p:nvPr/>
        </p:nvSpPr>
        <p:spPr>
          <a:xfrm>
            <a:off x="595745" y="477982"/>
            <a:ext cx="7883237" cy="523220"/>
          </a:xfrm>
          <a:prstGeom prst="rect">
            <a:avLst/>
          </a:prstGeom>
          <a:noFill/>
        </p:spPr>
        <p:txBody>
          <a:bodyPr wrap="square" rtlCol="0">
            <a:spAutoFit/>
          </a:bodyPr>
          <a:lstStyle/>
          <a:p>
            <a:r>
              <a:rPr lang="zh-CN" altLang="en-US" sz="2800" b="1" dirty="0"/>
              <a:t>四、课外高频单词</a:t>
            </a:r>
          </a:p>
        </p:txBody>
      </p:sp>
      <p:sp>
        <p:nvSpPr>
          <p:cNvPr id="4" name="矩形 3">
            <a:extLst>
              <a:ext uri="{FF2B5EF4-FFF2-40B4-BE49-F238E27FC236}">
                <a16:creationId xmlns:a16="http://schemas.microsoft.com/office/drawing/2014/main" id="{B5A24BEF-42E7-4AC8-93D0-93777F95D13B}"/>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511177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1289905"/>
          </a:xfrm>
          <a:prstGeom prst="rect">
            <a:avLst/>
          </a:prstGeom>
        </p:spPr>
        <p:txBody>
          <a:bodyPr wrap="square">
            <a:spAutoFit/>
          </a:bodyPr>
          <a:lstStyle/>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6. formidable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fɔːmɪdəb</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(ə)l] adj.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强大的；可怕的；令人敬畏的；艰难的</a:t>
            </a:r>
          </a:p>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E.g. The two great tennis players together make a </a:t>
            </a:r>
            <a:r>
              <a:rPr lang="en-US"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formidable </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combination.</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2012</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p>
          <a:p>
            <a:pPr>
              <a:lnSpc>
                <a:spcPct val="150000"/>
              </a:lnSpc>
            </a:pP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这两个网球选手的结合可谓是强</a:t>
            </a:r>
            <a:r>
              <a:rPr lang="zh-CN" altLang="en-US"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强</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联手。</a:t>
            </a:r>
          </a:p>
        </p:txBody>
      </p:sp>
      <p:sp>
        <p:nvSpPr>
          <p:cNvPr id="5" name="文本框 4">
            <a:extLst>
              <a:ext uri="{FF2B5EF4-FFF2-40B4-BE49-F238E27FC236}">
                <a16:creationId xmlns:a16="http://schemas.microsoft.com/office/drawing/2014/main" id="{C0DB9930-B98C-4922-85FA-092DA567369D}"/>
              </a:ext>
            </a:extLst>
          </p:cNvPr>
          <p:cNvSpPr txBox="1"/>
          <p:nvPr/>
        </p:nvSpPr>
        <p:spPr>
          <a:xfrm>
            <a:off x="595745" y="477982"/>
            <a:ext cx="7883237" cy="523220"/>
          </a:xfrm>
          <a:prstGeom prst="rect">
            <a:avLst/>
          </a:prstGeom>
          <a:noFill/>
        </p:spPr>
        <p:txBody>
          <a:bodyPr wrap="square" rtlCol="0">
            <a:spAutoFit/>
          </a:bodyPr>
          <a:lstStyle/>
          <a:p>
            <a:r>
              <a:rPr lang="zh-CN" altLang="en-US" sz="2800" b="1" dirty="0"/>
              <a:t>四、课外高频单词</a:t>
            </a:r>
          </a:p>
        </p:txBody>
      </p:sp>
      <p:sp>
        <p:nvSpPr>
          <p:cNvPr id="4" name="矩形 3">
            <a:extLst>
              <a:ext uri="{FF2B5EF4-FFF2-40B4-BE49-F238E27FC236}">
                <a16:creationId xmlns:a16="http://schemas.microsoft.com/office/drawing/2014/main" id="{2868A777-B936-4B1B-A8B2-2890CFE470E3}"/>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138766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1705403"/>
          </a:xfrm>
          <a:prstGeom prst="rect">
            <a:avLst/>
          </a:prstGeom>
        </p:spPr>
        <p:txBody>
          <a:bodyPr wrap="square">
            <a:spAutoFit/>
          </a:bodyPr>
          <a:lstStyle/>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 inspire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ɪn'spaɪə</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激发；鼓舞；启示；产生；使生灵感</a:t>
            </a:r>
          </a:p>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E.g. This evil may be imagined as having an almost unlimited power to </a:t>
            </a:r>
            <a:r>
              <a:rPr lang="en-US"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inspire</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anxiety, fear, dread, and terror in addition to doing actual physical and mental harm.</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2012</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p>
          <a:p>
            <a:pPr>
              <a:lnSpc>
                <a:spcPct val="150000"/>
              </a:lnSpc>
            </a:pP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这种罪恶可能被想象成除了会带来实际的身体和心理之外，还能</a:t>
            </a:r>
            <a:r>
              <a:rPr lang="zh-CN" altLang="en-US"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激发</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焦虑、恐惧、害怕和恐怖的无限力量。</a:t>
            </a:r>
          </a:p>
        </p:txBody>
      </p:sp>
      <p:sp>
        <p:nvSpPr>
          <p:cNvPr id="5" name="文本框 4">
            <a:extLst>
              <a:ext uri="{FF2B5EF4-FFF2-40B4-BE49-F238E27FC236}">
                <a16:creationId xmlns:a16="http://schemas.microsoft.com/office/drawing/2014/main" id="{F38BD427-2C50-4A25-B64E-3413D96EB22F}"/>
              </a:ext>
            </a:extLst>
          </p:cNvPr>
          <p:cNvSpPr txBox="1"/>
          <p:nvPr/>
        </p:nvSpPr>
        <p:spPr>
          <a:xfrm>
            <a:off x="595745" y="477982"/>
            <a:ext cx="7883237" cy="523220"/>
          </a:xfrm>
          <a:prstGeom prst="rect">
            <a:avLst/>
          </a:prstGeom>
          <a:noFill/>
        </p:spPr>
        <p:txBody>
          <a:bodyPr wrap="square" rtlCol="0">
            <a:spAutoFit/>
          </a:bodyPr>
          <a:lstStyle/>
          <a:p>
            <a:r>
              <a:rPr lang="zh-CN" altLang="en-US" sz="2800" b="1" dirty="0"/>
              <a:t>四、课外高频单词</a:t>
            </a:r>
          </a:p>
        </p:txBody>
      </p:sp>
      <p:sp>
        <p:nvSpPr>
          <p:cNvPr id="4" name="矩形 3">
            <a:extLst>
              <a:ext uri="{FF2B5EF4-FFF2-40B4-BE49-F238E27FC236}">
                <a16:creationId xmlns:a16="http://schemas.microsoft.com/office/drawing/2014/main" id="{BF7B4691-B381-4C03-BA1A-F4BFFF3EF753}"/>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56987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1289905"/>
          </a:xfrm>
          <a:prstGeom prst="rect">
            <a:avLst/>
          </a:prstGeom>
        </p:spPr>
        <p:txBody>
          <a:bodyPr wrap="square">
            <a:spAutoFit/>
          </a:bodyPr>
          <a:lstStyle/>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8. parole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pə'rəʊl</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n.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语言；假释，诺言；释放宣言</a:t>
            </a:r>
          </a:p>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E.g. Out of the fifty states only 18 have life imprisonment without </a:t>
            </a:r>
            <a:r>
              <a:rPr lang="en-US"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parole</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2012</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p>
          <a:p>
            <a:pPr>
              <a:lnSpc>
                <a:spcPct val="150000"/>
              </a:lnSpc>
            </a:pP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50</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个州中，只有</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18</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个州有终生监禁不得</a:t>
            </a:r>
            <a:r>
              <a:rPr lang="zh-CN" altLang="en-US"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减刑</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5" name="文本框 4">
            <a:extLst>
              <a:ext uri="{FF2B5EF4-FFF2-40B4-BE49-F238E27FC236}">
                <a16:creationId xmlns:a16="http://schemas.microsoft.com/office/drawing/2014/main" id="{7898B2D1-3318-471F-A2AC-2F7AD511003D}"/>
              </a:ext>
            </a:extLst>
          </p:cNvPr>
          <p:cNvSpPr txBox="1"/>
          <p:nvPr/>
        </p:nvSpPr>
        <p:spPr>
          <a:xfrm>
            <a:off x="595745" y="477982"/>
            <a:ext cx="7883237" cy="523220"/>
          </a:xfrm>
          <a:prstGeom prst="rect">
            <a:avLst/>
          </a:prstGeom>
          <a:noFill/>
        </p:spPr>
        <p:txBody>
          <a:bodyPr wrap="square" rtlCol="0">
            <a:spAutoFit/>
          </a:bodyPr>
          <a:lstStyle/>
          <a:p>
            <a:r>
              <a:rPr lang="zh-CN" altLang="en-US" sz="2800" b="1" dirty="0"/>
              <a:t>四、课外高频单词</a:t>
            </a:r>
          </a:p>
        </p:txBody>
      </p:sp>
      <p:sp>
        <p:nvSpPr>
          <p:cNvPr id="4" name="矩形 3">
            <a:extLst>
              <a:ext uri="{FF2B5EF4-FFF2-40B4-BE49-F238E27FC236}">
                <a16:creationId xmlns:a16="http://schemas.microsoft.com/office/drawing/2014/main" id="{C6E990B7-2B54-4B79-9475-E8107367C033}"/>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949787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536400"/>
          </a:xfrm>
          <a:prstGeom prst="rect">
            <a:avLst/>
          </a:prstGeom>
        </p:spPr>
        <p:txBody>
          <a:bodyPr wrap="square">
            <a:spAutoFit/>
          </a:bodyPr>
          <a:lstStyle/>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9. prejudice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predʒʊdɪs</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n.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偏见；侵害</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损害；使有偏见</a:t>
            </a:r>
          </a:p>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E.g. Because “we all know” there is </a:t>
            </a:r>
            <a:r>
              <a:rPr lang="en-US"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prejudice</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against black people in America. That there is prejudice against women is an idea that still strikes nearly all men—and, I am afraid, most women—as bizarre.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2010</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p>
          <a:p>
            <a:pPr>
              <a:lnSpc>
                <a:spcPct val="150000"/>
              </a:lnSpc>
            </a:pP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因为在美国黑人受到</a:t>
            </a:r>
            <a:r>
              <a:rPr lang="zh-CN" altLang="en-US"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歧视</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是公认的事实。然而女人受到歧视却是一件让几乎所有男人和大部分女人都认为不可思议的事情。</a:t>
            </a:r>
          </a:p>
        </p:txBody>
      </p:sp>
      <p:sp>
        <p:nvSpPr>
          <p:cNvPr id="5" name="文本框 4">
            <a:extLst>
              <a:ext uri="{FF2B5EF4-FFF2-40B4-BE49-F238E27FC236}">
                <a16:creationId xmlns:a16="http://schemas.microsoft.com/office/drawing/2014/main" id="{184EA9B9-6FFB-4C78-9BF3-1C255695BA80}"/>
              </a:ext>
            </a:extLst>
          </p:cNvPr>
          <p:cNvSpPr txBox="1"/>
          <p:nvPr/>
        </p:nvSpPr>
        <p:spPr>
          <a:xfrm>
            <a:off x="595745" y="477982"/>
            <a:ext cx="7883237" cy="523220"/>
          </a:xfrm>
          <a:prstGeom prst="rect">
            <a:avLst/>
          </a:prstGeom>
          <a:noFill/>
        </p:spPr>
        <p:txBody>
          <a:bodyPr wrap="square" rtlCol="0">
            <a:spAutoFit/>
          </a:bodyPr>
          <a:lstStyle/>
          <a:p>
            <a:r>
              <a:rPr lang="zh-CN" altLang="en-US" sz="2800" b="1" dirty="0"/>
              <a:t>四、课外高频单词</a:t>
            </a:r>
          </a:p>
        </p:txBody>
      </p:sp>
      <p:sp>
        <p:nvSpPr>
          <p:cNvPr id="4" name="矩形 3">
            <a:extLst>
              <a:ext uri="{FF2B5EF4-FFF2-40B4-BE49-F238E27FC236}">
                <a16:creationId xmlns:a16="http://schemas.microsoft.com/office/drawing/2014/main" id="{386B4A36-BF76-4B8B-A1EA-10935088C915}"/>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922998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536400"/>
          </a:xfrm>
          <a:prstGeom prst="rect">
            <a:avLst/>
          </a:prstGeom>
        </p:spPr>
        <p:txBody>
          <a:bodyPr wrap="square">
            <a:spAutoFit/>
          </a:bodyPr>
          <a:lstStyle/>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 retard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rɪtɑːd</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延迟；阻止；妨碍</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vi.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减慢；受到阻滞</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n.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延迟；阻止</a:t>
            </a:r>
          </a:p>
          <a:p>
            <a:pPr>
              <a:lnSpc>
                <a:spcPct val="150000"/>
              </a:lnSpc>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E.g. Also, minors very rarely receive the death penalty because they are not fully mature and might not know the consequences of their actions. Finally, the mentally </a:t>
            </a:r>
            <a:r>
              <a:rPr lang="en-US"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retarded</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are very seldom executed.</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2012</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月）</a:t>
            </a:r>
          </a:p>
          <a:p>
            <a:pPr>
              <a:lnSpc>
                <a:spcPct val="150000"/>
              </a:lnSpc>
            </a:pP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而且，未成年人很少接受死刑，因为他们还不成熟，可能不知道他们的行为所带来的后果。因此，智力</a:t>
            </a:r>
            <a:r>
              <a:rPr lang="zh-CN" altLang="en-US"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迟钝的</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未成年都不太可能被处决。</a:t>
            </a:r>
          </a:p>
        </p:txBody>
      </p:sp>
      <p:sp>
        <p:nvSpPr>
          <p:cNvPr id="5" name="文本框 4">
            <a:extLst>
              <a:ext uri="{FF2B5EF4-FFF2-40B4-BE49-F238E27FC236}">
                <a16:creationId xmlns:a16="http://schemas.microsoft.com/office/drawing/2014/main" id="{75F8D5CF-D221-450C-9E2B-FFE010A9EA31}"/>
              </a:ext>
            </a:extLst>
          </p:cNvPr>
          <p:cNvSpPr txBox="1"/>
          <p:nvPr/>
        </p:nvSpPr>
        <p:spPr>
          <a:xfrm>
            <a:off x="595745" y="477982"/>
            <a:ext cx="7883237" cy="523220"/>
          </a:xfrm>
          <a:prstGeom prst="rect">
            <a:avLst/>
          </a:prstGeom>
          <a:noFill/>
        </p:spPr>
        <p:txBody>
          <a:bodyPr wrap="square" rtlCol="0">
            <a:spAutoFit/>
          </a:bodyPr>
          <a:lstStyle/>
          <a:p>
            <a:r>
              <a:rPr lang="zh-CN" altLang="en-US" sz="2800" b="1" dirty="0"/>
              <a:t>四、课外高频单词</a:t>
            </a:r>
          </a:p>
        </p:txBody>
      </p:sp>
      <p:sp>
        <p:nvSpPr>
          <p:cNvPr id="4" name="矩形 3">
            <a:extLst>
              <a:ext uri="{FF2B5EF4-FFF2-40B4-BE49-F238E27FC236}">
                <a16:creationId xmlns:a16="http://schemas.microsoft.com/office/drawing/2014/main" id="{E094B01A-4C6B-4F51-9BC0-24295540BCCE}"/>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431136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4E10CE7-B360-4059-A2EA-A463D0655165}"/>
              </a:ext>
            </a:extLst>
          </p:cNvPr>
          <p:cNvSpPr/>
          <p:nvPr/>
        </p:nvSpPr>
        <p:spPr>
          <a:xfrm>
            <a:off x="1413163" y="2108492"/>
            <a:ext cx="10051473" cy="1135054"/>
          </a:xfrm>
          <a:prstGeom prst="rect">
            <a:avLst/>
          </a:prstGeom>
        </p:spPr>
        <p:txBody>
          <a:bodyPr wrap="square">
            <a:spAutoFit/>
          </a:bodyPr>
          <a:lstStyle/>
          <a:p>
            <a:pPr>
              <a:lnSpc>
                <a:spcPct val="150000"/>
              </a:lnSpc>
            </a:pPr>
            <a:r>
              <a:rPr lang="en-US" altLang="zh-CN" sz="2400" dirty="0">
                <a:latin typeface="微软雅黑" panose="020B0503020204020204" pitchFamily="34" charset="-122"/>
                <a:ea typeface="微软雅黑" panose="020B0503020204020204" pitchFamily="34" charset="-122"/>
              </a:rPr>
              <a:t>You never know how strong you are until being strong is the only choice you have. </a:t>
            </a:r>
            <a:endParaRPr lang="zh-CN" altLang="en-US" sz="24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68440CD9-B91C-4D3E-9D03-9B67A4DF6866}"/>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814647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4E10CE7-B360-4059-A2EA-A463D0655165}"/>
              </a:ext>
            </a:extLst>
          </p:cNvPr>
          <p:cNvSpPr/>
          <p:nvPr/>
        </p:nvSpPr>
        <p:spPr>
          <a:xfrm>
            <a:off x="1413163" y="2108492"/>
            <a:ext cx="10051473" cy="1689052"/>
          </a:xfrm>
          <a:prstGeom prst="rect">
            <a:avLst/>
          </a:prstGeom>
        </p:spPr>
        <p:txBody>
          <a:bodyPr wrap="square">
            <a:spAutoFit/>
          </a:bodyPr>
          <a:lstStyle/>
          <a:p>
            <a:pPr>
              <a:lnSpc>
                <a:spcPct val="150000"/>
              </a:lnSpc>
            </a:pPr>
            <a:r>
              <a:rPr lang="en-US" altLang="zh-CN" sz="2400" dirty="0">
                <a:latin typeface="微软雅黑" panose="020B0503020204020204" pitchFamily="34" charset="-122"/>
                <a:ea typeface="微软雅黑" panose="020B0503020204020204" pitchFamily="34" charset="-122"/>
              </a:rPr>
              <a:t>You never know how strong you are until being strong is the only choice you have. </a:t>
            </a:r>
          </a:p>
          <a:p>
            <a:pPr>
              <a:lnSpc>
                <a:spcPct val="150000"/>
              </a:lnSpc>
            </a:pPr>
            <a:r>
              <a:rPr lang="zh-CN" altLang="en-US" sz="2400" dirty="0">
                <a:latin typeface="微软雅黑" panose="020B0503020204020204" pitchFamily="34" charset="-122"/>
                <a:ea typeface="微软雅黑" panose="020B0503020204020204" pitchFamily="34" charset="-122"/>
              </a:rPr>
              <a:t>未及破釜沉舟之时，未知逆天改命之匙</a:t>
            </a:r>
          </a:p>
        </p:txBody>
      </p:sp>
      <p:sp>
        <p:nvSpPr>
          <p:cNvPr id="3" name="矩形 2">
            <a:extLst>
              <a:ext uri="{FF2B5EF4-FFF2-40B4-BE49-F238E27FC236}">
                <a16:creationId xmlns:a16="http://schemas.microsoft.com/office/drawing/2014/main" id="{406BDC54-13C5-442B-B114-4102653BA4BA}"/>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972201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9000" b="-9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942109" y="1808163"/>
            <a:ext cx="9144000" cy="2387600"/>
          </a:xfrm>
        </p:spPr>
        <p:txBody>
          <a:bodyPr>
            <a:normAutofit fontScale="90000"/>
          </a:bodyPr>
          <a:lstStyle/>
          <a:p>
            <a:pPr>
              <a:lnSpc>
                <a:spcPct val="150000"/>
              </a:lnSpc>
            </a:pPr>
            <a:r>
              <a:rPr lang="zh-CN" altLang="en-US" b="1" dirty="0">
                <a:latin typeface="微软雅黑" panose="020B0503020204020204" pitchFamily="34" charset="-122"/>
                <a:ea typeface="微软雅黑" panose="020B0503020204020204" pitchFamily="34" charset="-122"/>
              </a:rPr>
              <a:t>谢谢观看</a:t>
            </a:r>
            <a:br>
              <a:rPr lang="en-US" altLang="zh-CN" b="1" dirty="0">
                <a:latin typeface="微软雅黑" panose="020B0503020204020204" pitchFamily="34" charset="-122"/>
                <a:ea typeface="微软雅黑" panose="020B0503020204020204" pitchFamily="34" charset="-122"/>
              </a:rPr>
            </a:br>
            <a:r>
              <a:rPr lang="en-US" altLang="zh-CN" b="1" dirty="0">
                <a:latin typeface="微软雅黑" panose="020B0503020204020204" pitchFamily="34" charset="-122"/>
                <a:ea typeface="微软雅黑" panose="020B0503020204020204" pitchFamily="34" charset="-122"/>
              </a:rPr>
              <a:t>See You</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CA035B2C-DAE8-4E39-AC50-41BB5CE43E10}"/>
              </a:ext>
            </a:extLst>
          </p:cNvPr>
          <p:cNvSpPr/>
          <p:nvPr/>
        </p:nvSpPr>
        <p:spPr>
          <a:xfrm>
            <a:off x="277926" y="380764"/>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1.15.5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上册第十五课第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1558627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3253</TotalTime>
  <Words>3330</Words>
  <Application>Microsoft Office PowerPoint</Application>
  <PresentationFormat>宽屏</PresentationFormat>
  <Paragraphs>304</Paragraphs>
  <Slides>48</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48</vt:i4>
      </vt:variant>
    </vt:vector>
  </HeadingPairs>
  <TitlesOfParts>
    <vt:vector size="55" baseType="lpstr">
      <vt:lpstr>Helvetica Neue For Number</vt:lpstr>
      <vt:lpstr>等线</vt:lpstr>
      <vt:lpstr>等线 Light</vt:lpstr>
      <vt:lpstr>宋体</vt:lpstr>
      <vt:lpstr>微软雅黑</vt:lpstr>
      <vt:lpstr>Arial</vt:lpstr>
      <vt:lpstr>Office 主题​​</vt:lpstr>
      <vt:lpstr>高级英语 基础精讲九</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谢谢观看 See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shao Archer</dc:creator>
  <cp:lastModifiedBy>shao Archer</cp:lastModifiedBy>
  <cp:revision>93</cp:revision>
  <dcterms:created xsi:type="dcterms:W3CDTF">2019-05-10T03:00:40Z</dcterms:created>
  <dcterms:modified xsi:type="dcterms:W3CDTF">2019-10-18T10:17:35Z</dcterms:modified>
</cp:coreProperties>
</file>